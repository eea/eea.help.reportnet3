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s/slide1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Masters/slideMaster7.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6.xml" ContentType="application/vnd.openxmlformats-officedocument.presentationml.slideMaster+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handoutMasters/handoutMaster1.xml" ContentType="application/vnd.openxmlformats-officedocument.presentationml.handoutMaster+xml"/>
  <Override PartName="/ppt/theme/theme5.xml" ContentType="application/vnd.openxmlformats-officedocument.theme+xml"/>
  <Override PartName="/ppt/notesMasters/notesMaster1.xml" ContentType="application/vnd.openxmlformats-officedocument.presentationml.notesMaster+xml"/>
  <Override PartName="/ppt/theme/theme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98" r:id="rId1"/>
    <p:sldMasterId id="2147483692" r:id="rId2"/>
    <p:sldMasterId id="2147483713" r:id="rId3"/>
    <p:sldMasterId id="2147483718" r:id="rId4"/>
    <p:sldMasterId id="2147483732" r:id="rId5"/>
    <p:sldMasterId id="2147483746" r:id="rId6"/>
    <p:sldMasterId id="2147483756" r:id="rId7"/>
  </p:sldMasterIdLst>
  <p:notesMasterIdLst>
    <p:notesMasterId r:id="rId28"/>
  </p:notesMasterIdLst>
  <p:handoutMasterIdLst>
    <p:handoutMasterId r:id="rId29"/>
  </p:handoutMasterIdLst>
  <p:sldIdLst>
    <p:sldId id="598" r:id="rId8"/>
    <p:sldId id="639" r:id="rId9"/>
    <p:sldId id="728" r:id="rId10"/>
    <p:sldId id="725" r:id="rId11"/>
    <p:sldId id="726" r:id="rId12"/>
    <p:sldId id="727" r:id="rId13"/>
    <p:sldId id="729" r:id="rId14"/>
    <p:sldId id="730" r:id="rId15"/>
    <p:sldId id="731" r:id="rId16"/>
    <p:sldId id="732" r:id="rId17"/>
    <p:sldId id="734" r:id="rId18"/>
    <p:sldId id="748" r:id="rId19"/>
    <p:sldId id="740" r:id="rId20"/>
    <p:sldId id="741" r:id="rId21"/>
    <p:sldId id="717" r:id="rId22"/>
    <p:sldId id="703" r:id="rId23"/>
    <p:sldId id="699" r:id="rId24"/>
    <p:sldId id="743" r:id="rId25"/>
    <p:sldId id="744" r:id="rId26"/>
    <p:sldId id="722" r:id="rId27"/>
  </p:sldIdLst>
  <p:sldSz cx="12192000" cy="6858000"/>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35" userDrawn="1">
          <p15:clr>
            <a:srgbClr val="A4A3A4"/>
          </p15:clr>
        </p15:guide>
        <p15:guide id="2" pos="211" userDrawn="1">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6357"/>
    <a:srgbClr val="FFCC00"/>
    <a:srgbClr val="DCE6F2"/>
    <a:srgbClr val="FFAE5D"/>
    <a:srgbClr val="F9F1D3"/>
    <a:srgbClr val="CCC1DA"/>
    <a:srgbClr val="E4C03C"/>
    <a:srgbClr val="D7E4BD"/>
    <a:srgbClr val="F5F5F5"/>
    <a:srgbClr val="FFE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1EBBBCC-DAD2-459C-BE2E-F6DE35CF9A28}" styleName="Estilo oscuro 2 - Énfasis 3/Énfasis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43" autoAdjust="0"/>
    <p:restoredTop sz="94645" autoAdjust="0"/>
  </p:normalViewPr>
  <p:slideViewPr>
    <p:cSldViewPr snapToGrid="0">
      <p:cViewPr>
        <p:scale>
          <a:sx n="66" d="100"/>
          <a:sy n="66" d="100"/>
        </p:scale>
        <p:origin x="900" y="144"/>
      </p:cViewPr>
      <p:guideLst>
        <p:guide orient="horz" pos="3135"/>
        <p:guide pos="211"/>
      </p:guideLst>
    </p:cSldViewPr>
  </p:slideViewPr>
  <p:outlineViewPr>
    <p:cViewPr>
      <p:scale>
        <a:sx n="33" d="100"/>
        <a:sy n="33" d="100"/>
      </p:scale>
      <p:origin x="0" y="0"/>
    </p:cViewPr>
  </p:outlineViewPr>
  <p:notesTextViewPr>
    <p:cViewPr>
      <p:scale>
        <a:sx n="3" d="2"/>
        <a:sy n="3" d="2"/>
      </p:scale>
      <p:origin x="0" y="0"/>
    </p:cViewPr>
  </p:notesTextViewPr>
  <p:sorterViewPr>
    <p:cViewPr>
      <p:scale>
        <a:sx n="65" d="100"/>
        <a:sy n="65" d="100"/>
      </p:scale>
      <p:origin x="0" y="0"/>
    </p:cViewPr>
  </p:sorterViewPr>
  <p:notesViewPr>
    <p:cSldViewPr snapToGrid="0">
      <p:cViewPr varScale="1">
        <p:scale>
          <a:sx n="73" d="100"/>
          <a:sy n="73" d="100"/>
        </p:scale>
        <p:origin x="1308" y="84"/>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customXml" Target="../customXml/item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notesMaster" Target="notesMasters/notesMaster1.xml"/><Relationship Id="rId36" Type="http://schemas.openxmlformats.org/officeDocument/2006/relationships/customXml" Target="../customXml/item3.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2918830" cy="495028"/>
          </a:xfrm>
          <a:prstGeom prst="rect">
            <a:avLst/>
          </a:prstGeom>
        </p:spPr>
        <p:txBody>
          <a:bodyPr vert="horz" lIns="92137" tIns="46069" rIns="92137" bIns="46069" rtlCol="0"/>
          <a:lstStyle>
            <a:lvl1pPr algn="l">
              <a:defRPr sz="1200"/>
            </a:lvl1pPr>
          </a:lstStyle>
          <a:p>
            <a:endParaRPr lang="en-GB" dirty="0"/>
          </a:p>
        </p:txBody>
      </p:sp>
      <p:sp>
        <p:nvSpPr>
          <p:cNvPr id="3" name="Date Placeholder 2"/>
          <p:cNvSpPr>
            <a:spLocks noGrp="1"/>
          </p:cNvSpPr>
          <p:nvPr>
            <p:ph type="dt" sz="quarter" idx="1"/>
          </p:nvPr>
        </p:nvSpPr>
        <p:spPr>
          <a:xfrm>
            <a:off x="3815378" y="1"/>
            <a:ext cx="2918830" cy="495028"/>
          </a:xfrm>
          <a:prstGeom prst="rect">
            <a:avLst/>
          </a:prstGeom>
        </p:spPr>
        <p:txBody>
          <a:bodyPr vert="horz" lIns="92137" tIns="46069" rIns="92137" bIns="46069" rtlCol="0"/>
          <a:lstStyle>
            <a:lvl1pPr algn="r">
              <a:defRPr sz="1200"/>
            </a:lvl1pPr>
          </a:lstStyle>
          <a:p>
            <a:fld id="{2A3EE131-D7AE-47FD-A14B-A4590389E309}" type="datetimeFigureOut">
              <a:rPr lang="en-GB" smtClean="0"/>
              <a:pPr/>
              <a:t>09/12/2019</a:t>
            </a:fld>
            <a:endParaRPr lang="en-GB" dirty="0"/>
          </a:p>
        </p:txBody>
      </p:sp>
      <p:sp>
        <p:nvSpPr>
          <p:cNvPr id="4" name="Footer Placeholder 3"/>
          <p:cNvSpPr>
            <a:spLocks noGrp="1"/>
          </p:cNvSpPr>
          <p:nvPr>
            <p:ph type="ftr" sz="quarter" idx="2"/>
          </p:nvPr>
        </p:nvSpPr>
        <p:spPr>
          <a:xfrm>
            <a:off x="2" y="9371289"/>
            <a:ext cx="2918830" cy="495028"/>
          </a:xfrm>
          <a:prstGeom prst="rect">
            <a:avLst/>
          </a:prstGeom>
        </p:spPr>
        <p:txBody>
          <a:bodyPr vert="horz" lIns="92137" tIns="46069" rIns="92137" bIns="46069"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15378" y="9371289"/>
            <a:ext cx="2918830" cy="495028"/>
          </a:xfrm>
          <a:prstGeom prst="rect">
            <a:avLst/>
          </a:prstGeom>
        </p:spPr>
        <p:txBody>
          <a:bodyPr vert="horz" lIns="92137" tIns="46069" rIns="92137" bIns="46069" rtlCol="0" anchor="b"/>
          <a:lstStyle>
            <a:lvl1pPr algn="r">
              <a:defRPr sz="1200"/>
            </a:lvl1pPr>
          </a:lstStyle>
          <a:p>
            <a:fld id="{AE2E2C6C-1A46-49B2-95A1-874E5B60CA1F}" type="slidenum">
              <a:rPr lang="en-GB" smtClean="0"/>
              <a:pPr/>
              <a:t>‹Nº›</a:t>
            </a:fld>
            <a:endParaRPr lang="en-GB" dirty="0"/>
          </a:p>
        </p:txBody>
      </p:sp>
    </p:spTree>
    <p:extLst>
      <p:ext uri="{BB962C8B-B14F-4D97-AF65-F5344CB8AC3E}">
        <p14:creationId xmlns:p14="http://schemas.microsoft.com/office/powerpoint/2010/main" val="12547168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19565" cy="493869"/>
          </a:xfrm>
          <a:prstGeom prst="rect">
            <a:avLst/>
          </a:prstGeom>
        </p:spPr>
        <p:txBody>
          <a:bodyPr vert="horz" lIns="92137" tIns="46069" rIns="92137" bIns="46069" rtlCol="0"/>
          <a:lstStyle>
            <a:lvl1pPr algn="l">
              <a:defRPr sz="1200"/>
            </a:lvl1pPr>
          </a:lstStyle>
          <a:p>
            <a:endParaRPr lang="en-GB" dirty="0"/>
          </a:p>
        </p:txBody>
      </p:sp>
      <p:sp>
        <p:nvSpPr>
          <p:cNvPr id="3" name="Date Placeholder 2"/>
          <p:cNvSpPr>
            <a:spLocks noGrp="1"/>
          </p:cNvSpPr>
          <p:nvPr>
            <p:ph type="dt" idx="1"/>
          </p:nvPr>
        </p:nvSpPr>
        <p:spPr>
          <a:xfrm>
            <a:off x="3814628" y="2"/>
            <a:ext cx="2919565" cy="493869"/>
          </a:xfrm>
          <a:prstGeom prst="rect">
            <a:avLst/>
          </a:prstGeom>
        </p:spPr>
        <p:txBody>
          <a:bodyPr vert="horz" lIns="92137" tIns="46069" rIns="92137" bIns="46069" rtlCol="0"/>
          <a:lstStyle>
            <a:lvl1pPr algn="r">
              <a:defRPr sz="1200"/>
            </a:lvl1pPr>
          </a:lstStyle>
          <a:p>
            <a:fld id="{54F6B5D3-2AB1-4063-BA50-FEBA813E0814}" type="datetimeFigureOut">
              <a:rPr lang="en-GB" smtClean="0"/>
              <a:pPr/>
              <a:t>09/12/2019</a:t>
            </a:fld>
            <a:endParaRPr lang="en-GB" dirty="0"/>
          </a:p>
        </p:txBody>
      </p:sp>
      <p:sp>
        <p:nvSpPr>
          <p:cNvPr id="4" name="Slide Image Placeholder 3"/>
          <p:cNvSpPr>
            <a:spLocks noGrp="1" noRot="1" noChangeAspect="1"/>
          </p:cNvSpPr>
          <p:nvPr>
            <p:ph type="sldImg" idx="2"/>
          </p:nvPr>
        </p:nvSpPr>
        <p:spPr>
          <a:xfrm>
            <a:off x="409575" y="1231900"/>
            <a:ext cx="5916613" cy="3328988"/>
          </a:xfrm>
          <a:prstGeom prst="rect">
            <a:avLst/>
          </a:prstGeom>
          <a:noFill/>
          <a:ln w="12700">
            <a:solidFill>
              <a:prstClr val="black"/>
            </a:solidFill>
          </a:ln>
        </p:spPr>
        <p:txBody>
          <a:bodyPr vert="horz" lIns="92137" tIns="46069" rIns="92137" bIns="46069" rtlCol="0" anchor="ctr"/>
          <a:lstStyle/>
          <a:p>
            <a:endParaRPr lang="en-GB" dirty="0"/>
          </a:p>
        </p:txBody>
      </p:sp>
      <p:sp>
        <p:nvSpPr>
          <p:cNvPr id="5" name="Notes Placeholder 4"/>
          <p:cNvSpPr>
            <a:spLocks noGrp="1"/>
          </p:cNvSpPr>
          <p:nvPr>
            <p:ph type="body" sz="quarter" idx="3"/>
          </p:nvPr>
        </p:nvSpPr>
        <p:spPr>
          <a:xfrm>
            <a:off x="673265" y="4747763"/>
            <a:ext cx="5389240" cy="3884673"/>
          </a:xfrm>
          <a:prstGeom prst="rect">
            <a:avLst/>
          </a:prstGeom>
        </p:spPr>
        <p:txBody>
          <a:bodyPr vert="horz" lIns="92137" tIns="46069" rIns="92137" bIns="4606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1" y="9372447"/>
            <a:ext cx="2919565" cy="493869"/>
          </a:xfrm>
          <a:prstGeom prst="rect">
            <a:avLst/>
          </a:prstGeom>
        </p:spPr>
        <p:txBody>
          <a:bodyPr vert="horz" lIns="92137" tIns="46069" rIns="92137" bIns="46069"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14628" y="9372447"/>
            <a:ext cx="2919565" cy="493869"/>
          </a:xfrm>
          <a:prstGeom prst="rect">
            <a:avLst/>
          </a:prstGeom>
        </p:spPr>
        <p:txBody>
          <a:bodyPr vert="horz" lIns="92137" tIns="46069" rIns="92137" bIns="46069" rtlCol="0" anchor="b"/>
          <a:lstStyle>
            <a:lvl1pPr algn="r">
              <a:defRPr sz="1200"/>
            </a:lvl1pPr>
          </a:lstStyle>
          <a:p>
            <a:fld id="{777201BC-94E4-4101-962D-54511777D224}" type="slidenum">
              <a:rPr lang="en-GB" smtClean="0"/>
              <a:pPr/>
              <a:t>‹Nº›</a:t>
            </a:fld>
            <a:endParaRPr lang="en-GB" dirty="0"/>
          </a:p>
        </p:txBody>
      </p:sp>
    </p:spTree>
    <p:extLst>
      <p:ext uri="{BB962C8B-B14F-4D97-AF65-F5344CB8AC3E}">
        <p14:creationId xmlns:p14="http://schemas.microsoft.com/office/powerpoint/2010/main" val="3247234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aphs_European Briefings">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777564" y="2110710"/>
            <a:ext cx="10774041" cy="3184525"/>
          </a:xfrm>
          <a:prstGeom prst="rect">
            <a:avLst/>
          </a:prstGeom>
        </p:spPr>
        <p:txBody>
          <a:bodyPr/>
          <a:lstStyle>
            <a:lvl1pPr>
              <a:defRPr sz="4000">
                <a:solidFill>
                  <a:srgbClr val="008173"/>
                </a:solidFill>
                <a:latin typeface="Calibri" panose="020F0502020204030204" pitchFamily="34" charset="0"/>
                <a:cs typeface="Calibri" panose="020F0502020204030204" pitchFamily="34" charset="0"/>
              </a:defRPr>
            </a:lvl1pPr>
            <a:lvl2pPr>
              <a:defRPr sz="3600">
                <a:solidFill>
                  <a:srgbClr val="008173"/>
                </a:solidFill>
                <a:latin typeface="Calibri" panose="020F0502020204030204" pitchFamily="34" charset="0"/>
                <a:cs typeface="Calibri" panose="020F0502020204030204" pitchFamily="34" charset="0"/>
              </a:defRPr>
            </a:lvl2pPr>
            <a:lvl3pPr>
              <a:defRPr sz="3200">
                <a:solidFill>
                  <a:srgbClr val="008173"/>
                </a:solidFill>
                <a:latin typeface="Calibri" panose="020F0502020204030204" pitchFamily="34" charset="0"/>
                <a:cs typeface="Calibri" panose="020F0502020204030204" pitchFamily="34" charset="0"/>
              </a:defRPr>
            </a:lvl3pPr>
            <a:lvl4pPr>
              <a:defRPr sz="2800">
                <a:solidFill>
                  <a:srgbClr val="008173"/>
                </a:solidFill>
                <a:latin typeface="Calibri" panose="020F0502020204030204" pitchFamily="34" charset="0"/>
                <a:cs typeface="Calibri" panose="020F0502020204030204" pitchFamily="34" charset="0"/>
              </a:defRPr>
            </a:lvl4pPr>
            <a:lvl5pPr>
              <a:defRPr sz="2800">
                <a:solidFill>
                  <a:srgbClr val="008173"/>
                </a:solidFill>
                <a:latin typeface="Calibri" panose="020F0502020204030204" pitchFamily="34" charset="0"/>
                <a:cs typeface="Calibri" panose="020F050202020403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5" name="Text Placeholder 4"/>
          <p:cNvSpPr>
            <a:spLocks noGrp="1"/>
          </p:cNvSpPr>
          <p:nvPr>
            <p:ph type="body" sz="quarter" idx="11" hasCustomPrompt="1"/>
          </p:nvPr>
        </p:nvSpPr>
        <p:spPr>
          <a:xfrm>
            <a:off x="777564" y="272472"/>
            <a:ext cx="10773577" cy="1322647"/>
          </a:xfrm>
          <a:prstGeom prst="rect">
            <a:avLst/>
          </a:prstGeom>
        </p:spPr>
        <p:txBody>
          <a:bodyPr/>
          <a:lstStyle>
            <a:lvl1pPr marL="0" indent="0">
              <a:buNone/>
              <a:defRPr sz="4000" b="1" baseline="0">
                <a:solidFill>
                  <a:schemeClr val="bg1"/>
                </a:solidFill>
                <a:latin typeface="Calibri" panose="020F0502020204030204" pitchFamily="34" charset="0"/>
                <a:cs typeface="Calibri" panose="020F0502020204030204" pitchFamily="34" charset="0"/>
              </a:defRPr>
            </a:lvl1pPr>
            <a:lvl2pPr marL="562737" indent="0">
              <a:buNone/>
              <a:defRPr/>
            </a:lvl2pPr>
            <a:lvl3pPr marL="1125472" indent="0">
              <a:buNone/>
              <a:defRPr/>
            </a:lvl3pPr>
            <a:lvl4pPr marL="1688207" indent="0">
              <a:buNone/>
              <a:defRPr/>
            </a:lvl4pPr>
            <a:lvl5pPr marL="2250944" indent="0">
              <a:buNone/>
              <a:defRPr/>
            </a:lvl5pPr>
          </a:lstStyle>
          <a:p>
            <a:pPr lvl="0"/>
            <a:r>
              <a:rPr lang="en-US" dirty="0" smtClean="0"/>
              <a:t>Slide title goes here</a:t>
            </a:r>
            <a:br>
              <a:rPr lang="en-US" dirty="0" smtClean="0"/>
            </a:br>
            <a:r>
              <a:rPr lang="en-US" dirty="0" smtClean="0"/>
              <a:t>Max two lines</a:t>
            </a:r>
          </a:p>
        </p:txBody>
      </p:sp>
    </p:spTree>
    <p:extLst>
      <p:ext uri="{BB962C8B-B14F-4D97-AF65-F5344CB8AC3E}">
        <p14:creationId xmlns:p14="http://schemas.microsoft.com/office/powerpoint/2010/main" val="358796420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ey message_image_Synthesis">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468000" y="36000"/>
            <a:ext cx="11246369" cy="676111"/>
          </a:xfrm>
          <a:prstGeom prst="rect">
            <a:avLst/>
          </a:prstGeom>
        </p:spPr>
        <p:txBody>
          <a:bodyPr/>
          <a:lstStyle>
            <a:lvl1pPr marL="0" indent="0">
              <a:buNone/>
              <a:defRPr sz="4000" b="1" baseline="0">
                <a:solidFill>
                  <a:schemeClr val="bg1"/>
                </a:solidFill>
                <a:latin typeface="Calibri" panose="020F0502020204030204" pitchFamily="34" charset="0"/>
                <a:cs typeface="Calibri" panose="020F0502020204030204" pitchFamily="34" charset="0"/>
              </a:defRPr>
            </a:lvl1pPr>
            <a:lvl2pPr marL="562737" indent="0">
              <a:buNone/>
              <a:defRPr/>
            </a:lvl2pPr>
            <a:lvl3pPr marL="1125472" indent="0">
              <a:buNone/>
              <a:defRPr/>
            </a:lvl3pPr>
            <a:lvl4pPr marL="1688207" indent="0">
              <a:buNone/>
              <a:defRPr/>
            </a:lvl4pPr>
            <a:lvl5pPr marL="2250944" indent="0">
              <a:buNone/>
              <a:defRPr/>
            </a:lvl5pPr>
          </a:lstStyle>
          <a:p>
            <a:pPr lvl="0"/>
            <a:r>
              <a:rPr lang="en-US" dirty="0" smtClean="0"/>
              <a:t>Slide title goes here</a:t>
            </a:r>
          </a:p>
        </p:txBody>
      </p:sp>
      <p:sp>
        <p:nvSpPr>
          <p:cNvPr id="3" name="Content Placeholder 2"/>
          <p:cNvSpPr>
            <a:spLocks noGrp="1"/>
          </p:cNvSpPr>
          <p:nvPr>
            <p:ph sz="quarter" idx="13"/>
          </p:nvPr>
        </p:nvSpPr>
        <p:spPr>
          <a:xfrm>
            <a:off x="468313" y="1431925"/>
            <a:ext cx="11245850" cy="3759200"/>
          </a:xfrm>
          <a:prstGeom prst="rect">
            <a:avLst/>
          </a:prstGeom>
        </p:spPr>
        <p:txBody>
          <a:bodyPr/>
          <a:lstStyle>
            <a:lvl1pPr>
              <a:defRPr sz="4000">
                <a:solidFill>
                  <a:srgbClr val="008173"/>
                </a:solidFill>
                <a:latin typeface="Calibri" panose="020F0502020204030204" pitchFamily="34" charset="0"/>
                <a:cs typeface="Calibri" panose="020F0502020204030204" pitchFamily="34" charset="0"/>
              </a:defRPr>
            </a:lvl1pPr>
            <a:lvl2pPr>
              <a:defRPr sz="3600">
                <a:solidFill>
                  <a:srgbClr val="008173"/>
                </a:solidFill>
                <a:latin typeface="Calibri" panose="020F0502020204030204" pitchFamily="34" charset="0"/>
                <a:cs typeface="Calibri" panose="020F0502020204030204" pitchFamily="34" charset="0"/>
              </a:defRPr>
            </a:lvl2pPr>
            <a:lvl3pPr>
              <a:defRPr sz="3200">
                <a:solidFill>
                  <a:srgbClr val="008173"/>
                </a:solidFill>
                <a:latin typeface="Calibri" panose="020F0502020204030204" pitchFamily="34" charset="0"/>
                <a:cs typeface="Calibri" panose="020F0502020204030204" pitchFamily="34" charset="0"/>
              </a:defRPr>
            </a:lvl3pPr>
            <a:lvl4pPr>
              <a:defRPr sz="2800">
                <a:solidFill>
                  <a:srgbClr val="008173"/>
                </a:solidFill>
                <a:latin typeface="Calibri" panose="020F0502020204030204" pitchFamily="34" charset="0"/>
                <a:cs typeface="Calibri" panose="020F0502020204030204" pitchFamily="34" charset="0"/>
              </a:defRPr>
            </a:lvl4pPr>
            <a:lvl5pPr>
              <a:defRPr sz="2800">
                <a:solidFill>
                  <a:srgbClr val="008173"/>
                </a:solidFill>
                <a:latin typeface="Calibri" panose="020F0502020204030204" pitchFamily="34" charset="0"/>
                <a:cs typeface="Calibri" panose="020F050202020403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3"/>
          <p:cNvSpPr>
            <a:spLocks noGrp="1"/>
          </p:cNvSpPr>
          <p:nvPr>
            <p:ph type="body" sz="quarter" idx="14" hasCustomPrompt="1"/>
          </p:nvPr>
        </p:nvSpPr>
        <p:spPr>
          <a:xfrm>
            <a:off x="598488" y="6250565"/>
            <a:ext cx="3683000" cy="274637"/>
          </a:xfrm>
          <a:prstGeom prst="rect">
            <a:avLst/>
          </a:prstGeom>
        </p:spPr>
        <p:txBody>
          <a:bodyPr/>
          <a:lstStyle>
            <a:lvl1pPr marL="0" indent="0">
              <a:buNone/>
              <a:defRPr sz="1100">
                <a:solidFill>
                  <a:srgbClr val="008173"/>
                </a:solidFill>
                <a:latin typeface="Calibri" panose="020F0502020204030204" pitchFamily="34" charset="0"/>
                <a:cs typeface="Calibri" panose="020F0502020204030204" pitchFamily="34" charset="0"/>
              </a:defRPr>
            </a:lvl1pPr>
            <a:lvl2pPr>
              <a:defRPr sz="1000">
                <a:solidFill>
                  <a:srgbClr val="006654"/>
                </a:solidFill>
              </a:defRPr>
            </a:lvl2pPr>
            <a:lvl3pPr>
              <a:defRPr sz="1000">
                <a:solidFill>
                  <a:srgbClr val="006654"/>
                </a:solidFill>
              </a:defRPr>
            </a:lvl3pPr>
            <a:lvl4pPr>
              <a:defRPr sz="1000">
                <a:solidFill>
                  <a:srgbClr val="006654"/>
                </a:solidFill>
              </a:defRPr>
            </a:lvl4pPr>
            <a:lvl5pPr>
              <a:defRPr sz="1000">
                <a:solidFill>
                  <a:srgbClr val="006654"/>
                </a:solidFill>
              </a:defRPr>
            </a:lvl5pPr>
          </a:lstStyle>
          <a:p>
            <a:pPr lvl="0"/>
            <a:r>
              <a:rPr lang="en-US" dirty="0" smtClean="0"/>
              <a:t>Source reference for illustration</a:t>
            </a:r>
          </a:p>
        </p:txBody>
      </p:sp>
    </p:spTree>
    <p:extLst>
      <p:ext uri="{BB962C8B-B14F-4D97-AF65-F5344CB8AC3E}">
        <p14:creationId xmlns:p14="http://schemas.microsoft.com/office/powerpoint/2010/main" val="28106825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4" name="AutoShape 1206"/>
          <p:cNvSpPr>
            <a:spLocks noChangeAspect="1" noChangeArrowheads="1" noTextEdit="1"/>
          </p:cNvSpPr>
          <p:nvPr/>
        </p:nvSpPr>
        <p:spPr bwMode="auto">
          <a:xfrm>
            <a:off x="-1905000" y="4286250"/>
            <a:ext cx="1725083" cy="742950"/>
          </a:xfrm>
          <a:prstGeom prst="rect">
            <a:avLst/>
          </a:prstGeom>
          <a:noFill/>
          <a:ln w="9525">
            <a:noFill/>
            <a:miter lim="800000"/>
            <a:headEnd/>
            <a:tailEnd/>
          </a:ln>
          <a:effectLst/>
        </p:spPr>
        <p:txBody>
          <a:bodyPr/>
          <a:lstStyle/>
          <a:p>
            <a:pPr>
              <a:defRPr/>
            </a:pPr>
            <a:endParaRPr lang="en-US" sz="1800">
              <a:solidFill>
                <a:prstClr val="black"/>
              </a:solidFill>
              <a:latin typeface="Arial" charset="0"/>
            </a:endParaRPr>
          </a:p>
        </p:txBody>
      </p:sp>
      <p:pic>
        <p:nvPicPr>
          <p:cNvPr id="6" name="Picture 454" descr="EEA-logo_white"/>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401052" y="6165850"/>
            <a:ext cx="371263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a:spLocks noChangeArrowheads="1"/>
          </p:cNvSpPr>
          <p:nvPr userDrawn="1"/>
        </p:nvSpPr>
        <p:spPr bwMode="auto">
          <a:xfrm>
            <a:off x="0" y="1"/>
            <a:ext cx="12192000" cy="1196975"/>
          </a:xfrm>
          <a:prstGeom prst="rect">
            <a:avLst/>
          </a:prstGeom>
          <a:noFill/>
          <a:ln>
            <a:noFill/>
          </a:ln>
          <a:extLst>
            <a:ext uri="{909E8E84-426E-40DD-AFC4-6F175D3DCCD1}">
              <a14:hiddenFill xmlns:a14="http://schemas.microsoft.com/office/drawing/2010/main">
                <a:solidFill>
                  <a:srgbClr val="6B7427"/>
                </a:solidFill>
              </a14:hiddenFill>
            </a:ext>
            <a:ext uri="{91240B29-F687-4F45-9708-019B960494DF}">
              <a14:hiddenLine xmlns:a14="http://schemas.microsoft.com/office/drawing/2010/main" w="9525">
                <a:solidFill>
                  <a:srgbClr val="000000"/>
                </a:solidFill>
                <a:miter lim="800000"/>
                <a:headEnd/>
                <a:tailEnd/>
              </a14:hiddenLine>
            </a:ext>
          </a:extLst>
        </p:spPr>
        <p:txBody>
          <a:bodyPr lIns="108000" tIns="0" rIns="0" bIns="36000" anchor="b"/>
          <a:lstStyle/>
          <a:p>
            <a:pPr marL="177800" indent="-177800"/>
            <a:endParaRPr lang="en-GB" sz="2800">
              <a:solidFill>
                <a:prstClr val="black"/>
              </a:solidFill>
              <a:latin typeface="Trebuchet MS" pitchFamily="34" charset="0"/>
            </a:endParaRPr>
          </a:p>
        </p:txBody>
      </p:sp>
      <p:cxnSp>
        <p:nvCxnSpPr>
          <p:cNvPr id="9" name="Straight Connector 8"/>
          <p:cNvCxnSpPr/>
          <p:nvPr userDrawn="1"/>
        </p:nvCxnSpPr>
        <p:spPr>
          <a:xfrm>
            <a:off x="-14817" y="981075"/>
            <a:ext cx="12192001" cy="0"/>
          </a:xfrm>
          <a:prstGeom prst="line">
            <a:avLst/>
          </a:prstGeom>
          <a:ln w="76200">
            <a:solidFill>
              <a:srgbClr val="6FBFBD"/>
            </a:solidFill>
          </a:ln>
        </p:spPr>
        <p:style>
          <a:lnRef idx="1">
            <a:schemeClr val="accent1"/>
          </a:lnRef>
          <a:fillRef idx="0">
            <a:schemeClr val="accent1"/>
          </a:fillRef>
          <a:effectRef idx="0">
            <a:schemeClr val="accent1"/>
          </a:effectRef>
          <a:fontRef idx="minor">
            <a:schemeClr val="tx1"/>
          </a:fontRef>
        </p:style>
      </p:cxnSp>
      <p:pic>
        <p:nvPicPr>
          <p:cNvPr id="7" name="Picture 3"/>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167284" y="6335713"/>
            <a:ext cx="269028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494750"/>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AutoShape 1206"/>
          <p:cNvSpPr>
            <a:spLocks noChangeAspect="1" noChangeArrowheads="1" noTextEdit="1"/>
          </p:cNvSpPr>
          <p:nvPr/>
        </p:nvSpPr>
        <p:spPr bwMode="auto">
          <a:xfrm>
            <a:off x="-1905000" y="4286250"/>
            <a:ext cx="172508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sz="1800">
              <a:solidFill>
                <a:prstClr val="black"/>
              </a:solidFill>
            </a:endParaRPr>
          </a:p>
        </p:txBody>
      </p:sp>
      <p:sp>
        <p:nvSpPr>
          <p:cNvPr id="2" name="Title 1"/>
          <p:cNvSpPr>
            <a:spLocks noGrp="1"/>
          </p:cNvSpPr>
          <p:nvPr>
            <p:ph type="title"/>
          </p:nvPr>
        </p:nvSpPr>
        <p:spPr/>
        <p:txBody>
          <a:bodyPr/>
          <a:lstStyle/>
          <a:p>
            <a:r>
              <a:rPr lang="en-US" dirty="0" smtClean="0"/>
              <a:t>Click to edit Master title style</a:t>
            </a:r>
            <a:endParaRPr lang="de-AT" dirty="0"/>
          </a:p>
        </p:txBody>
      </p:sp>
    </p:spTree>
    <p:extLst>
      <p:ext uri="{BB962C8B-B14F-4D97-AF65-F5344CB8AC3E}">
        <p14:creationId xmlns:p14="http://schemas.microsoft.com/office/powerpoint/2010/main" val="1548358945"/>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12/9/2019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‹Nº›</a:t>
            </a:fld>
            <a:endParaRPr lang="en-US">
              <a:solidFill>
                <a:prstClr val="black">
                  <a:tint val="75000"/>
                </a:prstClr>
              </a:solidFill>
            </a:endParaRPr>
          </a:p>
        </p:txBody>
      </p:sp>
    </p:spTree>
    <p:extLst>
      <p:ext uri="{BB962C8B-B14F-4D97-AF65-F5344CB8AC3E}">
        <p14:creationId xmlns:p14="http://schemas.microsoft.com/office/powerpoint/2010/main" val="76039569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4" name="AutoShape 1206"/>
          <p:cNvSpPr>
            <a:spLocks noChangeAspect="1" noChangeArrowheads="1" noTextEdit="1"/>
          </p:cNvSpPr>
          <p:nvPr/>
        </p:nvSpPr>
        <p:spPr bwMode="auto">
          <a:xfrm>
            <a:off x="-1905000" y="4286250"/>
            <a:ext cx="1725083" cy="742950"/>
          </a:xfrm>
          <a:prstGeom prst="rect">
            <a:avLst/>
          </a:prstGeom>
          <a:noFill/>
          <a:ln w="9525">
            <a:noFill/>
            <a:miter lim="800000"/>
            <a:headEnd/>
            <a:tailEnd/>
          </a:ln>
          <a:effectLst/>
        </p:spPr>
        <p:txBody>
          <a:bodyPr/>
          <a:lstStyle/>
          <a:p>
            <a:pPr>
              <a:defRPr/>
            </a:pPr>
            <a:endParaRPr lang="en-US" sz="1800">
              <a:solidFill>
                <a:prstClr val="black"/>
              </a:solidFill>
              <a:latin typeface="Arial" charset="0"/>
            </a:endParaRPr>
          </a:p>
        </p:txBody>
      </p:sp>
      <p:pic>
        <p:nvPicPr>
          <p:cNvPr id="6" name="Picture 454" descr="EEA-logo_white"/>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401052" y="6165850"/>
            <a:ext cx="371263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a:spLocks noChangeArrowheads="1"/>
          </p:cNvSpPr>
          <p:nvPr userDrawn="1"/>
        </p:nvSpPr>
        <p:spPr bwMode="auto">
          <a:xfrm>
            <a:off x="0" y="1"/>
            <a:ext cx="12192000" cy="1196975"/>
          </a:xfrm>
          <a:prstGeom prst="rect">
            <a:avLst/>
          </a:prstGeom>
          <a:noFill/>
          <a:ln>
            <a:noFill/>
          </a:ln>
          <a:extLst>
            <a:ext uri="{909E8E84-426E-40DD-AFC4-6F175D3DCCD1}">
              <a14:hiddenFill xmlns:a14="http://schemas.microsoft.com/office/drawing/2010/main">
                <a:solidFill>
                  <a:srgbClr val="6B7427"/>
                </a:solidFill>
              </a14:hiddenFill>
            </a:ext>
            <a:ext uri="{91240B29-F687-4F45-9708-019B960494DF}">
              <a14:hiddenLine xmlns:a14="http://schemas.microsoft.com/office/drawing/2010/main" w="9525">
                <a:solidFill>
                  <a:srgbClr val="000000"/>
                </a:solidFill>
                <a:miter lim="800000"/>
                <a:headEnd/>
                <a:tailEnd/>
              </a14:hiddenLine>
            </a:ext>
          </a:extLst>
        </p:spPr>
        <p:txBody>
          <a:bodyPr lIns="108000" tIns="0" rIns="0" bIns="36000" anchor="b"/>
          <a:lstStyle/>
          <a:p>
            <a:pPr marL="177800" indent="-177800"/>
            <a:endParaRPr lang="en-GB" sz="2800">
              <a:solidFill>
                <a:prstClr val="black"/>
              </a:solidFill>
              <a:latin typeface="Trebuchet MS" pitchFamily="34" charset="0"/>
            </a:endParaRPr>
          </a:p>
        </p:txBody>
      </p:sp>
      <p:cxnSp>
        <p:nvCxnSpPr>
          <p:cNvPr id="9" name="Straight Connector 8"/>
          <p:cNvCxnSpPr/>
          <p:nvPr userDrawn="1"/>
        </p:nvCxnSpPr>
        <p:spPr>
          <a:xfrm>
            <a:off x="-14817" y="981075"/>
            <a:ext cx="12192001" cy="0"/>
          </a:xfrm>
          <a:prstGeom prst="line">
            <a:avLst/>
          </a:prstGeom>
          <a:ln w="76200">
            <a:solidFill>
              <a:srgbClr val="6FBFBD"/>
            </a:solidFill>
          </a:ln>
        </p:spPr>
        <p:style>
          <a:lnRef idx="1">
            <a:schemeClr val="accent1"/>
          </a:lnRef>
          <a:fillRef idx="0">
            <a:schemeClr val="accent1"/>
          </a:fillRef>
          <a:effectRef idx="0">
            <a:schemeClr val="accent1"/>
          </a:effectRef>
          <a:fontRef idx="minor">
            <a:schemeClr val="tx1"/>
          </a:fontRef>
        </p:style>
      </p:cxnSp>
      <p:pic>
        <p:nvPicPr>
          <p:cNvPr id="7" name="Picture 3"/>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167284" y="6335713"/>
            <a:ext cx="269028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7202707"/>
      </p:ext>
    </p:extLst>
  </p:cSld>
  <p:clrMapOvr>
    <a:masterClrMapping/>
  </p:clrMapOvr>
  <mc:AlternateContent xmlns:mc="http://schemas.openxmlformats.org/markup-compatibility/2006" xmlns:p14="http://schemas.microsoft.com/office/powerpoint/2010/main">
    <mc:Choice Requires="p14">
      <p:transition spd="med" p14:dur="700" advTm="15000">
        <p:fade/>
      </p:transition>
    </mc:Choice>
    <mc:Fallback xmlns="">
      <p:transition spd="med" advTm="15000">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ey message_image_Synthesis">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468000" y="36000"/>
            <a:ext cx="11246369" cy="676111"/>
          </a:xfrm>
          <a:prstGeom prst="rect">
            <a:avLst/>
          </a:prstGeom>
        </p:spPr>
        <p:txBody>
          <a:bodyPr/>
          <a:lstStyle>
            <a:lvl1pPr marL="0" indent="0">
              <a:buNone/>
              <a:defRPr sz="4000" b="1" baseline="0">
                <a:solidFill>
                  <a:schemeClr val="bg1"/>
                </a:solidFill>
                <a:latin typeface="Calibri" panose="020F0502020204030204" pitchFamily="34" charset="0"/>
                <a:cs typeface="Calibri" panose="020F0502020204030204" pitchFamily="34" charset="0"/>
              </a:defRPr>
            </a:lvl1pPr>
            <a:lvl2pPr marL="562737" indent="0">
              <a:buNone/>
              <a:defRPr/>
            </a:lvl2pPr>
            <a:lvl3pPr marL="1125472" indent="0">
              <a:buNone/>
              <a:defRPr/>
            </a:lvl3pPr>
            <a:lvl4pPr marL="1688207" indent="0">
              <a:buNone/>
              <a:defRPr/>
            </a:lvl4pPr>
            <a:lvl5pPr marL="2250944" indent="0">
              <a:buNone/>
              <a:defRPr/>
            </a:lvl5pPr>
          </a:lstStyle>
          <a:p>
            <a:pPr lvl="0"/>
            <a:r>
              <a:rPr lang="en-US" dirty="0" smtClean="0"/>
              <a:t>Slide title goes here</a:t>
            </a:r>
          </a:p>
        </p:txBody>
      </p:sp>
      <p:sp>
        <p:nvSpPr>
          <p:cNvPr id="3" name="Content Placeholder 2"/>
          <p:cNvSpPr>
            <a:spLocks noGrp="1"/>
          </p:cNvSpPr>
          <p:nvPr>
            <p:ph sz="quarter" idx="13"/>
          </p:nvPr>
        </p:nvSpPr>
        <p:spPr>
          <a:xfrm>
            <a:off x="468313" y="1431925"/>
            <a:ext cx="11245850" cy="3759200"/>
          </a:xfrm>
          <a:prstGeom prst="rect">
            <a:avLst/>
          </a:prstGeom>
        </p:spPr>
        <p:txBody>
          <a:bodyPr/>
          <a:lstStyle>
            <a:lvl1pPr>
              <a:defRPr sz="4000">
                <a:solidFill>
                  <a:srgbClr val="008173"/>
                </a:solidFill>
                <a:latin typeface="Calibri" panose="020F0502020204030204" pitchFamily="34" charset="0"/>
                <a:cs typeface="Calibri" panose="020F0502020204030204" pitchFamily="34" charset="0"/>
              </a:defRPr>
            </a:lvl1pPr>
            <a:lvl2pPr>
              <a:defRPr sz="3600">
                <a:solidFill>
                  <a:srgbClr val="008173"/>
                </a:solidFill>
                <a:latin typeface="Calibri" panose="020F0502020204030204" pitchFamily="34" charset="0"/>
                <a:cs typeface="Calibri" panose="020F0502020204030204" pitchFamily="34" charset="0"/>
              </a:defRPr>
            </a:lvl2pPr>
            <a:lvl3pPr>
              <a:defRPr sz="3200">
                <a:solidFill>
                  <a:srgbClr val="008173"/>
                </a:solidFill>
                <a:latin typeface="Calibri" panose="020F0502020204030204" pitchFamily="34" charset="0"/>
                <a:cs typeface="Calibri" panose="020F0502020204030204" pitchFamily="34" charset="0"/>
              </a:defRPr>
            </a:lvl3pPr>
            <a:lvl4pPr>
              <a:defRPr sz="2800">
                <a:solidFill>
                  <a:srgbClr val="008173"/>
                </a:solidFill>
                <a:latin typeface="Calibri" panose="020F0502020204030204" pitchFamily="34" charset="0"/>
                <a:cs typeface="Calibri" panose="020F0502020204030204" pitchFamily="34" charset="0"/>
              </a:defRPr>
            </a:lvl4pPr>
            <a:lvl5pPr>
              <a:defRPr sz="2800">
                <a:solidFill>
                  <a:srgbClr val="008173"/>
                </a:solidFill>
                <a:latin typeface="Calibri" panose="020F0502020204030204" pitchFamily="34" charset="0"/>
                <a:cs typeface="Calibri" panose="020F050202020403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3"/>
          <p:cNvSpPr>
            <a:spLocks noGrp="1"/>
          </p:cNvSpPr>
          <p:nvPr>
            <p:ph type="body" sz="quarter" idx="14" hasCustomPrompt="1"/>
          </p:nvPr>
        </p:nvSpPr>
        <p:spPr>
          <a:xfrm>
            <a:off x="598488" y="6250565"/>
            <a:ext cx="3683000" cy="274637"/>
          </a:xfrm>
          <a:prstGeom prst="rect">
            <a:avLst/>
          </a:prstGeom>
        </p:spPr>
        <p:txBody>
          <a:bodyPr/>
          <a:lstStyle>
            <a:lvl1pPr marL="0" indent="0">
              <a:buNone/>
              <a:defRPr sz="1100">
                <a:solidFill>
                  <a:srgbClr val="008173"/>
                </a:solidFill>
                <a:latin typeface="Calibri" panose="020F0502020204030204" pitchFamily="34" charset="0"/>
                <a:cs typeface="Calibri" panose="020F0502020204030204" pitchFamily="34" charset="0"/>
              </a:defRPr>
            </a:lvl1pPr>
            <a:lvl2pPr>
              <a:defRPr sz="1000">
                <a:solidFill>
                  <a:srgbClr val="006654"/>
                </a:solidFill>
              </a:defRPr>
            </a:lvl2pPr>
            <a:lvl3pPr>
              <a:defRPr sz="1000">
                <a:solidFill>
                  <a:srgbClr val="006654"/>
                </a:solidFill>
              </a:defRPr>
            </a:lvl3pPr>
            <a:lvl4pPr>
              <a:defRPr sz="1000">
                <a:solidFill>
                  <a:srgbClr val="006654"/>
                </a:solidFill>
              </a:defRPr>
            </a:lvl4pPr>
            <a:lvl5pPr>
              <a:defRPr sz="1000">
                <a:solidFill>
                  <a:srgbClr val="006654"/>
                </a:solidFill>
              </a:defRPr>
            </a:lvl5pPr>
          </a:lstStyle>
          <a:p>
            <a:pPr lvl="0"/>
            <a:r>
              <a:rPr lang="en-US" dirty="0" smtClean="0"/>
              <a:t>Source reference for illustration</a:t>
            </a:r>
          </a:p>
        </p:txBody>
      </p:sp>
    </p:spTree>
    <p:extLst>
      <p:ext uri="{BB962C8B-B14F-4D97-AF65-F5344CB8AC3E}">
        <p14:creationId xmlns:p14="http://schemas.microsoft.com/office/powerpoint/2010/main" val="147184461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ey message_image_Synthesis">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900262" y="75538"/>
            <a:ext cx="10353893" cy="647669"/>
          </a:xfrm>
          <a:prstGeom prst="rect">
            <a:avLst/>
          </a:prstGeom>
        </p:spPr>
        <p:txBody>
          <a:bodyPr/>
          <a:lstStyle>
            <a:lvl1pPr marL="0" indent="0">
              <a:buNone/>
              <a:defRPr sz="4000" b="1">
                <a:solidFill>
                  <a:srgbClr val="002060"/>
                </a:solidFill>
                <a:latin typeface="Calibri" panose="020F0502020204030204" pitchFamily="34" charset="0"/>
                <a:cs typeface="Calibri" panose="020F0502020204030204" pitchFamily="34" charset="0"/>
              </a:defRPr>
            </a:lvl1pPr>
          </a:lstStyle>
          <a:p>
            <a:pPr lvl="0"/>
            <a:r>
              <a:rPr lang="en-US" dirty="0" smtClean="0"/>
              <a:t>Slide title goes here</a:t>
            </a:r>
            <a:endParaRPr lang="en-GB" dirty="0"/>
          </a:p>
        </p:txBody>
      </p:sp>
      <p:sp>
        <p:nvSpPr>
          <p:cNvPr id="3" name="Content Placeholder 2"/>
          <p:cNvSpPr>
            <a:spLocks noGrp="1"/>
          </p:cNvSpPr>
          <p:nvPr>
            <p:ph sz="quarter" idx="11"/>
          </p:nvPr>
        </p:nvSpPr>
        <p:spPr>
          <a:xfrm>
            <a:off x="900725" y="1152526"/>
            <a:ext cx="10353431" cy="4633913"/>
          </a:xfrm>
          <a:prstGeom prst="rect">
            <a:avLst/>
          </a:prstGeom>
        </p:spPr>
        <p:txBody>
          <a:bodyPr/>
          <a:lstStyle>
            <a:lvl1pPr>
              <a:defRPr sz="3200">
                <a:solidFill>
                  <a:srgbClr val="002060"/>
                </a:solidFill>
              </a:defRPr>
            </a:lvl1pPr>
            <a:lvl2pPr>
              <a:defRPr sz="2800">
                <a:solidFill>
                  <a:srgbClr val="002060"/>
                </a:solidFill>
              </a:defRPr>
            </a:lvl2pPr>
            <a:lvl3pPr>
              <a:defRPr sz="2400">
                <a:solidFill>
                  <a:srgbClr val="002060"/>
                </a:solidFill>
              </a:defRPr>
            </a:lvl3pPr>
            <a:lvl4pPr>
              <a:defRPr sz="2000">
                <a:solidFill>
                  <a:srgbClr val="002060"/>
                </a:solidFill>
              </a:defRPr>
            </a:lvl4pPr>
            <a:lvl5pPr>
              <a:defRPr sz="2000">
                <a:solidFill>
                  <a:srgbClr val="00206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3"/>
          <p:cNvSpPr>
            <a:spLocks noGrp="1"/>
          </p:cNvSpPr>
          <p:nvPr>
            <p:ph type="body" sz="quarter" idx="12" hasCustomPrompt="1"/>
          </p:nvPr>
        </p:nvSpPr>
        <p:spPr>
          <a:xfrm>
            <a:off x="899585" y="6200775"/>
            <a:ext cx="3956049" cy="241300"/>
          </a:xfrm>
          <a:prstGeom prst="rect">
            <a:avLst/>
          </a:prstGeom>
        </p:spPr>
        <p:txBody>
          <a:bodyPr/>
          <a:lstStyle>
            <a:lvl1pPr marL="0" indent="0">
              <a:buNone/>
              <a:defRPr sz="1100" baseline="0">
                <a:solidFill>
                  <a:srgbClr val="001746"/>
                </a:solidFill>
              </a:defRPr>
            </a:lvl1pPr>
            <a:lvl2pPr marL="422041" indent="0">
              <a:buNone/>
              <a:defRPr/>
            </a:lvl2pPr>
            <a:lvl3pPr marL="844082" indent="0">
              <a:buNone/>
              <a:defRPr/>
            </a:lvl3pPr>
            <a:lvl4pPr marL="1266124" indent="0">
              <a:buNone/>
              <a:defRPr/>
            </a:lvl4pPr>
            <a:lvl5pPr marL="1688165" indent="0">
              <a:buNone/>
              <a:defRPr/>
            </a:lvl5pPr>
          </a:lstStyle>
          <a:p>
            <a:pPr lvl="0"/>
            <a:r>
              <a:rPr lang="en-US" dirty="0" smtClean="0"/>
              <a:t>Illustration reference goes here</a:t>
            </a:r>
          </a:p>
        </p:txBody>
      </p:sp>
    </p:spTree>
    <p:extLst>
      <p:ext uri="{BB962C8B-B14F-4D97-AF65-F5344CB8AC3E}">
        <p14:creationId xmlns:p14="http://schemas.microsoft.com/office/powerpoint/2010/main" val="287743842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ey message_image_Synthesis">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449385" y="190501"/>
            <a:ext cx="11418277" cy="524395"/>
          </a:xfrm>
          <a:prstGeom prst="rect">
            <a:avLst/>
          </a:prstGeom>
        </p:spPr>
        <p:txBody>
          <a:bodyPr/>
          <a:lstStyle>
            <a:lvl1pPr marL="0" indent="0">
              <a:buNone/>
              <a:defRPr sz="2800" b="1">
                <a:solidFill>
                  <a:schemeClr val="bg1"/>
                </a:solidFill>
              </a:defRPr>
            </a:lvl1pPr>
          </a:lstStyle>
          <a:p>
            <a:pPr lvl="0"/>
            <a:r>
              <a:rPr lang="en-US" dirty="0" smtClean="0"/>
              <a:t>Slide title goes here</a:t>
            </a:r>
          </a:p>
        </p:txBody>
      </p:sp>
      <p:sp>
        <p:nvSpPr>
          <p:cNvPr id="6" name="Content Placeholder 5"/>
          <p:cNvSpPr>
            <a:spLocks noGrp="1"/>
          </p:cNvSpPr>
          <p:nvPr>
            <p:ph sz="quarter" idx="11"/>
          </p:nvPr>
        </p:nvSpPr>
        <p:spPr>
          <a:xfrm>
            <a:off x="449385" y="1147764"/>
            <a:ext cx="11418277" cy="4562475"/>
          </a:xfrm>
          <a:prstGeom prst="rect">
            <a:avLst/>
          </a:prstGeom>
        </p:spPr>
        <p:txBody>
          <a:bodyPr/>
          <a:lstStyle>
            <a:lvl1pPr>
              <a:defRPr>
                <a:solidFill>
                  <a:srgbClr val="006654"/>
                </a:solidFill>
              </a:defRPr>
            </a:lvl1pPr>
            <a:lvl2pPr>
              <a:defRPr>
                <a:solidFill>
                  <a:srgbClr val="006654"/>
                </a:solidFill>
              </a:defRPr>
            </a:lvl2pPr>
            <a:lvl3pPr>
              <a:defRPr>
                <a:solidFill>
                  <a:srgbClr val="006654"/>
                </a:solidFill>
              </a:defRPr>
            </a:lvl3pPr>
            <a:lvl4pPr>
              <a:defRPr>
                <a:solidFill>
                  <a:srgbClr val="006654"/>
                </a:solidFill>
              </a:defRPr>
            </a:lvl4pPr>
            <a:lvl5pPr>
              <a:defRPr>
                <a:solidFill>
                  <a:srgbClr val="006654"/>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191879571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CuadroTexto 5"/>
          <p:cNvSpPr txBox="1"/>
          <p:nvPr userDrawn="1"/>
        </p:nvSpPr>
        <p:spPr>
          <a:xfrm>
            <a:off x="9136012" y="6645088"/>
            <a:ext cx="2802370" cy="215444"/>
          </a:xfrm>
          <a:prstGeom prst="rect">
            <a:avLst/>
          </a:prstGeom>
          <a:noFill/>
        </p:spPr>
        <p:txBody>
          <a:bodyPr wrap="none" rtlCol="0">
            <a:spAutoFit/>
          </a:bodyPr>
          <a:lstStyle/>
          <a:p>
            <a:r>
              <a:rPr lang="en-US" sz="800" dirty="0" smtClean="0">
                <a:latin typeface="Calibri" panose="020F0502020204030204" pitchFamily="34" charset="0"/>
              </a:rPr>
              <a:t>Reportnet 3.0 Steering Committee Meeting 10.Decembre.2019</a:t>
            </a:r>
            <a:endParaRPr lang="es-ES" sz="800" dirty="0">
              <a:latin typeface="Calibri" panose="020F0502020204030204" pitchFamily="34" charset="0"/>
            </a:endParaRPr>
          </a:p>
        </p:txBody>
      </p:sp>
    </p:spTree>
    <p:extLst>
      <p:ext uri="{BB962C8B-B14F-4D97-AF65-F5344CB8AC3E}">
        <p14:creationId xmlns:p14="http://schemas.microsoft.com/office/powerpoint/2010/main" val="169926654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8.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0" y="0"/>
            <a:ext cx="12192000" cy="1790732"/>
          </a:xfrm>
          <a:prstGeom prst="rect">
            <a:avLst/>
          </a:prstGeom>
          <a:solidFill>
            <a:srgbClr val="008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215"/>
          </a:p>
        </p:txBody>
      </p:sp>
      <p:pic>
        <p:nvPicPr>
          <p:cNvPr id="4" name="Picture 3"/>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9684000" y="6228003"/>
            <a:ext cx="2160000" cy="434430"/>
          </a:xfrm>
          <a:prstGeom prst="rect">
            <a:avLst/>
          </a:prstGeom>
        </p:spPr>
      </p:pic>
    </p:spTree>
    <p:extLst>
      <p:ext uri="{BB962C8B-B14F-4D97-AF65-F5344CB8AC3E}">
        <p14:creationId xmlns:p14="http://schemas.microsoft.com/office/powerpoint/2010/main" val="548637722"/>
      </p:ext>
    </p:extLst>
  </p:cSld>
  <p:clrMap bg1="lt1" tx1="dk1" bg2="lt2" tx2="dk2" accent1="accent1" accent2="accent2" accent3="accent3" accent4="accent4" accent5="accent5" accent6="accent6" hlink="hlink" folHlink="folHlink"/>
  <p:sldLayoutIdLst>
    <p:sldLayoutId id="2147483708" r:id="rId1"/>
  </p:sldLayoutIdLst>
  <p:timing>
    <p:tnLst>
      <p:par>
        <p:cTn id="1" dur="indefinite" restart="never" nodeType="tmRoot"/>
      </p:par>
    </p:tnLst>
  </p:timing>
  <p:hf hdr="0" ftr="0" dt="0"/>
  <p:txStyles>
    <p:titleStyle>
      <a:lvl1pPr algn="ctr" defTabSz="1125472" rtl="0" eaLnBrk="1" latinLnBrk="0" hangingPunct="1">
        <a:spcBef>
          <a:spcPct val="0"/>
        </a:spcBef>
        <a:buNone/>
        <a:defRPr sz="5417" kern="1200">
          <a:solidFill>
            <a:schemeClr val="tx1"/>
          </a:solidFill>
          <a:latin typeface="+mj-lt"/>
          <a:ea typeface="+mj-ea"/>
          <a:cs typeface="+mj-cs"/>
        </a:defRPr>
      </a:lvl1pPr>
    </p:titleStyle>
    <p:bodyStyle>
      <a:lvl1pPr marL="422051" indent="-422051" algn="l" defTabSz="1125472" rtl="0" eaLnBrk="1" latinLnBrk="0" hangingPunct="1">
        <a:spcBef>
          <a:spcPct val="20000"/>
        </a:spcBef>
        <a:buFont typeface="Arial" pitchFamily="34" charset="0"/>
        <a:buChar char="•"/>
        <a:defRPr sz="3939" kern="1200">
          <a:solidFill>
            <a:schemeClr val="tx1"/>
          </a:solidFill>
          <a:latin typeface="+mn-lt"/>
          <a:ea typeface="+mn-ea"/>
          <a:cs typeface="+mn-cs"/>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p:bodyStyle>
    <p:otherStyle>
      <a:defPPr>
        <a:defRPr lang="en-US"/>
      </a:defPPr>
      <a:lvl1pPr marL="0" algn="l" defTabSz="1125472" rtl="0" eaLnBrk="1" latinLnBrk="0" hangingPunct="1">
        <a:defRPr sz="2215" kern="1200">
          <a:solidFill>
            <a:schemeClr val="tx1"/>
          </a:solidFill>
          <a:latin typeface="+mn-lt"/>
          <a:ea typeface="+mn-ea"/>
          <a:cs typeface="+mn-cs"/>
        </a:defRPr>
      </a:lvl1pPr>
      <a:lvl2pPr marL="562737" algn="l" defTabSz="1125472" rtl="0" eaLnBrk="1" latinLnBrk="0" hangingPunct="1">
        <a:defRPr sz="2215" kern="1200">
          <a:solidFill>
            <a:schemeClr val="tx1"/>
          </a:solidFill>
          <a:latin typeface="+mn-lt"/>
          <a:ea typeface="+mn-ea"/>
          <a:cs typeface="+mn-cs"/>
        </a:defRPr>
      </a:lvl2pPr>
      <a:lvl3pPr marL="1125472" algn="l" defTabSz="1125472" rtl="0" eaLnBrk="1" latinLnBrk="0" hangingPunct="1">
        <a:defRPr sz="2215" kern="1200">
          <a:solidFill>
            <a:schemeClr val="tx1"/>
          </a:solidFill>
          <a:latin typeface="+mn-lt"/>
          <a:ea typeface="+mn-ea"/>
          <a:cs typeface="+mn-cs"/>
        </a:defRPr>
      </a:lvl3pPr>
      <a:lvl4pPr marL="1688207" algn="l" defTabSz="1125472" rtl="0" eaLnBrk="1" latinLnBrk="0" hangingPunct="1">
        <a:defRPr sz="2215" kern="1200">
          <a:solidFill>
            <a:schemeClr val="tx1"/>
          </a:solidFill>
          <a:latin typeface="+mn-lt"/>
          <a:ea typeface="+mn-ea"/>
          <a:cs typeface="+mn-cs"/>
        </a:defRPr>
      </a:lvl4pPr>
      <a:lvl5pPr marL="2250944" algn="l" defTabSz="1125472" rtl="0" eaLnBrk="1" latinLnBrk="0" hangingPunct="1">
        <a:defRPr sz="2215" kern="1200">
          <a:solidFill>
            <a:schemeClr val="tx1"/>
          </a:solidFill>
          <a:latin typeface="+mn-lt"/>
          <a:ea typeface="+mn-ea"/>
          <a:cs typeface="+mn-cs"/>
        </a:defRPr>
      </a:lvl5pPr>
      <a:lvl6pPr marL="2813679" algn="l" defTabSz="1125472" rtl="0" eaLnBrk="1" latinLnBrk="0" hangingPunct="1">
        <a:defRPr sz="2215" kern="1200">
          <a:solidFill>
            <a:schemeClr val="tx1"/>
          </a:solidFill>
          <a:latin typeface="+mn-lt"/>
          <a:ea typeface="+mn-ea"/>
          <a:cs typeface="+mn-cs"/>
        </a:defRPr>
      </a:lvl6pPr>
      <a:lvl7pPr marL="3376415" algn="l" defTabSz="1125472" rtl="0" eaLnBrk="1" latinLnBrk="0" hangingPunct="1">
        <a:defRPr sz="2215" kern="1200">
          <a:solidFill>
            <a:schemeClr val="tx1"/>
          </a:solidFill>
          <a:latin typeface="+mn-lt"/>
          <a:ea typeface="+mn-ea"/>
          <a:cs typeface="+mn-cs"/>
        </a:defRPr>
      </a:lvl7pPr>
      <a:lvl8pPr marL="3939151" algn="l" defTabSz="1125472" rtl="0" eaLnBrk="1" latinLnBrk="0" hangingPunct="1">
        <a:defRPr sz="2215" kern="1200">
          <a:solidFill>
            <a:schemeClr val="tx1"/>
          </a:solidFill>
          <a:latin typeface="+mn-lt"/>
          <a:ea typeface="+mn-ea"/>
          <a:cs typeface="+mn-cs"/>
        </a:defRPr>
      </a:lvl8pPr>
      <a:lvl9pPr marL="4501886" algn="l" defTabSz="1125472" rtl="0" eaLnBrk="1" latinLnBrk="0" hangingPunct="1">
        <a:defRPr sz="2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 name="Rectangle 12">
            <a:hlinkClick r:id="" action="ppaction://noaction"/>
          </p:cNvPr>
          <p:cNvSpPr/>
          <p:nvPr userDrawn="1"/>
        </p:nvSpPr>
        <p:spPr>
          <a:xfrm>
            <a:off x="2344619" y="152400"/>
            <a:ext cx="885743"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15" dirty="0"/>
          </a:p>
        </p:txBody>
      </p:sp>
      <p:sp>
        <p:nvSpPr>
          <p:cNvPr id="25" name="Rectangle 24"/>
          <p:cNvSpPr/>
          <p:nvPr userDrawn="1"/>
        </p:nvSpPr>
        <p:spPr>
          <a:xfrm>
            <a:off x="0" y="5"/>
            <a:ext cx="12192000" cy="778149"/>
          </a:xfrm>
          <a:prstGeom prst="rect">
            <a:avLst/>
          </a:prstGeom>
          <a:solidFill>
            <a:srgbClr val="008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215"/>
          </a:p>
        </p:txBody>
      </p:sp>
      <p:pic>
        <p:nvPicPr>
          <p:cNvPr id="5" name="Picture 4"/>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9684000" y="6228003"/>
            <a:ext cx="2160000" cy="434430"/>
          </a:xfrm>
          <a:prstGeom prst="rect">
            <a:avLst/>
          </a:prstGeom>
        </p:spPr>
      </p:pic>
    </p:spTree>
    <p:extLst>
      <p:ext uri="{BB962C8B-B14F-4D97-AF65-F5344CB8AC3E}">
        <p14:creationId xmlns:p14="http://schemas.microsoft.com/office/powerpoint/2010/main" val="413110343"/>
      </p:ext>
    </p:extLst>
  </p:cSld>
  <p:clrMap bg1="lt1" tx1="dk1" bg2="lt2" tx2="dk2" accent1="accent1" accent2="accent2" accent3="accent3" accent4="accent4" accent5="accent5" accent6="accent6" hlink="hlink" folHlink="folHlink"/>
  <p:sldLayoutIdLst>
    <p:sldLayoutId id="2147483712" r:id="rId1"/>
  </p:sldLayoutIdLst>
  <p:timing>
    <p:tnLst>
      <p:par>
        <p:cTn id="1" dur="indefinite" restart="never" nodeType="tmRoot"/>
      </p:par>
    </p:tnLst>
  </p:timing>
  <p:hf hdr="0" ftr="0" dt="0"/>
  <p:txStyles>
    <p:titleStyle>
      <a:lvl1pPr algn="ctr" defTabSz="1125472" rtl="0" eaLnBrk="1" latinLnBrk="0" hangingPunct="1">
        <a:spcBef>
          <a:spcPct val="0"/>
        </a:spcBef>
        <a:buNone/>
        <a:defRPr sz="5417" kern="1200">
          <a:solidFill>
            <a:schemeClr val="tx1"/>
          </a:solidFill>
          <a:latin typeface="+mj-lt"/>
          <a:ea typeface="+mj-ea"/>
          <a:cs typeface="+mj-cs"/>
        </a:defRPr>
      </a:lvl1pPr>
    </p:titleStyle>
    <p:bodyStyle>
      <a:lvl1pPr marL="422051" indent="-422051" algn="l" defTabSz="1125472" rtl="0" eaLnBrk="1" latinLnBrk="0" hangingPunct="1">
        <a:spcBef>
          <a:spcPct val="20000"/>
        </a:spcBef>
        <a:buFont typeface="Arial" pitchFamily="34" charset="0"/>
        <a:buChar char="•"/>
        <a:defRPr sz="3939" kern="1200">
          <a:solidFill>
            <a:schemeClr val="tx1"/>
          </a:solidFill>
          <a:latin typeface="+mn-lt"/>
          <a:ea typeface="+mn-ea"/>
          <a:cs typeface="+mn-cs"/>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p:bodyStyle>
    <p:otherStyle>
      <a:defPPr>
        <a:defRPr lang="en-US"/>
      </a:defPPr>
      <a:lvl1pPr marL="0" algn="l" defTabSz="1125472" rtl="0" eaLnBrk="1" latinLnBrk="0" hangingPunct="1">
        <a:defRPr sz="2215" kern="1200">
          <a:solidFill>
            <a:schemeClr val="tx1"/>
          </a:solidFill>
          <a:latin typeface="+mn-lt"/>
          <a:ea typeface="+mn-ea"/>
          <a:cs typeface="+mn-cs"/>
        </a:defRPr>
      </a:lvl1pPr>
      <a:lvl2pPr marL="562737" algn="l" defTabSz="1125472" rtl="0" eaLnBrk="1" latinLnBrk="0" hangingPunct="1">
        <a:defRPr sz="2215" kern="1200">
          <a:solidFill>
            <a:schemeClr val="tx1"/>
          </a:solidFill>
          <a:latin typeface="+mn-lt"/>
          <a:ea typeface="+mn-ea"/>
          <a:cs typeface="+mn-cs"/>
        </a:defRPr>
      </a:lvl2pPr>
      <a:lvl3pPr marL="1125472" algn="l" defTabSz="1125472" rtl="0" eaLnBrk="1" latinLnBrk="0" hangingPunct="1">
        <a:defRPr sz="2215" kern="1200">
          <a:solidFill>
            <a:schemeClr val="tx1"/>
          </a:solidFill>
          <a:latin typeface="+mn-lt"/>
          <a:ea typeface="+mn-ea"/>
          <a:cs typeface="+mn-cs"/>
        </a:defRPr>
      </a:lvl3pPr>
      <a:lvl4pPr marL="1688207" algn="l" defTabSz="1125472" rtl="0" eaLnBrk="1" latinLnBrk="0" hangingPunct="1">
        <a:defRPr sz="2215" kern="1200">
          <a:solidFill>
            <a:schemeClr val="tx1"/>
          </a:solidFill>
          <a:latin typeface="+mn-lt"/>
          <a:ea typeface="+mn-ea"/>
          <a:cs typeface="+mn-cs"/>
        </a:defRPr>
      </a:lvl4pPr>
      <a:lvl5pPr marL="2250944" algn="l" defTabSz="1125472" rtl="0" eaLnBrk="1" latinLnBrk="0" hangingPunct="1">
        <a:defRPr sz="2215" kern="1200">
          <a:solidFill>
            <a:schemeClr val="tx1"/>
          </a:solidFill>
          <a:latin typeface="+mn-lt"/>
          <a:ea typeface="+mn-ea"/>
          <a:cs typeface="+mn-cs"/>
        </a:defRPr>
      </a:lvl5pPr>
      <a:lvl6pPr marL="2813679" algn="l" defTabSz="1125472" rtl="0" eaLnBrk="1" latinLnBrk="0" hangingPunct="1">
        <a:defRPr sz="2215" kern="1200">
          <a:solidFill>
            <a:schemeClr val="tx1"/>
          </a:solidFill>
          <a:latin typeface="+mn-lt"/>
          <a:ea typeface="+mn-ea"/>
          <a:cs typeface="+mn-cs"/>
        </a:defRPr>
      </a:lvl6pPr>
      <a:lvl7pPr marL="3376415" algn="l" defTabSz="1125472" rtl="0" eaLnBrk="1" latinLnBrk="0" hangingPunct="1">
        <a:defRPr sz="2215" kern="1200">
          <a:solidFill>
            <a:schemeClr val="tx1"/>
          </a:solidFill>
          <a:latin typeface="+mn-lt"/>
          <a:ea typeface="+mn-ea"/>
          <a:cs typeface="+mn-cs"/>
        </a:defRPr>
      </a:lvl7pPr>
      <a:lvl8pPr marL="3939151" algn="l" defTabSz="1125472" rtl="0" eaLnBrk="1" latinLnBrk="0" hangingPunct="1">
        <a:defRPr sz="2215" kern="1200">
          <a:solidFill>
            <a:schemeClr val="tx1"/>
          </a:solidFill>
          <a:latin typeface="+mn-lt"/>
          <a:ea typeface="+mn-ea"/>
          <a:cs typeface="+mn-cs"/>
        </a:defRPr>
      </a:lvl8pPr>
      <a:lvl9pPr marL="4501886" algn="l" defTabSz="1125472" rtl="0" eaLnBrk="1" latinLnBrk="0" hangingPunct="1">
        <a:defRPr sz="2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EEE489-E466-492F-8FC9-54DA4F15981C}" type="datetime1">
              <a:rPr lang="en-GB" smtClean="0">
                <a:solidFill>
                  <a:prstClr val="black">
                    <a:tint val="75000"/>
                  </a:prstClr>
                </a:solidFill>
              </a:rPr>
              <a:pPr/>
              <a:t>09/12/2019</a:t>
            </a:fld>
            <a:endParaRPr lang="en-GB">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BA4990-24BE-4918-B30A-7A92AFD94670}"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60482448"/>
      </p:ext>
    </p:extLst>
  </p:cSld>
  <p:clrMap bg1="lt1" tx1="dk1" bg2="lt2" tx2="dk2" accent1="accent1" accent2="accent2" accent3="accent3" accent4="accent4" accent5="accent5" accent6="accent6" hlink="hlink" folHlink="folHlink"/>
  <p:sldLayoutIdLst>
    <p:sldLayoutId id="2147483714" r:id="rId1"/>
    <p:sldLayoutId id="2147483716" r:id="rId2"/>
    <p:sldLayoutId id="2147483717" r:id="rId3"/>
  </p:sldLayoutIdLst>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EEE489-E466-492F-8FC9-54DA4F15981C}" type="datetime1">
              <a:rPr lang="en-GB" smtClean="0">
                <a:solidFill>
                  <a:prstClr val="black">
                    <a:tint val="75000"/>
                  </a:prstClr>
                </a:solidFill>
              </a:rPr>
              <a:pPr/>
              <a:t>09/12/2019</a:t>
            </a:fld>
            <a:endParaRPr lang="en-GB">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BA4990-24BE-4918-B30A-7A92AFD94670}"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1802677900"/>
      </p:ext>
    </p:extLst>
  </p:cSld>
  <p:clrMap bg1="lt1" tx1="dk1" bg2="lt2" tx2="dk2" accent1="accent1" accent2="accent2" accent3="accent3" accent4="accent4" accent5="accent5" accent6="accent6" hlink="hlink" folHlink="folHlink"/>
  <p:sldLayoutIdLst>
    <p:sldLayoutId id="2147483719" r:id="rId1"/>
  </p:sldLayoutIdLst>
  <mc:AlternateContent xmlns:mc="http://schemas.openxmlformats.org/markup-compatibility/2006" xmlns:p14="http://schemas.microsoft.com/office/powerpoint/2010/main">
    <mc:Choice Requires="p14">
      <p:transition spd="med" p14:dur="700" advTm="15000">
        <p:fade/>
      </p:transition>
    </mc:Choice>
    <mc:Fallback xmlns="">
      <p:transition spd="med" advTm="15000">
        <p:fade/>
      </p:transition>
    </mc:Fallback>
  </mc:AlternateConten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 name="Rectangle 12">
            <a:hlinkClick r:id="" action="ppaction://noaction"/>
          </p:cNvPr>
          <p:cNvSpPr/>
          <p:nvPr userDrawn="1"/>
        </p:nvSpPr>
        <p:spPr>
          <a:xfrm>
            <a:off x="2344619" y="152400"/>
            <a:ext cx="885743"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15" dirty="0">
              <a:solidFill>
                <a:prstClr val="white"/>
              </a:solidFill>
            </a:endParaRPr>
          </a:p>
        </p:txBody>
      </p:sp>
      <p:sp>
        <p:nvSpPr>
          <p:cNvPr id="25" name="Rectangle 24"/>
          <p:cNvSpPr/>
          <p:nvPr userDrawn="1"/>
        </p:nvSpPr>
        <p:spPr>
          <a:xfrm>
            <a:off x="0" y="5"/>
            <a:ext cx="12192000" cy="778149"/>
          </a:xfrm>
          <a:prstGeom prst="rect">
            <a:avLst/>
          </a:prstGeom>
          <a:solidFill>
            <a:srgbClr val="0081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215">
              <a:solidFill>
                <a:prstClr val="white"/>
              </a:solidFill>
            </a:endParaRPr>
          </a:p>
        </p:txBody>
      </p:sp>
      <p:pic>
        <p:nvPicPr>
          <p:cNvPr id="5" name="Picture 4"/>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9684000" y="6228003"/>
            <a:ext cx="2160000" cy="434430"/>
          </a:xfrm>
          <a:prstGeom prst="rect">
            <a:avLst/>
          </a:prstGeom>
        </p:spPr>
      </p:pic>
    </p:spTree>
    <p:extLst>
      <p:ext uri="{BB962C8B-B14F-4D97-AF65-F5344CB8AC3E}">
        <p14:creationId xmlns:p14="http://schemas.microsoft.com/office/powerpoint/2010/main" val="1056614793"/>
      </p:ext>
    </p:extLst>
  </p:cSld>
  <p:clrMap bg1="lt1" tx1="dk1" bg2="lt2" tx2="dk2" accent1="accent1" accent2="accent2" accent3="accent3" accent4="accent4" accent5="accent5" accent6="accent6" hlink="hlink" folHlink="folHlink"/>
  <p:sldLayoutIdLst>
    <p:sldLayoutId id="2147483733" r:id="rId1"/>
  </p:sldLayoutIdLst>
  <p:timing>
    <p:tnLst>
      <p:par>
        <p:cTn id="1" dur="indefinite" restart="never" nodeType="tmRoot"/>
      </p:par>
    </p:tnLst>
  </p:timing>
  <p:hf hdr="0" ftr="0" dt="0"/>
  <p:txStyles>
    <p:titleStyle>
      <a:lvl1pPr algn="ctr" defTabSz="1125472" rtl="0" eaLnBrk="1" latinLnBrk="0" hangingPunct="1">
        <a:spcBef>
          <a:spcPct val="0"/>
        </a:spcBef>
        <a:buNone/>
        <a:defRPr sz="5417" kern="1200">
          <a:solidFill>
            <a:schemeClr val="tx1"/>
          </a:solidFill>
          <a:latin typeface="+mj-lt"/>
          <a:ea typeface="+mj-ea"/>
          <a:cs typeface="+mj-cs"/>
        </a:defRPr>
      </a:lvl1pPr>
    </p:titleStyle>
    <p:bodyStyle>
      <a:lvl1pPr marL="422051" indent="-422051" algn="l" defTabSz="1125472" rtl="0" eaLnBrk="1" latinLnBrk="0" hangingPunct="1">
        <a:spcBef>
          <a:spcPct val="20000"/>
        </a:spcBef>
        <a:buFont typeface="Arial" pitchFamily="34" charset="0"/>
        <a:buChar char="•"/>
        <a:defRPr sz="3939" kern="1200">
          <a:solidFill>
            <a:schemeClr val="tx1"/>
          </a:solidFill>
          <a:latin typeface="+mn-lt"/>
          <a:ea typeface="+mn-ea"/>
          <a:cs typeface="+mn-cs"/>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p:bodyStyle>
    <p:otherStyle>
      <a:defPPr>
        <a:defRPr lang="en-US"/>
      </a:defPPr>
      <a:lvl1pPr marL="0" algn="l" defTabSz="1125472" rtl="0" eaLnBrk="1" latinLnBrk="0" hangingPunct="1">
        <a:defRPr sz="2215" kern="1200">
          <a:solidFill>
            <a:schemeClr val="tx1"/>
          </a:solidFill>
          <a:latin typeface="+mn-lt"/>
          <a:ea typeface="+mn-ea"/>
          <a:cs typeface="+mn-cs"/>
        </a:defRPr>
      </a:lvl1pPr>
      <a:lvl2pPr marL="562737" algn="l" defTabSz="1125472" rtl="0" eaLnBrk="1" latinLnBrk="0" hangingPunct="1">
        <a:defRPr sz="2215" kern="1200">
          <a:solidFill>
            <a:schemeClr val="tx1"/>
          </a:solidFill>
          <a:latin typeface="+mn-lt"/>
          <a:ea typeface="+mn-ea"/>
          <a:cs typeface="+mn-cs"/>
        </a:defRPr>
      </a:lvl2pPr>
      <a:lvl3pPr marL="1125472" algn="l" defTabSz="1125472" rtl="0" eaLnBrk="1" latinLnBrk="0" hangingPunct="1">
        <a:defRPr sz="2215" kern="1200">
          <a:solidFill>
            <a:schemeClr val="tx1"/>
          </a:solidFill>
          <a:latin typeface="+mn-lt"/>
          <a:ea typeface="+mn-ea"/>
          <a:cs typeface="+mn-cs"/>
        </a:defRPr>
      </a:lvl3pPr>
      <a:lvl4pPr marL="1688207" algn="l" defTabSz="1125472" rtl="0" eaLnBrk="1" latinLnBrk="0" hangingPunct="1">
        <a:defRPr sz="2215" kern="1200">
          <a:solidFill>
            <a:schemeClr val="tx1"/>
          </a:solidFill>
          <a:latin typeface="+mn-lt"/>
          <a:ea typeface="+mn-ea"/>
          <a:cs typeface="+mn-cs"/>
        </a:defRPr>
      </a:lvl4pPr>
      <a:lvl5pPr marL="2250944" algn="l" defTabSz="1125472" rtl="0" eaLnBrk="1" latinLnBrk="0" hangingPunct="1">
        <a:defRPr sz="2215" kern="1200">
          <a:solidFill>
            <a:schemeClr val="tx1"/>
          </a:solidFill>
          <a:latin typeface="+mn-lt"/>
          <a:ea typeface="+mn-ea"/>
          <a:cs typeface="+mn-cs"/>
        </a:defRPr>
      </a:lvl5pPr>
      <a:lvl6pPr marL="2813679" algn="l" defTabSz="1125472" rtl="0" eaLnBrk="1" latinLnBrk="0" hangingPunct="1">
        <a:defRPr sz="2215" kern="1200">
          <a:solidFill>
            <a:schemeClr val="tx1"/>
          </a:solidFill>
          <a:latin typeface="+mn-lt"/>
          <a:ea typeface="+mn-ea"/>
          <a:cs typeface="+mn-cs"/>
        </a:defRPr>
      </a:lvl6pPr>
      <a:lvl7pPr marL="3376415" algn="l" defTabSz="1125472" rtl="0" eaLnBrk="1" latinLnBrk="0" hangingPunct="1">
        <a:defRPr sz="2215" kern="1200">
          <a:solidFill>
            <a:schemeClr val="tx1"/>
          </a:solidFill>
          <a:latin typeface="+mn-lt"/>
          <a:ea typeface="+mn-ea"/>
          <a:cs typeface="+mn-cs"/>
        </a:defRPr>
      </a:lvl7pPr>
      <a:lvl8pPr marL="3939151" algn="l" defTabSz="1125472" rtl="0" eaLnBrk="1" latinLnBrk="0" hangingPunct="1">
        <a:defRPr sz="2215" kern="1200">
          <a:solidFill>
            <a:schemeClr val="tx1"/>
          </a:solidFill>
          <a:latin typeface="+mn-lt"/>
          <a:ea typeface="+mn-ea"/>
          <a:cs typeface="+mn-cs"/>
        </a:defRPr>
      </a:lvl8pPr>
      <a:lvl9pPr marL="4501886" algn="l" defTabSz="1125472" rtl="0" eaLnBrk="1" latinLnBrk="0" hangingPunct="1">
        <a:defRPr sz="2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10"/>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9260308" y="6228000"/>
            <a:ext cx="2658461" cy="434436"/>
          </a:xfrm>
          <a:prstGeom prst="rect">
            <a:avLst/>
          </a:prstGeom>
        </p:spPr>
      </p:pic>
      <p:sp>
        <p:nvSpPr>
          <p:cNvPr id="13" name="Rectangle 12">
            <a:hlinkClick r:id="" action="ppaction://noaction"/>
          </p:cNvPr>
          <p:cNvSpPr/>
          <p:nvPr userDrawn="1"/>
        </p:nvSpPr>
        <p:spPr>
          <a:xfrm>
            <a:off x="2344618" y="152400"/>
            <a:ext cx="885743"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62" dirty="0">
              <a:solidFill>
                <a:prstClr val="white"/>
              </a:solidFill>
            </a:endParaRPr>
          </a:p>
        </p:txBody>
      </p:sp>
      <p:cxnSp>
        <p:nvCxnSpPr>
          <p:cNvPr id="15" name="Straight Connector 7"/>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0734505"/>
      </p:ext>
    </p:extLst>
  </p:cSld>
  <p:clrMap bg1="lt1" tx1="dk1" bg2="lt2" tx2="dk2" accent1="accent1" accent2="accent2" accent3="accent3" accent4="accent4" accent5="accent5" accent6="accent6" hlink="hlink" folHlink="folHlink"/>
  <p:sldLayoutIdLst>
    <p:sldLayoutId id="2147483747" r:id="rId1"/>
  </p:sldLayoutIdLst>
  <p:timing>
    <p:tnLst>
      <p:par>
        <p:cTn id="1" dur="indefinite" restart="never" nodeType="tmRoot"/>
      </p:par>
    </p:tnLst>
  </p:timing>
  <p:hf hdr="0" ftr="0" dt="0"/>
  <p:txStyles>
    <p:titleStyle>
      <a:lvl1pPr algn="ctr" defTabSz="844083" rtl="0" eaLnBrk="1" latinLnBrk="0" hangingPunct="1">
        <a:spcBef>
          <a:spcPct val="0"/>
        </a:spcBef>
        <a:buNone/>
        <a:defRPr sz="4062" kern="1200">
          <a:solidFill>
            <a:schemeClr val="tx1"/>
          </a:solidFill>
          <a:latin typeface="+mj-lt"/>
          <a:ea typeface="+mj-ea"/>
          <a:cs typeface="+mj-cs"/>
        </a:defRPr>
      </a:lvl1pPr>
    </p:titleStyle>
    <p:bodyStyle>
      <a:lvl1pPr marL="316531" indent="-316531" algn="l" defTabSz="844083" rtl="0" eaLnBrk="1" latinLnBrk="0" hangingPunct="1">
        <a:spcBef>
          <a:spcPct val="20000"/>
        </a:spcBef>
        <a:buFont typeface="Arial" pitchFamily="34" charset="0"/>
        <a:buChar char="•"/>
        <a:defRPr sz="2954" kern="1200">
          <a:solidFill>
            <a:schemeClr val="tx1"/>
          </a:solidFill>
          <a:latin typeface="+mn-lt"/>
          <a:ea typeface="+mn-ea"/>
          <a:cs typeface="+mn-cs"/>
        </a:defRPr>
      </a:lvl1pPr>
      <a:lvl2pPr marL="685817" indent="-263776" algn="l" defTabSz="844083" rtl="0" eaLnBrk="1" latinLnBrk="0" hangingPunct="1">
        <a:spcBef>
          <a:spcPct val="20000"/>
        </a:spcBef>
        <a:buFont typeface="Arial" pitchFamily="34" charset="0"/>
        <a:buChar char="–"/>
        <a:defRPr sz="2585" kern="1200">
          <a:solidFill>
            <a:schemeClr val="tx1"/>
          </a:solidFill>
          <a:latin typeface="+mn-lt"/>
          <a:ea typeface="+mn-ea"/>
          <a:cs typeface="+mn-cs"/>
        </a:defRPr>
      </a:lvl2pPr>
      <a:lvl3pPr marL="1055103" indent="-211021" algn="l" defTabSz="844083" rtl="0" eaLnBrk="1" latinLnBrk="0" hangingPunct="1">
        <a:spcBef>
          <a:spcPct val="20000"/>
        </a:spcBef>
        <a:buFont typeface="Arial" pitchFamily="34" charset="0"/>
        <a:buChar char="•"/>
        <a:defRPr sz="2215" kern="1200">
          <a:solidFill>
            <a:schemeClr val="tx1"/>
          </a:solidFill>
          <a:latin typeface="+mn-lt"/>
          <a:ea typeface="+mn-ea"/>
          <a:cs typeface="+mn-cs"/>
        </a:defRPr>
      </a:lvl3pPr>
      <a:lvl4pPr marL="1477145"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4pPr>
      <a:lvl5pPr marL="1899186"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5pPr>
      <a:lvl6pPr marL="2321227"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en-US"/>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hlinkClick r:id="" action="ppaction://noaction"/>
          </p:cNvPr>
          <p:cNvSpPr/>
          <p:nvPr userDrawn="1"/>
        </p:nvSpPr>
        <p:spPr>
          <a:xfrm>
            <a:off x="2344619" y="152400"/>
            <a:ext cx="885743"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5" name="Rectangle 24"/>
          <p:cNvSpPr/>
          <p:nvPr userDrawn="1"/>
        </p:nvSpPr>
        <p:spPr>
          <a:xfrm>
            <a:off x="0" y="5"/>
            <a:ext cx="12192000" cy="778149"/>
          </a:xfrm>
          <a:prstGeom prst="rect">
            <a:avLst/>
          </a:prstGeom>
          <a:solidFill>
            <a:srgbClr val="0066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solidFill>
                <a:prstClr val="white"/>
              </a:solidFill>
            </a:endParaRPr>
          </a:p>
        </p:txBody>
      </p:sp>
      <p:pic>
        <p:nvPicPr>
          <p:cNvPr id="26" name="Picture 9"/>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9260307" y="6228000"/>
            <a:ext cx="2658462" cy="434436"/>
          </a:xfrm>
          <a:prstGeom prst="rect">
            <a:avLst/>
          </a:prstGeom>
        </p:spPr>
      </p:pic>
    </p:spTree>
    <p:extLst>
      <p:ext uri="{BB962C8B-B14F-4D97-AF65-F5344CB8AC3E}">
        <p14:creationId xmlns:p14="http://schemas.microsoft.com/office/powerpoint/2010/main" val="2004854035"/>
      </p:ext>
    </p:extLst>
  </p:cSld>
  <p:clrMap bg1="lt1" tx1="dk1" bg2="lt2" tx2="dk2" accent1="accent1" accent2="accent2" accent3="accent3" accent4="accent4" accent5="accent5" accent6="accent6" hlink="hlink" folHlink="folHlink"/>
  <p:sldLayoutIdLst>
    <p:sldLayoutId id="2147483757" r:id="rId1"/>
    <p:sldLayoutId id="2147483779" r:id="rId2"/>
  </p:sldLayoutIdLst>
  <p:timing>
    <p:tnLst>
      <p:par>
        <p:cTn id="1" dur="indefinite" restart="never" nodeType="tmRoot"/>
      </p:par>
    </p:tnLst>
  </p:timing>
  <p:hf hdr="0" ftr="0" dt="0"/>
  <p:txStyles>
    <p:titleStyle>
      <a:lvl1pPr algn="ctr" defTabSz="914423" rtl="0" eaLnBrk="1" latinLnBrk="0" hangingPunct="1">
        <a:spcBef>
          <a:spcPct val="0"/>
        </a:spcBef>
        <a:buNone/>
        <a:defRPr sz="4401" kern="1200">
          <a:solidFill>
            <a:schemeClr val="tx1"/>
          </a:solidFill>
          <a:latin typeface="+mj-lt"/>
          <a:ea typeface="+mj-ea"/>
          <a:cs typeface="+mj-cs"/>
        </a:defRPr>
      </a:lvl1pPr>
    </p:titleStyle>
    <p:bodyStyle>
      <a:lvl1pPr marL="342908" indent="-342908" algn="l" defTabSz="91442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69" indent="-285757" algn="l" defTabSz="91442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28" indent="-228606" algn="l" defTabSz="91442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40" indent="-228606" algn="l" defTabSz="91442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52" indent="-228606" algn="l" defTabSz="91442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63" indent="-228606" algn="l" defTabSz="91442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74" indent="-228606" algn="l" defTabSz="91442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86" indent="-228606" algn="l" defTabSz="91442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97" indent="-228606" algn="l" defTabSz="91442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10.xml"/><Relationship Id="rId6" Type="http://schemas.openxmlformats.org/officeDocument/2006/relationships/image" Target="../media/image9.png"/><Relationship Id="rId11" Type="http://schemas.openxmlformats.org/officeDocument/2006/relationships/image" Target="../media/image14.png"/><Relationship Id="rId5" Type="http://schemas.microsoft.com/office/2007/relationships/hdphoto" Target="../media/hdphoto1.wdp"/><Relationship Id="rId15" Type="http://schemas.microsoft.com/office/2007/relationships/hdphoto" Target="../media/hdphoto2.wdp"/><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 Id="rId1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10.xml"/><Relationship Id="rId6" Type="http://schemas.openxmlformats.org/officeDocument/2006/relationships/image" Target="../media/image9.png"/><Relationship Id="rId11" Type="http://schemas.openxmlformats.org/officeDocument/2006/relationships/image" Target="../media/image15.png"/><Relationship Id="rId5" Type="http://schemas.microsoft.com/office/2007/relationships/hdphoto" Target="../media/hdphoto1.wdp"/><Relationship Id="rId15" Type="http://schemas.openxmlformats.org/officeDocument/2006/relationships/image" Target="../media/image11.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microsoft.com/office/2007/relationships/hdphoto" Target="../media/hdphoto2.wdp"/></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3.png"/><Relationship Id="rId12"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10.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0.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a:t>
            </a:fld>
            <a:endParaRPr lang="en-US" dirty="0">
              <a:solidFill>
                <a:schemeClr val="bg1"/>
              </a:solidFill>
            </a:endParaRPr>
          </a:p>
        </p:txBody>
      </p:sp>
      <p:sp>
        <p:nvSpPr>
          <p:cNvPr id="23" name="Rectángulo 22"/>
          <p:cNvSpPr/>
          <p:nvPr/>
        </p:nvSpPr>
        <p:spPr>
          <a:xfrm>
            <a:off x="681317" y="1174956"/>
            <a:ext cx="10858642" cy="2554545"/>
          </a:xfrm>
          <a:prstGeom prst="rect">
            <a:avLst/>
          </a:prstGeom>
          <a:ln>
            <a:noFill/>
          </a:ln>
        </p:spPr>
        <p:txBody>
          <a:bodyPr wrap="square">
            <a:spAutoFit/>
          </a:bodyPr>
          <a:lstStyle/>
          <a:p>
            <a:pPr>
              <a:spcBef>
                <a:spcPts val="600"/>
              </a:spcBef>
              <a:spcAft>
                <a:spcPts val="600"/>
              </a:spcAft>
            </a:pPr>
            <a:r>
              <a:rPr lang="en-US" sz="24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Latest version of Reportnet 3.0</a:t>
            </a:r>
          </a:p>
          <a:p>
            <a:pPr marL="342900" indent="-342900">
              <a:spcBef>
                <a:spcPts val="600"/>
              </a:spcBef>
              <a:spcAft>
                <a:spcPts val="600"/>
              </a:spcAft>
              <a:buFont typeface="Arial" panose="020B0604020202020204" pitchFamily="34" charset="0"/>
              <a:buChar char="•"/>
            </a:pPr>
            <a:r>
              <a:rPr lang="en-US" sz="2400"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Focus areas since last Steering Committee Meeting</a:t>
            </a:r>
          </a:p>
          <a:p>
            <a:pPr marL="342900" indent="-342900">
              <a:spcBef>
                <a:spcPts val="600"/>
              </a:spcBef>
              <a:spcAft>
                <a:spcPts val="600"/>
              </a:spcAft>
              <a:buFont typeface="Arial" panose="020B0604020202020204" pitchFamily="34" charset="0"/>
              <a:buChar char="•"/>
            </a:pPr>
            <a:r>
              <a:rPr lang="en-US" sz="2400"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Demo latest Features - Step 4 (Role Data Custodian)</a:t>
            </a:r>
          </a:p>
          <a:p>
            <a:pPr marL="342900" indent="-342900">
              <a:spcBef>
                <a:spcPts val="600"/>
              </a:spcBef>
              <a:spcAft>
                <a:spcPts val="600"/>
              </a:spcAft>
              <a:buFont typeface="Arial" panose="020B0604020202020204" pitchFamily="34" charset="0"/>
              <a:buChar char="•"/>
            </a:pPr>
            <a:r>
              <a:rPr lang="en-US" sz="2400"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Demo latest Features - Step 6 (Role Data Custodian)</a:t>
            </a:r>
          </a:p>
          <a:p>
            <a:pPr marL="342900" indent="-342900">
              <a:spcBef>
                <a:spcPts val="600"/>
              </a:spcBef>
              <a:spcAft>
                <a:spcPts val="600"/>
              </a:spcAft>
              <a:buFont typeface="Arial" panose="020B0604020202020204" pitchFamily="34" charset="0"/>
              <a:buChar char="•"/>
            </a:pPr>
            <a:r>
              <a:rPr lang="en-US" sz="2400"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Demo latest Features - Step 6 (Role Data Reporter)</a:t>
            </a:r>
            <a:endParaRPr lang="es-ES" sz="2400"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5" name="Rectángulo 4"/>
          <p:cNvSpPr/>
          <p:nvPr/>
        </p:nvSpPr>
        <p:spPr>
          <a:xfrm>
            <a:off x="1204778" y="66260"/>
            <a:ext cx="10858642" cy="646331"/>
          </a:xfrm>
          <a:prstGeom prst="rect">
            <a:avLst/>
          </a:prstGeom>
        </p:spPr>
        <p:txBody>
          <a:bodyPr wrap="square">
            <a:spAutoFit/>
          </a:bodyPr>
          <a:lstStyle/>
          <a:p>
            <a:pPr algn="r">
              <a:spcBef>
                <a:spcPts val="300"/>
              </a:spcBef>
              <a:spcAft>
                <a:spcPts val="300"/>
              </a:spcAft>
            </a:pPr>
            <a:r>
              <a:rPr lang="en-US" sz="3600" dirty="0">
                <a:solidFill>
                  <a:schemeClr val="bg1"/>
                </a:solidFill>
                <a:latin typeface="Calibri" panose="020F0502020204030204" pitchFamily="34" charset="0"/>
              </a:rPr>
              <a:t>Latest version of Reportnet 3.0</a:t>
            </a:r>
          </a:p>
        </p:txBody>
      </p:sp>
    </p:spTree>
    <p:extLst>
      <p:ext uri="{BB962C8B-B14F-4D97-AF65-F5344CB8AC3E}">
        <p14:creationId xmlns:p14="http://schemas.microsoft.com/office/powerpoint/2010/main" val="25463040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p:cNvGrpSpPr/>
          <p:nvPr/>
        </p:nvGrpSpPr>
        <p:grpSpPr>
          <a:xfrm>
            <a:off x="2678007" y="3037257"/>
            <a:ext cx="3033282" cy="1490774"/>
            <a:chOff x="3224107" y="3037257"/>
            <a:chExt cx="3033282" cy="1490774"/>
          </a:xfrm>
        </p:grpSpPr>
        <p:grpSp>
          <p:nvGrpSpPr>
            <p:cNvPr id="53" name="Grupo 52"/>
            <p:cNvGrpSpPr/>
            <p:nvPr/>
          </p:nvGrpSpPr>
          <p:grpSpPr>
            <a:xfrm>
              <a:off x="3224107" y="3037257"/>
              <a:ext cx="3033282" cy="1490774"/>
              <a:chOff x="2681187" y="3037257"/>
              <a:chExt cx="3033282" cy="1490774"/>
            </a:xfrm>
            <a:solidFill>
              <a:srgbClr val="DDD9C3"/>
            </a:solidFill>
          </p:grpSpPr>
          <p:sp>
            <p:nvSpPr>
              <p:cNvPr id="54" name="Rectángulo 53"/>
              <p:cNvSpPr/>
              <p:nvPr/>
            </p:nvSpPr>
            <p:spPr>
              <a:xfrm>
                <a:off x="2681187" y="3037257"/>
                <a:ext cx="3033282" cy="448896"/>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Rectángulo 54"/>
              <p:cNvSpPr/>
              <p:nvPr/>
            </p:nvSpPr>
            <p:spPr>
              <a:xfrm>
                <a:off x="2681187" y="3503310"/>
                <a:ext cx="3033282" cy="130487"/>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9" name="Rectángulo 58"/>
              <p:cNvSpPr/>
              <p:nvPr/>
            </p:nvSpPr>
            <p:spPr>
              <a:xfrm>
                <a:off x="2681187" y="3811908"/>
                <a:ext cx="3033282" cy="130487"/>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4" name="Rectángulo 73"/>
              <p:cNvSpPr/>
              <p:nvPr/>
            </p:nvSpPr>
            <p:spPr>
              <a:xfrm>
                <a:off x="2681187" y="3960657"/>
                <a:ext cx="3033282" cy="274045"/>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5" name="Rectángulo 74"/>
              <p:cNvSpPr/>
              <p:nvPr/>
            </p:nvSpPr>
            <p:spPr>
              <a:xfrm>
                <a:off x="2681187" y="4253986"/>
                <a:ext cx="3033282" cy="274045"/>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78" name="Rectángulo 77"/>
            <p:cNvSpPr/>
            <p:nvPr/>
          </p:nvSpPr>
          <p:spPr>
            <a:xfrm>
              <a:off x="3224107" y="3655710"/>
              <a:ext cx="3033282" cy="130487"/>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4" name="Rectángulo 3"/>
          <p:cNvSpPr/>
          <p:nvPr/>
        </p:nvSpPr>
        <p:spPr>
          <a:xfrm>
            <a:off x="5636153" y="2997200"/>
            <a:ext cx="177380" cy="965517"/>
          </a:xfrm>
          <a:prstGeom prst="rect">
            <a:avLst/>
          </a:prstGeom>
          <a:solidFill>
            <a:schemeClr val="accent3">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0" name="Grupo 9"/>
          <p:cNvGrpSpPr/>
          <p:nvPr/>
        </p:nvGrpSpPr>
        <p:grpSpPr>
          <a:xfrm>
            <a:off x="2686989" y="2064411"/>
            <a:ext cx="3027480" cy="2964788"/>
            <a:chOff x="2686989" y="2064411"/>
            <a:chExt cx="3027480" cy="2964788"/>
          </a:xfrm>
        </p:grpSpPr>
        <p:sp>
          <p:nvSpPr>
            <p:cNvPr id="60" name="Rectángulo 59"/>
            <p:cNvSpPr/>
            <p:nvPr/>
          </p:nvSpPr>
          <p:spPr>
            <a:xfrm>
              <a:off x="2686989" y="2064411"/>
              <a:ext cx="3027480" cy="2700000"/>
            </a:xfrm>
            <a:prstGeom prst="rect">
              <a:avLst/>
            </a:prstGeom>
            <a:no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smtClean="0">
                  <a:solidFill>
                    <a:schemeClr val="tx1"/>
                  </a:solidFill>
                  <a:latin typeface="Calibri" panose="020F0502020204030204" pitchFamily="34" charset="0"/>
                </a:rPr>
                <a:t>Prepare </a:t>
              </a:r>
              <a:r>
                <a:rPr lang="en-US" sz="1000" dirty="0">
                  <a:solidFill>
                    <a:schemeClr val="tx1"/>
                  </a:solidFill>
                  <a:latin typeface="Calibri" panose="020F0502020204030204" pitchFamily="34" charset="0"/>
                </a:rPr>
                <a:t>&amp; Manage Data Collection</a:t>
              </a:r>
            </a:p>
            <a:p>
              <a:pPr marL="180975" indent="-180975">
                <a:buFont typeface="+mj-lt"/>
                <a:buAutoNum type="arabicPeriod"/>
              </a:pPr>
              <a:r>
                <a:rPr lang="en-US" sz="1000" dirty="0" smtClean="0">
                  <a:solidFill>
                    <a:schemeClr val="tx1"/>
                  </a:solidFill>
                  <a:latin typeface="Calibri" panose="020F0502020204030204" pitchFamily="34" charset="0"/>
                </a:rPr>
                <a:t>Create/Manage Data Collection &amp; Reporting Data Sets</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smtClean="0">
                  <a:solidFill>
                    <a:schemeClr val="tx1"/>
                  </a:solidFill>
                  <a:latin typeface="Calibri" panose="020F0502020204030204" pitchFamily="34" charset="0"/>
                </a:rPr>
                <a:t>Share Access Rights (Reporters-Contributors)</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smtClean="0">
                  <a:solidFill>
                    <a:schemeClr val="tx1"/>
                  </a:solidFill>
                  <a:latin typeface="Calibri" panose="020F0502020204030204" pitchFamily="34" charset="0"/>
                </a:rPr>
                <a:t>Access </a:t>
              </a:r>
              <a:r>
                <a:rPr lang="en-US" sz="1000" dirty="0">
                  <a:solidFill>
                    <a:schemeClr val="tx1"/>
                  </a:solidFill>
                  <a:latin typeface="Calibri" panose="020F0502020204030204" pitchFamily="34" charset="0"/>
                </a:rPr>
                <a:t>Management and </a:t>
              </a:r>
              <a:r>
                <a:rPr lang="en-US" sz="1000" dirty="0" smtClean="0">
                  <a:solidFill>
                    <a:schemeClr val="tx1"/>
                  </a:solidFill>
                  <a:latin typeface="Calibri" panose="020F0502020204030204" pitchFamily="34" charset="0"/>
                </a:rPr>
                <a:t>Roles (System Administrators, Helpdesk, NFPs)</a:t>
              </a:r>
            </a:p>
            <a:p>
              <a:pPr marL="180975" indent="-180975">
                <a:buFont typeface="+mj-lt"/>
                <a:buAutoNum type="arabicPeriod"/>
              </a:pPr>
              <a:r>
                <a:rPr lang="en-US" sz="1000" dirty="0" smtClean="0">
                  <a:solidFill>
                    <a:schemeClr val="tx1"/>
                  </a:solidFill>
                  <a:latin typeface="Calibri" panose="020F0502020204030204" pitchFamily="34" charset="0"/>
                </a:rPr>
                <a:t>Manage Reporting Data Set (View, Update , Release)</a:t>
              </a:r>
            </a:p>
            <a:p>
              <a:pPr marL="266700" lvl="1" indent="-87313">
                <a:buFont typeface="Arial" panose="020B0604020202020204" pitchFamily="34" charset="0"/>
                <a:buChar char="•"/>
              </a:pPr>
              <a:r>
                <a:rPr lang="en-US" sz="1000" dirty="0" smtClean="0">
                  <a:solidFill>
                    <a:schemeClr val="tx1"/>
                  </a:solidFill>
                  <a:latin typeface="Calibri" panose="020F0502020204030204" pitchFamily="34" charset="0"/>
                </a:rPr>
                <a:t>Reporting Data Set Management Tool Import/Export, Tables, Edit, Raw Data, Web forms)</a:t>
              </a:r>
            </a:p>
            <a:p>
              <a:pPr marL="180975" indent="-180975">
                <a:buFont typeface="+mj-lt"/>
                <a:buAutoNum type="arabicPeriod"/>
              </a:pPr>
              <a:r>
                <a:rPr lang="en-US" sz="1000" dirty="0" smtClean="0">
                  <a:solidFill>
                    <a:schemeClr val="tx1"/>
                  </a:solidFill>
                  <a:latin typeface="Calibri" panose="020F0502020204030204" pitchFamily="34" charset="0"/>
                </a:rPr>
                <a:t>Reporting Data Set Validations - QC rules</a:t>
              </a:r>
            </a:p>
            <a:p>
              <a:pPr marL="180975" indent="-180975">
                <a:buFont typeface="+mj-lt"/>
                <a:buAutoNum type="arabicPeriod"/>
              </a:pPr>
              <a:r>
                <a:rPr lang="en-US" sz="1000" dirty="0" smtClean="0">
                  <a:solidFill>
                    <a:schemeClr val="tx1"/>
                  </a:solidFill>
                  <a:latin typeface="Calibri" panose="020F0502020204030204" pitchFamily="34" charset="0"/>
                </a:rPr>
                <a:t>Manage Events, Snapshots</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a:solidFill>
                    <a:schemeClr val="tx1"/>
                  </a:solidFill>
                  <a:latin typeface="Calibri" panose="020F0502020204030204" pitchFamily="34" charset="0"/>
                </a:rPr>
                <a:t>Reporting Data Set Dashboards</a:t>
              </a:r>
              <a:r>
                <a:rPr lang="en-US" sz="1000" dirty="0" smtClean="0">
                  <a:solidFill>
                    <a:schemeClr val="tx1"/>
                  </a:solidFill>
                  <a:latin typeface="Calibri" panose="020F0502020204030204" pitchFamily="34" charset="0"/>
                </a:rPr>
                <a:t>/ Visualizations/ </a:t>
              </a:r>
              <a:r>
                <a:rPr lang="en-US" sz="1000" dirty="0">
                  <a:solidFill>
                    <a:schemeClr val="tx1"/>
                  </a:solidFill>
                  <a:latin typeface="Calibri" panose="020F0502020204030204" pitchFamily="34" charset="0"/>
                </a:rPr>
                <a:t>Lists</a:t>
              </a:r>
            </a:p>
            <a:p>
              <a:pPr marL="180975" indent="-180975">
                <a:buFont typeface="+mj-lt"/>
                <a:buAutoNum type="arabicPeriod"/>
              </a:pPr>
              <a:r>
                <a:rPr lang="en-US" sz="1000" dirty="0">
                  <a:solidFill>
                    <a:schemeClr val="tx1"/>
                  </a:solidFill>
                  <a:latin typeface="Calibri" panose="020F0502020204030204" pitchFamily="34" charset="0"/>
                </a:rPr>
                <a:t>Reporter Manage My Data Flows / Pending Data Flows / Notifications</a:t>
              </a:r>
            </a:p>
            <a:p>
              <a:pPr marL="180975" indent="-180975">
                <a:buFont typeface="+mj-lt"/>
                <a:buAutoNum type="arabicPeriod"/>
              </a:pPr>
              <a:r>
                <a:rPr lang="en-US" sz="1000" dirty="0">
                  <a:solidFill>
                    <a:schemeClr val="tx1"/>
                  </a:solidFill>
                  <a:latin typeface="Calibri" panose="020F0502020204030204" pitchFamily="34" charset="0"/>
                </a:rPr>
                <a:t>Access DF Reporting Data Set Documentation/Web Links</a:t>
              </a:r>
            </a:p>
          </p:txBody>
        </p:sp>
        <p:sp>
          <p:nvSpPr>
            <p:cNvPr id="61" name="Rectángulo 60"/>
            <p:cNvSpPr>
              <a:spLocks noChangeAspect="1"/>
            </p:cNvSpPr>
            <p:nvPr/>
          </p:nvSpPr>
          <p:spPr>
            <a:xfrm>
              <a:off x="2724715" y="4635535"/>
              <a:ext cx="2952751" cy="393664"/>
            </a:xfrm>
            <a:prstGeom prst="rect">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GB" sz="1000" i="1" dirty="0" smtClean="0">
                  <a:solidFill>
                    <a:schemeClr val="bg1"/>
                  </a:solidFill>
                  <a:latin typeface="Calibri" panose="020F0502020204030204" pitchFamily="34" charset="0"/>
                </a:rPr>
                <a:t>Requesters</a:t>
              </a:r>
              <a:r>
                <a:rPr lang="es-ES" sz="1000" i="1" dirty="0" smtClean="0">
                  <a:solidFill>
                    <a:schemeClr val="bg1"/>
                  </a:solidFill>
                  <a:latin typeface="Calibri" panose="020F0502020204030204" pitchFamily="34" charset="0"/>
                </a:rPr>
                <a:t>; </a:t>
              </a:r>
              <a:r>
                <a:rPr lang="en-GB" sz="1000" i="1" dirty="0" smtClean="0">
                  <a:solidFill>
                    <a:schemeClr val="bg1"/>
                  </a:solidFill>
                  <a:latin typeface="Calibri" panose="020F0502020204030204" pitchFamily="34" charset="0"/>
                </a:rPr>
                <a:t>Reporters</a:t>
              </a:r>
              <a:endParaRPr lang="en-GB" sz="1000" i="1" dirty="0">
                <a:solidFill>
                  <a:schemeClr val="bg1"/>
                </a:solidFill>
                <a:latin typeface="Calibri" panose="020F0502020204030204" pitchFamily="34" charset="0"/>
              </a:endParaRPr>
            </a:p>
          </p:txBody>
        </p:sp>
      </p:grpSp>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2</a:t>
            </a:fld>
            <a:endParaRPr lang="en-US" dirty="0">
              <a:solidFill>
                <a:schemeClr val="bg1"/>
              </a:solidFill>
            </a:endParaRPr>
          </a:p>
        </p:txBody>
      </p:sp>
      <p:sp>
        <p:nvSpPr>
          <p:cNvPr id="37" name="Rectángulo 36"/>
          <p:cNvSpPr/>
          <p:nvPr/>
        </p:nvSpPr>
        <p:spPr>
          <a:xfrm>
            <a:off x="124055" y="5244206"/>
            <a:ext cx="1687133" cy="1008000"/>
          </a:xfrm>
          <a:prstGeom prst="rect">
            <a:avLst/>
          </a:prstGeom>
          <a:solidFill>
            <a:schemeClr val="accent1">
              <a:lumMod val="20000"/>
              <a:lumOff val="8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US" sz="1600" dirty="0">
                <a:solidFill>
                  <a:schemeClr val="accent1">
                    <a:lumMod val="50000"/>
                  </a:schemeClr>
                </a:solidFill>
                <a:latin typeface="Calibri" panose="020F0502020204030204" pitchFamily="34" charset="0"/>
              </a:rPr>
              <a:t>Cross Cutting Features</a:t>
            </a:r>
            <a:endParaRPr lang="es-ES" sz="1600" dirty="0">
              <a:solidFill>
                <a:schemeClr val="accent1">
                  <a:lumMod val="50000"/>
                </a:schemeClr>
              </a:solidFill>
              <a:latin typeface="Calibri" panose="020F0502020204030204" pitchFamily="34" charset="0"/>
            </a:endParaRPr>
          </a:p>
        </p:txBody>
      </p:sp>
      <p:sp>
        <p:nvSpPr>
          <p:cNvPr id="43" name="Rectángulo 42"/>
          <p:cNvSpPr/>
          <p:nvPr/>
        </p:nvSpPr>
        <p:spPr>
          <a:xfrm>
            <a:off x="5851260" y="927288"/>
            <a:ext cx="1454400" cy="1038126"/>
          </a:xfrm>
          <a:prstGeom prst="rect">
            <a:avLst/>
          </a:prstGeom>
          <a:solidFill>
            <a:schemeClr val="accent1">
              <a:lumMod val="20000"/>
              <a:lumOff val="8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accent1">
                    <a:lumMod val="50000"/>
                  </a:schemeClr>
                </a:solidFill>
                <a:latin typeface="Calibri" panose="020F0502020204030204" pitchFamily="34" charset="0"/>
              </a:rPr>
              <a:t>Step 5</a:t>
            </a:r>
          </a:p>
          <a:p>
            <a:pPr algn="ctr"/>
            <a:r>
              <a:rPr lang="en-US" sz="1600" dirty="0">
                <a:solidFill>
                  <a:schemeClr val="accent1">
                    <a:lumMod val="50000"/>
                  </a:schemeClr>
                </a:solidFill>
                <a:latin typeface="Calibri" panose="020F0502020204030204" pitchFamily="34" charset="0"/>
              </a:rPr>
              <a:t>Helping MS to prepare their reports</a:t>
            </a:r>
            <a:endParaRPr lang="es-ES" sz="1600" dirty="0">
              <a:solidFill>
                <a:schemeClr val="accent1">
                  <a:lumMod val="50000"/>
                </a:schemeClr>
              </a:solidFill>
              <a:latin typeface="Calibri" panose="020F0502020204030204" pitchFamily="34" charset="0"/>
            </a:endParaRPr>
          </a:p>
        </p:txBody>
      </p:sp>
      <p:sp>
        <p:nvSpPr>
          <p:cNvPr id="44" name="Rectángulo 43"/>
          <p:cNvSpPr/>
          <p:nvPr/>
        </p:nvSpPr>
        <p:spPr>
          <a:xfrm>
            <a:off x="124055" y="927288"/>
            <a:ext cx="2463869" cy="1043189"/>
          </a:xfrm>
          <a:prstGeom prst="rect">
            <a:avLst/>
          </a:prstGeom>
          <a:solidFill>
            <a:schemeClr val="accent1">
              <a:lumMod val="20000"/>
              <a:lumOff val="8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US" sz="1600" dirty="0">
                <a:solidFill>
                  <a:schemeClr val="accent1">
                    <a:lumMod val="50000"/>
                  </a:schemeClr>
                </a:solidFill>
                <a:latin typeface="Calibri" panose="020F0502020204030204" pitchFamily="34" charset="0"/>
              </a:rPr>
              <a:t>Step </a:t>
            </a:r>
            <a:r>
              <a:rPr lang="en-US" sz="1600" dirty="0" smtClean="0">
                <a:solidFill>
                  <a:schemeClr val="accent1">
                    <a:lumMod val="50000"/>
                  </a:schemeClr>
                </a:solidFill>
                <a:latin typeface="Calibri" panose="020F0502020204030204" pitchFamily="34" charset="0"/>
              </a:rPr>
              <a:t>4</a:t>
            </a:r>
          </a:p>
          <a:p>
            <a:pPr algn="ctr"/>
            <a:r>
              <a:rPr lang="en-US" sz="1600" dirty="0" smtClean="0">
                <a:solidFill>
                  <a:schemeClr val="accent1">
                    <a:lumMod val="50000"/>
                  </a:schemeClr>
                </a:solidFill>
                <a:latin typeface="Calibri" panose="020F0502020204030204" pitchFamily="34" charset="0"/>
              </a:rPr>
              <a:t>Explaining </a:t>
            </a:r>
            <a:r>
              <a:rPr lang="en-US" sz="1600" dirty="0">
                <a:solidFill>
                  <a:schemeClr val="accent1">
                    <a:lumMod val="50000"/>
                  </a:schemeClr>
                </a:solidFill>
                <a:latin typeface="Calibri" panose="020F0502020204030204" pitchFamily="34" charset="0"/>
              </a:rPr>
              <a:t>the </a:t>
            </a:r>
            <a:r>
              <a:rPr lang="en-US" sz="1600" dirty="0" smtClean="0">
                <a:solidFill>
                  <a:schemeClr val="accent1">
                    <a:lumMod val="50000"/>
                  </a:schemeClr>
                </a:solidFill>
                <a:latin typeface="Calibri" panose="020F0502020204030204" pitchFamily="34" charset="0"/>
              </a:rPr>
              <a:t>reporting Obligations in Practice</a:t>
            </a:r>
            <a:endParaRPr lang="es-ES" sz="1600" dirty="0">
              <a:solidFill>
                <a:schemeClr val="accent1">
                  <a:lumMod val="50000"/>
                </a:schemeClr>
              </a:solidFill>
            </a:endParaRPr>
          </a:p>
        </p:txBody>
      </p:sp>
      <p:sp>
        <p:nvSpPr>
          <p:cNvPr id="45" name="Rectángulo 44"/>
          <p:cNvSpPr/>
          <p:nvPr/>
        </p:nvSpPr>
        <p:spPr>
          <a:xfrm>
            <a:off x="2686989" y="927288"/>
            <a:ext cx="3027480" cy="1043189"/>
          </a:xfrm>
          <a:prstGeom prst="rect">
            <a:avLst/>
          </a:prstGeom>
          <a:solidFill>
            <a:schemeClr val="accent1">
              <a:lumMod val="20000"/>
              <a:lumOff val="8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US" sz="1600" dirty="0">
                <a:solidFill>
                  <a:schemeClr val="accent1">
                    <a:lumMod val="50000"/>
                  </a:schemeClr>
                </a:solidFill>
                <a:latin typeface="Calibri" panose="020F0502020204030204" pitchFamily="34" charset="0"/>
              </a:rPr>
              <a:t>Step 6</a:t>
            </a:r>
          </a:p>
          <a:p>
            <a:pPr algn="ctr"/>
            <a:r>
              <a:rPr lang="en-US" sz="1600" dirty="0">
                <a:solidFill>
                  <a:schemeClr val="accent1">
                    <a:lumMod val="50000"/>
                  </a:schemeClr>
                </a:solidFill>
                <a:latin typeface="Calibri" panose="020F0502020204030204" pitchFamily="34" charset="0"/>
              </a:rPr>
              <a:t>Organizing the data </a:t>
            </a:r>
          </a:p>
          <a:p>
            <a:pPr algn="ctr"/>
            <a:r>
              <a:rPr lang="en-US" sz="1600" dirty="0">
                <a:solidFill>
                  <a:schemeClr val="accent1">
                    <a:lumMod val="50000"/>
                  </a:schemeClr>
                </a:solidFill>
                <a:latin typeface="Calibri" panose="020F0502020204030204" pitchFamily="34" charset="0"/>
              </a:rPr>
              <a:t>Submission or harvesting</a:t>
            </a:r>
            <a:endParaRPr lang="es-ES" sz="1600" dirty="0">
              <a:solidFill>
                <a:schemeClr val="accent1">
                  <a:lumMod val="50000"/>
                </a:schemeClr>
              </a:solidFill>
              <a:latin typeface="Calibri" panose="020F0502020204030204" pitchFamily="34" charset="0"/>
            </a:endParaRPr>
          </a:p>
        </p:txBody>
      </p:sp>
      <p:sp>
        <p:nvSpPr>
          <p:cNvPr id="46" name="Rectángulo 45"/>
          <p:cNvSpPr/>
          <p:nvPr/>
        </p:nvSpPr>
        <p:spPr>
          <a:xfrm>
            <a:off x="7418716" y="927288"/>
            <a:ext cx="1452684" cy="1043189"/>
          </a:xfrm>
          <a:prstGeom prst="rect">
            <a:avLst/>
          </a:prstGeom>
          <a:solidFill>
            <a:schemeClr val="accent1">
              <a:lumMod val="20000"/>
              <a:lumOff val="8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accent1">
                    <a:lumMod val="50000"/>
                  </a:schemeClr>
                </a:solidFill>
                <a:latin typeface="Calibri" panose="020F0502020204030204" pitchFamily="34" charset="0"/>
              </a:rPr>
              <a:t>Step 7 </a:t>
            </a:r>
            <a:endParaRPr lang="en-US" sz="1600" dirty="0" smtClean="0">
              <a:solidFill>
                <a:schemeClr val="accent1">
                  <a:lumMod val="50000"/>
                </a:schemeClr>
              </a:solidFill>
              <a:latin typeface="Calibri" panose="020F0502020204030204" pitchFamily="34" charset="0"/>
            </a:endParaRPr>
          </a:p>
          <a:p>
            <a:pPr algn="ctr"/>
            <a:r>
              <a:rPr lang="en-US" sz="1600" dirty="0" smtClean="0">
                <a:solidFill>
                  <a:schemeClr val="accent1">
                    <a:lumMod val="50000"/>
                  </a:schemeClr>
                </a:solidFill>
                <a:latin typeface="Calibri" panose="020F0502020204030204" pitchFamily="34" charset="0"/>
              </a:rPr>
              <a:t>Ensuring </a:t>
            </a:r>
            <a:r>
              <a:rPr lang="en-US" sz="1600" dirty="0">
                <a:solidFill>
                  <a:schemeClr val="accent1">
                    <a:lumMod val="50000"/>
                  </a:schemeClr>
                </a:solidFill>
                <a:latin typeface="Calibri" panose="020F0502020204030204" pitchFamily="34" charset="0"/>
              </a:rPr>
              <a:t>quality of the reported data</a:t>
            </a:r>
            <a:endParaRPr lang="es-ES" sz="1600" dirty="0">
              <a:solidFill>
                <a:schemeClr val="accent1">
                  <a:lumMod val="50000"/>
                </a:schemeClr>
              </a:solidFill>
              <a:latin typeface="Calibri" panose="020F0502020204030204" pitchFamily="34" charset="0"/>
            </a:endParaRPr>
          </a:p>
        </p:txBody>
      </p:sp>
      <p:sp>
        <p:nvSpPr>
          <p:cNvPr id="47" name="Rectángulo 46"/>
          <p:cNvSpPr/>
          <p:nvPr/>
        </p:nvSpPr>
        <p:spPr>
          <a:xfrm>
            <a:off x="8993360" y="927288"/>
            <a:ext cx="1452684" cy="1043189"/>
          </a:xfrm>
          <a:prstGeom prst="rect">
            <a:avLst/>
          </a:prstGeom>
          <a:solidFill>
            <a:schemeClr val="accent1">
              <a:lumMod val="20000"/>
              <a:lumOff val="8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accent1">
                    <a:lumMod val="50000"/>
                  </a:schemeClr>
                </a:solidFill>
                <a:latin typeface="Calibri" panose="020F0502020204030204" pitchFamily="34" charset="0"/>
              </a:rPr>
              <a:t>Step 8 </a:t>
            </a:r>
          </a:p>
          <a:p>
            <a:pPr algn="ctr"/>
            <a:r>
              <a:rPr lang="en-US" sz="1600" dirty="0">
                <a:solidFill>
                  <a:schemeClr val="accent1">
                    <a:lumMod val="50000"/>
                  </a:schemeClr>
                </a:solidFill>
                <a:latin typeface="Calibri" panose="020F0502020204030204" pitchFamily="34" charset="0"/>
              </a:rPr>
              <a:t>Carrying out data processing and analysis</a:t>
            </a:r>
            <a:endParaRPr lang="es-ES" sz="1600" dirty="0">
              <a:solidFill>
                <a:schemeClr val="accent1">
                  <a:lumMod val="50000"/>
                </a:schemeClr>
              </a:solidFill>
              <a:latin typeface="Calibri" panose="020F0502020204030204" pitchFamily="34" charset="0"/>
            </a:endParaRPr>
          </a:p>
        </p:txBody>
      </p:sp>
      <p:sp>
        <p:nvSpPr>
          <p:cNvPr id="48" name="Rectángulo 47"/>
          <p:cNvSpPr/>
          <p:nvPr/>
        </p:nvSpPr>
        <p:spPr>
          <a:xfrm>
            <a:off x="10568003" y="927288"/>
            <a:ext cx="1452684" cy="1043189"/>
          </a:xfrm>
          <a:prstGeom prst="rect">
            <a:avLst/>
          </a:prstGeom>
          <a:solidFill>
            <a:schemeClr val="accent1">
              <a:lumMod val="20000"/>
              <a:lumOff val="8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accent1">
                    <a:lumMod val="50000"/>
                  </a:schemeClr>
                </a:solidFill>
                <a:latin typeface="Calibri" panose="020F0502020204030204" pitchFamily="34" charset="0"/>
              </a:rPr>
              <a:t>Step 9 Presenting and disseminating results</a:t>
            </a:r>
            <a:endParaRPr lang="es-ES" sz="1600" dirty="0">
              <a:solidFill>
                <a:schemeClr val="accent1">
                  <a:lumMod val="50000"/>
                </a:schemeClr>
              </a:solidFill>
              <a:latin typeface="Calibri" panose="020F0502020204030204" pitchFamily="34" charset="0"/>
            </a:endParaRPr>
          </a:p>
        </p:txBody>
      </p:sp>
      <p:sp>
        <p:nvSpPr>
          <p:cNvPr id="79" name="Rectángulo 78"/>
          <p:cNvSpPr/>
          <p:nvPr/>
        </p:nvSpPr>
        <p:spPr>
          <a:xfrm>
            <a:off x="266700" y="66260"/>
            <a:ext cx="11949120" cy="584775"/>
          </a:xfrm>
          <a:prstGeom prst="rect">
            <a:avLst/>
          </a:prstGeom>
        </p:spPr>
        <p:txBody>
          <a:bodyPr wrap="square" lIns="36000">
            <a:spAutoFit/>
          </a:bodyPr>
          <a:lstStyle/>
          <a:p>
            <a:pPr algn="r">
              <a:spcBef>
                <a:spcPts val="300"/>
              </a:spcBef>
              <a:spcAft>
                <a:spcPts val="300"/>
              </a:spcAft>
            </a:pPr>
            <a:r>
              <a:rPr lang="en-US" sz="3200" dirty="0">
                <a:solidFill>
                  <a:schemeClr val="bg1"/>
                </a:solidFill>
                <a:latin typeface="Calibri" panose="020F0502020204030204" pitchFamily="34" charset="0"/>
              </a:rPr>
              <a:t>Latest version of Reportnet 3.0 </a:t>
            </a:r>
            <a:r>
              <a:rPr lang="en-US" sz="3200" dirty="0" smtClean="0">
                <a:solidFill>
                  <a:schemeClr val="bg1"/>
                </a:solidFill>
                <a:latin typeface="Calibri" panose="020F0502020204030204" pitchFamily="34" charset="0"/>
              </a:rPr>
              <a:t> (part of RC1)</a:t>
            </a:r>
            <a:endParaRPr lang="en-US" sz="3200" dirty="0">
              <a:solidFill>
                <a:schemeClr val="bg1"/>
              </a:solidFill>
              <a:latin typeface="Calibri" panose="020F0502020204030204" pitchFamily="34" charset="0"/>
            </a:endParaRPr>
          </a:p>
        </p:txBody>
      </p:sp>
      <p:grpSp>
        <p:nvGrpSpPr>
          <p:cNvPr id="39" name="Grupo 38"/>
          <p:cNvGrpSpPr/>
          <p:nvPr/>
        </p:nvGrpSpPr>
        <p:grpSpPr>
          <a:xfrm>
            <a:off x="47626" y="2562224"/>
            <a:ext cx="2544462" cy="1686767"/>
            <a:chOff x="47626" y="2562224"/>
            <a:chExt cx="2544462" cy="1686767"/>
          </a:xfrm>
        </p:grpSpPr>
        <p:sp>
          <p:nvSpPr>
            <p:cNvPr id="41" name="Rectángulo 40"/>
            <p:cNvSpPr/>
            <p:nvPr/>
          </p:nvSpPr>
          <p:spPr>
            <a:xfrm>
              <a:off x="47626" y="2886085"/>
              <a:ext cx="2540298" cy="14355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Rectángulo 41"/>
            <p:cNvSpPr/>
            <p:nvPr/>
          </p:nvSpPr>
          <p:spPr>
            <a:xfrm>
              <a:off x="47626" y="3046940"/>
              <a:ext cx="2544462" cy="271787"/>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Rectángulo 48"/>
            <p:cNvSpPr/>
            <p:nvPr/>
          </p:nvSpPr>
          <p:spPr>
            <a:xfrm>
              <a:off x="47626" y="2562224"/>
              <a:ext cx="2544462" cy="171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Rectángulo 49"/>
            <p:cNvSpPr/>
            <p:nvPr/>
          </p:nvSpPr>
          <p:spPr>
            <a:xfrm>
              <a:off x="47627" y="3638560"/>
              <a:ext cx="2540298" cy="14355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Rectángulo 50"/>
            <p:cNvSpPr/>
            <p:nvPr/>
          </p:nvSpPr>
          <p:spPr>
            <a:xfrm>
              <a:off x="47627" y="3793759"/>
              <a:ext cx="2540298" cy="14355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Rectángulo 51"/>
            <p:cNvSpPr/>
            <p:nvPr/>
          </p:nvSpPr>
          <p:spPr>
            <a:xfrm>
              <a:off x="47627" y="4105433"/>
              <a:ext cx="2540298" cy="14355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76" name="Rectángulo 75"/>
          <p:cNvSpPr/>
          <p:nvPr/>
        </p:nvSpPr>
        <p:spPr>
          <a:xfrm>
            <a:off x="5827525" y="2417035"/>
            <a:ext cx="1478135" cy="316630"/>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7" name="Rectángulo 76"/>
          <p:cNvSpPr/>
          <p:nvPr/>
        </p:nvSpPr>
        <p:spPr>
          <a:xfrm>
            <a:off x="1882474" y="5287069"/>
            <a:ext cx="3819429" cy="144000"/>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9" name="Grupo 8"/>
          <p:cNvGrpSpPr/>
          <p:nvPr/>
        </p:nvGrpSpPr>
        <p:grpSpPr>
          <a:xfrm>
            <a:off x="124055" y="2064411"/>
            <a:ext cx="2463869" cy="2967664"/>
            <a:chOff x="124055" y="2064411"/>
            <a:chExt cx="2463869" cy="2967664"/>
          </a:xfrm>
        </p:grpSpPr>
        <p:sp>
          <p:nvSpPr>
            <p:cNvPr id="56" name="Rectángulo 55"/>
            <p:cNvSpPr/>
            <p:nvPr/>
          </p:nvSpPr>
          <p:spPr>
            <a:xfrm>
              <a:off x="124055" y="2064411"/>
              <a:ext cx="2463869" cy="2700000"/>
            </a:xfrm>
            <a:prstGeom prst="rect">
              <a:avLst/>
            </a:prstGeom>
            <a:no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a:solidFill>
                    <a:schemeClr val="tx1"/>
                  </a:solidFill>
                  <a:latin typeface="Calibri" panose="020F0502020204030204" pitchFamily="34" charset="0"/>
                </a:rPr>
                <a:t>Manage Submission Agreements</a:t>
              </a:r>
            </a:p>
            <a:p>
              <a:pPr marL="180975" indent="-180975">
                <a:buFont typeface="+mj-lt"/>
                <a:buAutoNum type="arabicPeriod"/>
              </a:pPr>
              <a:r>
                <a:rPr lang="en-US" sz="1000" dirty="0">
                  <a:solidFill>
                    <a:schemeClr val="tx1"/>
                  </a:solidFill>
                  <a:latin typeface="Calibri" panose="020F0502020204030204" pitchFamily="34" charset="0"/>
                </a:rPr>
                <a:t>ROD3 </a:t>
              </a:r>
              <a:r>
                <a:rPr lang="en-US" sz="1000" dirty="0" smtClean="0">
                  <a:solidFill>
                    <a:schemeClr val="tx1"/>
                  </a:solidFill>
                  <a:latin typeface="Calibri" panose="020F0502020204030204" pitchFamily="34" charset="0"/>
                </a:rPr>
                <a:t>Interface</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smtClean="0">
                  <a:solidFill>
                    <a:schemeClr val="tx1"/>
                  </a:solidFill>
                  <a:latin typeface="Calibri" panose="020F0502020204030204" pitchFamily="34" charset="0"/>
                </a:rPr>
                <a:t>Data </a:t>
              </a:r>
              <a:r>
                <a:rPr lang="en-US" sz="1000" dirty="0">
                  <a:solidFill>
                    <a:schemeClr val="tx1"/>
                  </a:solidFill>
                  <a:latin typeface="Calibri" panose="020F0502020204030204" pitchFamily="34" charset="0"/>
                </a:rPr>
                <a:t>flow Creation &amp; Management</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Create/Manage Data Flows </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Manage-DF-Work-Groups</a:t>
              </a:r>
            </a:p>
            <a:p>
              <a:pPr marL="180975" indent="-180975">
                <a:buFont typeface="+mj-lt"/>
                <a:buAutoNum type="arabicPeriod"/>
              </a:pPr>
              <a:r>
                <a:rPr lang="en-US" sz="1000" dirty="0">
                  <a:solidFill>
                    <a:schemeClr val="tx1"/>
                  </a:solidFill>
                  <a:latin typeface="Calibri" panose="020F0502020204030204" pitchFamily="34" charset="0"/>
                </a:rPr>
                <a:t>DF Data Schema Design</a:t>
              </a:r>
            </a:p>
            <a:p>
              <a:pPr marL="180975" indent="-180975">
                <a:buFont typeface="+mj-lt"/>
                <a:buAutoNum type="arabicPeriod"/>
              </a:pPr>
              <a:r>
                <a:rPr lang="en-US" sz="1000" dirty="0">
                  <a:solidFill>
                    <a:schemeClr val="tx1"/>
                  </a:solidFill>
                  <a:latin typeface="Calibri" panose="020F0502020204030204" pitchFamily="34" charset="0"/>
                </a:rPr>
                <a:t>Design Data Set</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Manage-Tables-Fields-View</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Manage Validations QC-Quality Control</a:t>
              </a:r>
            </a:p>
            <a:p>
              <a:pPr marL="266700" lvl="1" indent="-87313">
                <a:buFont typeface="Arial" panose="020B0604020202020204" pitchFamily="34" charset="0"/>
                <a:buChar char="•"/>
              </a:pPr>
              <a:r>
                <a:rPr lang="en-US" sz="1000" dirty="0" smtClean="0">
                  <a:solidFill>
                    <a:schemeClr val="tx1"/>
                  </a:solidFill>
                  <a:latin typeface="Calibri" panose="020F0502020204030204" pitchFamily="34" charset="0"/>
                </a:rPr>
                <a:t>Manage Events</a:t>
              </a:r>
            </a:p>
            <a:p>
              <a:pPr marL="266700" lvl="1" indent="-87313">
                <a:buFont typeface="Arial" panose="020B0604020202020204" pitchFamily="34" charset="0"/>
                <a:buChar char="•"/>
              </a:pPr>
              <a:r>
                <a:rPr lang="en-US" sz="1000" dirty="0" smtClean="0">
                  <a:solidFill>
                    <a:schemeClr val="tx1"/>
                  </a:solidFill>
                  <a:latin typeface="Calibri" panose="020F0502020204030204" pitchFamily="34" charset="0"/>
                </a:rPr>
                <a:t>Manage Snapshots</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a:solidFill>
                    <a:schemeClr val="tx1"/>
                  </a:solidFill>
                  <a:latin typeface="Calibri" panose="020F0502020204030204" pitchFamily="34" charset="0"/>
                </a:rPr>
                <a:t>Manage-Dashboards/Visualizations</a:t>
              </a:r>
            </a:p>
            <a:p>
              <a:pPr marL="180975" indent="-180975">
                <a:buFont typeface="+mj-lt"/>
                <a:buAutoNum type="arabicPeriod"/>
              </a:pPr>
              <a:r>
                <a:rPr lang="en-US" sz="1000" dirty="0">
                  <a:solidFill>
                    <a:schemeClr val="tx1"/>
                  </a:solidFill>
                  <a:latin typeface="Calibri" panose="020F0502020204030204" pitchFamily="34" charset="0"/>
                </a:rPr>
                <a:t>Testing Design Data Set</a:t>
              </a:r>
            </a:p>
            <a:p>
              <a:pPr marL="180975" indent="-180975">
                <a:buFont typeface="+mj-lt"/>
                <a:buAutoNum type="arabicPeriod"/>
              </a:pPr>
              <a:r>
                <a:rPr lang="en-US" sz="1000" dirty="0">
                  <a:solidFill>
                    <a:schemeClr val="tx1"/>
                  </a:solidFill>
                  <a:latin typeface="Calibri" panose="020F0502020204030204" pitchFamily="34" charset="0"/>
                </a:rPr>
                <a:t>Manage Supporting Documentation</a:t>
              </a:r>
            </a:p>
            <a:p>
              <a:pPr marL="180975" indent="-180975">
                <a:buFont typeface="+mj-lt"/>
                <a:buAutoNum type="arabicPeriod"/>
              </a:pPr>
              <a:r>
                <a:rPr lang="en-US" sz="1000" dirty="0">
                  <a:solidFill>
                    <a:schemeClr val="tx1"/>
                  </a:solidFill>
                  <a:latin typeface="Calibri" panose="020F0502020204030204" pitchFamily="34" charset="0"/>
                </a:rPr>
                <a:t>Auto Generate Supporting </a:t>
              </a:r>
              <a:r>
                <a:rPr lang="en-US" sz="1000" dirty="0" smtClean="0">
                  <a:solidFill>
                    <a:schemeClr val="tx1"/>
                  </a:solidFill>
                  <a:latin typeface="Calibri" panose="020F0502020204030204" pitchFamily="34" charset="0"/>
                </a:rPr>
                <a:t>Documentation</a:t>
              </a:r>
              <a:endParaRPr lang="en-US" sz="1000" dirty="0">
                <a:solidFill>
                  <a:schemeClr val="tx1"/>
                </a:solidFill>
                <a:latin typeface="Calibri" panose="020F0502020204030204" pitchFamily="34" charset="0"/>
              </a:endParaRPr>
            </a:p>
          </p:txBody>
        </p:sp>
        <p:sp>
          <p:nvSpPr>
            <p:cNvPr id="57" name="Recortar y redondear rectángulo de esquina sencilla 56"/>
            <p:cNvSpPr>
              <a:spLocks noChangeAspect="1"/>
            </p:cNvSpPr>
            <p:nvPr/>
          </p:nvSpPr>
          <p:spPr>
            <a:xfrm>
              <a:off x="175164" y="4638411"/>
              <a:ext cx="516247" cy="252000"/>
            </a:xfrm>
            <a:prstGeom prst="snipRound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s-ES" sz="1200" b="1" dirty="0">
                  <a:solidFill>
                    <a:schemeClr val="bg1"/>
                  </a:solidFill>
                  <a:latin typeface="Calibri" panose="020F0502020204030204" pitchFamily="34" charset="0"/>
                </a:rPr>
                <a:t>Roles</a:t>
              </a:r>
            </a:p>
          </p:txBody>
        </p:sp>
        <p:sp>
          <p:nvSpPr>
            <p:cNvPr id="58" name="Rectángulo 57"/>
            <p:cNvSpPr>
              <a:spLocks noChangeAspect="1"/>
            </p:cNvSpPr>
            <p:nvPr/>
          </p:nvSpPr>
          <p:spPr>
            <a:xfrm>
              <a:off x="737420" y="4638411"/>
              <a:ext cx="1792995" cy="393664"/>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GB" sz="1000" i="1" dirty="0">
                  <a:solidFill>
                    <a:schemeClr val="bg1"/>
                  </a:solidFill>
                  <a:latin typeface="Calibri" panose="020F0502020204030204" pitchFamily="34" charset="0"/>
                </a:rPr>
                <a:t>Steward</a:t>
              </a:r>
              <a:r>
                <a:rPr lang="es-ES" sz="1000" i="1" dirty="0">
                  <a:solidFill>
                    <a:schemeClr val="bg1"/>
                  </a:solidFill>
                  <a:latin typeface="Calibri" panose="020F0502020204030204" pitchFamily="34" charset="0"/>
                </a:rPr>
                <a:t>; Custodian; </a:t>
              </a:r>
              <a:r>
                <a:rPr lang="en-GB" sz="1000" i="1" dirty="0">
                  <a:solidFill>
                    <a:schemeClr val="bg1"/>
                  </a:solidFill>
                  <a:latin typeface="Calibri" panose="020F0502020204030204" pitchFamily="34" charset="0"/>
                </a:rPr>
                <a:t>Requester</a:t>
              </a:r>
              <a:r>
                <a:rPr lang="es-ES" sz="1000" i="1" dirty="0">
                  <a:solidFill>
                    <a:schemeClr val="bg1"/>
                  </a:solidFill>
                  <a:latin typeface="Calibri" panose="020F0502020204030204" pitchFamily="34" charset="0"/>
                </a:rPr>
                <a:t>; </a:t>
              </a:r>
              <a:r>
                <a:rPr lang="en-GB" sz="1000" i="1" dirty="0">
                  <a:solidFill>
                    <a:schemeClr val="bg1"/>
                  </a:solidFill>
                  <a:latin typeface="Calibri" panose="020F0502020204030204" pitchFamily="34" charset="0"/>
                </a:rPr>
                <a:t>DDS Contributor</a:t>
              </a:r>
            </a:p>
          </p:txBody>
        </p:sp>
      </p:grpSp>
      <p:grpSp>
        <p:nvGrpSpPr>
          <p:cNvPr id="62" name="Grupo 61"/>
          <p:cNvGrpSpPr/>
          <p:nvPr/>
        </p:nvGrpSpPr>
        <p:grpSpPr>
          <a:xfrm>
            <a:off x="5851260" y="2064411"/>
            <a:ext cx="1454400" cy="2960916"/>
            <a:chOff x="5851260" y="2064411"/>
            <a:chExt cx="1454400" cy="2960916"/>
          </a:xfrm>
        </p:grpSpPr>
        <p:sp>
          <p:nvSpPr>
            <p:cNvPr id="63" name="Rectángulo 62"/>
            <p:cNvSpPr/>
            <p:nvPr/>
          </p:nvSpPr>
          <p:spPr>
            <a:xfrm>
              <a:off x="5851260" y="2064411"/>
              <a:ext cx="1454400" cy="2700000"/>
            </a:xfrm>
            <a:prstGeom prst="rect">
              <a:avLst/>
            </a:prstGeom>
            <a:no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smtClean="0">
                  <a:solidFill>
                    <a:schemeClr val="tx1"/>
                  </a:solidFill>
                  <a:latin typeface="Calibri" panose="020F0502020204030204" pitchFamily="34" charset="0"/>
                </a:rPr>
                <a:t>Access </a:t>
              </a:r>
              <a:r>
                <a:rPr lang="en-US" sz="1000" dirty="0">
                  <a:solidFill>
                    <a:schemeClr val="tx1"/>
                  </a:solidFill>
                  <a:latin typeface="Calibri" panose="020F0502020204030204" pitchFamily="34" charset="0"/>
                </a:rPr>
                <a:t>Platform &amp; Profile Management</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User Login and Access to Reportnet</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Manage Access Rights and Use Roles</a:t>
              </a:r>
            </a:p>
            <a:p>
              <a:pPr marL="180975" indent="-180975">
                <a:buFont typeface="+mj-lt"/>
                <a:buAutoNum type="arabicPeriod"/>
              </a:pPr>
              <a:r>
                <a:rPr lang="en-US" sz="1000" dirty="0" smtClean="0">
                  <a:solidFill>
                    <a:schemeClr val="tx1"/>
                  </a:solidFill>
                  <a:latin typeface="Calibri" panose="020F0502020204030204" pitchFamily="34" charset="0"/>
                </a:rPr>
                <a:t>Data Flow Access Request </a:t>
              </a:r>
              <a:r>
                <a:rPr lang="en-US" sz="1000" dirty="0">
                  <a:solidFill>
                    <a:schemeClr val="tx1"/>
                  </a:solidFill>
                  <a:latin typeface="Calibri" panose="020F0502020204030204" pitchFamily="34" charset="0"/>
                </a:rPr>
                <a:t>Access to Data </a:t>
              </a:r>
              <a:r>
                <a:rPr lang="en-US" sz="1000" dirty="0" smtClean="0">
                  <a:solidFill>
                    <a:schemeClr val="tx1"/>
                  </a:solidFill>
                  <a:latin typeface="Calibri" panose="020F0502020204030204" pitchFamily="34" charset="0"/>
                </a:rPr>
                <a:t>Flow</a:t>
              </a:r>
              <a:endParaRPr lang="en-US" sz="1000" dirty="0">
                <a:solidFill>
                  <a:schemeClr val="tx1"/>
                </a:solidFill>
                <a:latin typeface="Calibri" panose="020F0502020204030204" pitchFamily="34" charset="0"/>
              </a:endParaRPr>
            </a:p>
          </p:txBody>
        </p:sp>
        <p:sp>
          <p:nvSpPr>
            <p:cNvPr id="64" name="Rectángulo 63"/>
            <p:cNvSpPr>
              <a:spLocks noChangeAspect="1"/>
            </p:cNvSpPr>
            <p:nvPr/>
          </p:nvSpPr>
          <p:spPr>
            <a:xfrm>
              <a:off x="5912080" y="4631663"/>
              <a:ext cx="1332547" cy="393664"/>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GB" sz="1000" i="1" dirty="0" smtClean="0">
                  <a:solidFill>
                    <a:schemeClr val="bg1"/>
                  </a:solidFill>
                  <a:latin typeface="Calibri" panose="020F0502020204030204" pitchFamily="34" charset="0"/>
                </a:rPr>
                <a:t>System Admin, </a:t>
              </a:r>
              <a:r>
                <a:rPr lang="en-GB" sz="1000" i="1" dirty="0">
                  <a:solidFill>
                    <a:schemeClr val="bg1"/>
                  </a:solidFill>
                  <a:latin typeface="Calibri" panose="020F0502020204030204" pitchFamily="34" charset="0"/>
                </a:rPr>
                <a:t>R</a:t>
              </a:r>
              <a:r>
                <a:rPr lang="en-GB" sz="1000" i="1" dirty="0" smtClean="0">
                  <a:solidFill>
                    <a:schemeClr val="bg1"/>
                  </a:solidFill>
                  <a:latin typeface="Calibri" panose="020F0502020204030204" pitchFamily="34" charset="0"/>
                </a:rPr>
                <a:t>egistered Users</a:t>
              </a:r>
              <a:endParaRPr lang="en-GB" sz="1000" i="1" dirty="0">
                <a:solidFill>
                  <a:schemeClr val="bg1"/>
                </a:solidFill>
                <a:latin typeface="Calibri" panose="020F0502020204030204" pitchFamily="34" charset="0"/>
              </a:endParaRPr>
            </a:p>
          </p:txBody>
        </p:sp>
      </p:grpSp>
      <p:sp>
        <p:nvSpPr>
          <p:cNvPr id="30" name="Rectángulo 29"/>
          <p:cNvSpPr/>
          <p:nvPr/>
        </p:nvSpPr>
        <p:spPr>
          <a:xfrm>
            <a:off x="1894349" y="5244206"/>
            <a:ext cx="3819429" cy="1008000"/>
          </a:xfrm>
          <a:prstGeom prst="rect">
            <a:avLst/>
          </a:prstGeom>
          <a:no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a:solidFill>
                  <a:schemeClr val="tx1"/>
                </a:solidFill>
                <a:latin typeface="Calibri" panose="020F0502020204030204" pitchFamily="34" charset="0"/>
              </a:rPr>
              <a:t>Supported File Types (Import/Export)</a:t>
            </a:r>
          </a:p>
          <a:p>
            <a:pPr marL="180975" indent="-180975">
              <a:buFont typeface="+mj-lt"/>
              <a:buAutoNum type="arabicPeriod"/>
            </a:pPr>
            <a:r>
              <a:rPr lang="en-US" sz="1000" dirty="0">
                <a:solidFill>
                  <a:schemeClr val="tx1"/>
                </a:solidFill>
                <a:latin typeface="Calibri" panose="020F0502020204030204" pitchFamily="34" charset="0"/>
              </a:rPr>
              <a:t>Multilanguage UI &amp; Supporting Documentation</a:t>
            </a:r>
          </a:p>
          <a:p>
            <a:pPr marL="180975" indent="-180975">
              <a:buFont typeface="+mj-lt"/>
              <a:buAutoNum type="arabicPeriod"/>
            </a:pPr>
            <a:r>
              <a:rPr lang="en-US" sz="1000" dirty="0">
                <a:solidFill>
                  <a:schemeClr val="tx1"/>
                </a:solidFill>
                <a:latin typeface="Calibri" panose="020F0502020204030204" pitchFamily="34" charset="0"/>
              </a:rPr>
              <a:t>Search Functionality</a:t>
            </a:r>
          </a:p>
          <a:p>
            <a:pPr marL="180975" indent="-180975">
              <a:buFont typeface="+mj-lt"/>
              <a:buAutoNum type="arabicPeriod"/>
            </a:pPr>
            <a:r>
              <a:rPr lang="en-US" sz="1000" dirty="0">
                <a:solidFill>
                  <a:schemeClr val="tx1"/>
                </a:solidFill>
                <a:latin typeface="Calibri" panose="020F0502020204030204" pitchFamily="34" charset="0"/>
              </a:rPr>
              <a:t>Notification System Simple / Automatic / Advanced / Channels</a:t>
            </a:r>
          </a:p>
          <a:p>
            <a:pPr marL="180975" indent="-180975">
              <a:buFont typeface="+mj-lt"/>
              <a:buAutoNum type="arabicPeriod"/>
            </a:pPr>
            <a:r>
              <a:rPr lang="en-US" sz="1000" dirty="0" smtClean="0">
                <a:solidFill>
                  <a:schemeClr val="tx1"/>
                </a:solidFill>
                <a:latin typeface="Calibri" panose="020F0502020204030204" pitchFamily="34" charset="0"/>
              </a:rPr>
              <a:t>Dashboards</a:t>
            </a:r>
            <a:r>
              <a:rPr lang="en-US" sz="1000" dirty="0">
                <a:solidFill>
                  <a:schemeClr val="tx1"/>
                </a:solidFill>
                <a:latin typeface="Calibri" panose="020F0502020204030204" pitchFamily="34" charset="0"/>
              </a:rPr>
              <a:t>: Automatic / Manual / Lists</a:t>
            </a:r>
          </a:p>
          <a:p>
            <a:pPr marL="180975" indent="-180975">
              <a:buFont typeface="+mj-lt"/>
              <a:buAutoNum type="arabicPeriod"/>
            </a:pPr>
            <a:r>
              <a:rPr lang="en-US" sz="1000" dirty="0">
                <a:solidFill>
                  <a:schemeClr val="tx1"/>
                </a:solidFill>
                <a:latin typeface="Calibri" panose="020F0502020204030204" pitchFamily="34" charset="0"/>
              </a:rPr>
              <a:t>Manage User Preferences</a:t>
            </a:r>
          </a:p>
        </p:txBody>
      </p:sp>
      <p:grpSp>
        <p:nvGrpSpPr>
          <p:cNvPr id="13" name="Grupo 12"/>
          <p:cNvGrpSpPr/>
          <p:nvPr/>
        </p:nvGrpSpPr>
        <p:grpSpPr>
          <a:xfrm>
            <a:off x="5851260" y="2064411"/>
            <a:ext cx="6185557" cy="4187795"/>
            <a:chOff x="5851260" y="2064411"/>
            <a:chExt cx="6185557" cy="4187795"/>
          </a:xfrm>
        </p:grpSpPr>
        <p:grpSp>
          <p:nvGrpSpPr>
            <p:cNvPr id="12" name="Grupo 11"/>
            <p:cNvGrpSpPr/>
            <p:nvPr/>
          </p:nvGrpSpPr>
          <p:grpSpPr>
            <a:xfrm>
              <a:off x="7418716" y="2064411"/>
              <a:ext cx="4618101" cy="2960916"/>
              <a:chOff x="7418716" y="2064411"/>
              <a:chExt cx="4618101" cy="2960916"/>
            </a:xfrm>
          </p:grpSpPr>
          <p:grpSp>
            <p:nvGrpSpPr>
              <p:cNvPr id="65" name="Grupo 64"/>
              <p:cNvGrpSpPr/>
              <p:nvPr/>
            </p:nvGrpSpPr>
            <p:grpSpPr>
              <a:xfrm>
                <a:off x="7418716" y="2064411"/>
                <a:ext cx="1468814" cy="2960916"/>
                <a:chOff x="7418716" y="2064411"/>
                <a:chExt cx="1468814" cy="2960916"/>
              </a:xfrm>
            </p:grpSpPr>
            <p:sp>
              <p:nvSpPr>
                <p:cNvPr id="66" name="Rectángulo 65"/>
                <p:cNvSpPr/>
                <p:nvPr/>
              </p:nvSpPr>
              <p:spPr>
                <a:xfrm>
                  <a:off x="7418716" y="2064411"/>
                  <a:ext cx="1468814" cy="2700000"/>
                </a:xfrm>
                <a:prstGeom prst="rect">
                  <a:avLst/>
                </a:prstGeom>
                <a:solidFill>
                  <a:schemeClr val="bg1"/>
                </a:solid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a:solidFill>
                        <a:srgbClr val="000000"/>
                      </a:solidFill>
                      <a:latin typeface="Calibri" panose="020F0502020204030204" pitchFamily="34" charset="0"/>
                    </a:rPr>
                    <a:t>Monitor reporting quality</a:t>
                  </a:r>
                </a:p>
                <a:p>
                  <a:pPr marL="180975" indent="-180975">
                    <a:buFont typeface="+mj-lt"/>
                    <a:buAutoNum type="arabicPeriod"/>
                  </a:pPr>
                  <a:r>
                    <a:rPr lang="en-US" sz="1000" dirty="0">
                      <a:solidFill>
                        <a:srgbClr val="000000"/>
                      </a:solidFill>
                      <a:latin typeface="Calibri" panose="020F0502020204030204" pitchFamily="34" charset="0"/>
                    </a:rPr>
                    <a:t>Verify or Reject RDS Released to DC</a:t>
                  </a:r>
                </a:p>
                <a:p>
                  <a:pPr marL="180975" indent="-180975">
                    <a:buFont typeface="+mj-lt"/>
                    <a:buAutoNum type="arabicPeriod"/>
                  </a:pPr>
                  <a:r>
                    <a:rPr lang="en-US" sz="1000" dirty="0">
                      <a:solidFill>
                        <a:srgbClr val="000000"/>
                      </a:solidFill>
                      <a:latin typeface="Calibri" panose="020F0502020204030204" pitchFamily="34" charset="0"/>
                    </a:rPr>
                    <a:t>Reporting Data Set Feedback</a:t>
                  </a:r>
                </a:p>
              </p:txBody>
            </p:sp>
            <p:sp>
              <p:nvSpPr>
                <p:cNvPr id="67" name="Rectángulo 66"/>
                <p:cNvSpPr>
                  <a:spLocks noChangeAspect="1"/>
                </p:cNvSpPr>
                <p:nvPr/>
              </p:nvSpPr>
              <p:spPr>
                <a:xfrm>
                  <a:off x="7486849" y="4631663"/>
                  <a:ext cx="1332547" cy="393664"/>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GB" sz="1000" i="1" dirty="0" smtClean="0">
                      <a:solidFill>
                        <a:schemeClr val="bg1"/>
                      </a:solidFill>
                      <a:latin typeface="Calibri" panose="020F0502020204030204" pitchFamily="34" charset="0"/>
                    </a:rPr>
                    <a:t>Custodian, Requester</a:t>
                  </a:r>
                  <a:endParaRPr lang="en-GB" sz="1000" i="1" dirty="0">
                    <a:solidFill>
                      <a:schemeClr val="bg1"/>
                    </a:solidFill>
                    <a:latin typeface="Calibri" panose="020F0502020204030204" pitchFamily="34" charset="0"/>
                  </a:endParaRPr>
                </a:p>
              </p:txBody>
            </p:sp>
          </p:grpSp>
          <p:grpSp>
            <p:nvGrpSpPr>
              <p:cNvPr id="68" name="Grupo 67"/>
              <p:cNvGrpSpPr/>
              <p:nvPr/>
            </p:nvGrpSpPr>
            <p:grpSpPr>
              <a:xfrm>
                <a:off x="8993360" y="2064411"/>
                <a:ext cx="1468814" cy="2960916"/>
                <a:chOff x="8993360" y="2064411"/>
                <a:chExt cx="1468814" cy="2960916"/>
              </a:xfrm>
            </p:grpSpPr>
            <p:sp>
              <p:nvSpPr>
                <p:cNvPr id="69" name="Rectángulo 68"/>
                <p:cNvSpPr/>
                <p:nvPr/>
              </p:nvSpPr>
              <p:spPr>
                <a:xfrm>
                  <a:off x="8993360" y="2064411"/>
                  <a:ext cx="1468814" cy="2700000"/>
                </a:xfrm>
                <a:prstGeom prst="rect">
                  <a:avLst/>
                </a:prstGeom>
                <a:solidFill>
                  <a:schemeClr val="bg1"/>
                </a:solid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a:solidFill>
                        <a:srgbClr val="000000"/>
                      </a:solidFill>
                      <a:latin typeface="Calibri" panose="020F0502020204030204" pitchFamily="34" charset="0"/>
                    </a:rPr>
                    <a:t>Create Manage EU Data Set for Data Collection</a:t>
                  </a:r>
                </a:p>
                <a:p>
                  <a:pPr marL="180975" indent="-180975">
                    <a:buFont typeface="+mj-lt"/>
                    <a:buAutoNum type="arabicPeriod"/>
                  </a:pPr>
                  <a:r>
                    <a:rPr lang="en-US" sz="1000" dirty="0">
                      <a:solidFill>
                        <a:srgbClr val="000000"/>
                      </a:solidFill>
                      <a:latin typeface="Calibri" panose="020F0502020204030204" pitchFamily="34" charset="0"/>
                    </a:rPr>
                    <a:t>Access-View Data Collections and EU Data Sets</a:t>
                  </a:r>
                </a:p>
                <a:p>
                  <a:pPr marL="180975" indent="-180975">
                    <a:buFont typeface="+mj-lt"/>
                    <a:buAutoNum type="arabicPeriod"/>
                  </a:pPr>
                  <a:r>
                    <a:rPr lang="en-US" sz="1000" dirty="0">
                      <a:solidFill>
                        <a:srgbClr val="000000"/>
                      </a:solidFill>
                      <a:latin typeface="Calibri" panose="020F0502020204030204" pitchFamily="34" charset="0"/>
                    </a:rPr>
                    <a:t>Access Publicly Available Data Collections and EU Data Sets</a:t>
                  </a:r>
                </a:p>
                <a:p>
                  <a:pPr marL="180975" indent="-180975">
                    <a:buFont typeface="+mj-lt"/>
                    <a:buAutoNum type="arabicPeriod"/>
                  </a:pPr>
                  <a:r>
                    <a:rPr lang="en-US" sz="1000" dirty="0">
                      <a:solidFill>
                        <a:srgbClr val="000000"/>
                      </a:solidFill>
                      <a:latin typeface="Calibri" panose="020F0502020204030204" pitchFamily="34" charset="0"/>
                    </a:rPr>
                    <a:t>Dashboards and Visualizations for Data Collections and EU Data Sets</a:t>
                  </a:r>
                </a:p>
              </p:txBody>
            </p:sp>
            <p:sp>
              <p:nvSpPr>
                <p:cNvPr id="70" name="Rectángulo 69"/>
                <p:cNvSpPr>
                  <a:spLocks noChangeAspect="1"/>
                </p:cNvSpPr>
                <p:nvPr/>
              </p:nvSpPr>
              <p:spPr>
                <a:xfrm>
                  <a:off x="9053428" y="4631663"/>
                  <a:ext cx="1332547" cy="393664"/>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GB" sz="1000" i="1" dirty="0" smtClean="0">
                      <a:solidFill>
                        <a:schemeClr val="bg1"/>
                      </a:solidFill>
                      <a:latin typeface="Calibri" panose="020F0502020204030204" pitchFamily="34" charset="0"/>
                    </a:rPr>
                    <a:t>Custodian, Registered Users</a:t>
                  </a:r>
                  <a:endParaRPr lang="en-GB" sz="1000" i="1" dirty="0">
                    <a:solidFill>
                      <a:schemeClr val="bg1"/>
                    </a:solidFill>
                    <a:latin typeface="Calibri" panose="020F0502020204030204" pitchFamily="34" charset="0"/>
                  </a:endParaRPr>
                </a:p>
              </p:txBody>
            </p:sp>
          </p:grpSp>
          <p:grpSp>
            <p:nvGrpSpPr>
              <p:cNvPr id="71" name="Grupo 70"/>
              <p:cNvGrpSpPr/>
              <p:nvPr/>
            </p:nvGrpSpPr>
            <p:grpSpPr>
              <a:xfrm>
                <a:off x="10568003" y="2064411"/>
                <a:ext cx="1468814" cy="2960916"/>
                <a:chOff x="10568003" y="2064411"/>
                <a:chExt cx="1468814" cy="2960916"/>
              </a:xfrm>
            </p:grpSpPr>
            <p:sp>
              <p:nvSpPr>
                <p:cNvPr id="72" name="Rectángulo 71"/>
                <p:cNvSpPr/>
                <p:nvPr/>
              </p:nvSpPr>
              <p:spPr>
                <a:xfrm>
                  <a:off x="10568003" y="2064411"/>
                  <a:ext cx="1468814" cy="2700000"/>
                </a:xfrm>
                <a:prstGeom prst="rect">
                  <a:avLst/>
                </a:prstGeom>
                <a:solidFill>
                  <a:schemeClr val="bg1"/>
                </a:solid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a:solidFill>
                        <a:srgbClr val="000000"/>
                      </a:solidFill>
                      <a:latin typeface="Calibri" panose="020F0502020204030204" pitchFamily="34" charset="0"/>
                    </a:rPr>
                    <a:t>Provide Access to Final EU Data Sets</a:t>
                  </a:r>
                </a:p>
                <a:p>
                  <a:pPr marL="180975" indent="-180975">
                    <a:buFont typeface="+mj-lt"/>
                    <a:buAutoNum type="arabicPeriod"/>
                  </a:pPr>
                  <a:r>
                    <a:rPr lang="en-US" sz="1000" dirty="0">
                      <a:solidFill>
                        <a:srgbClr val="000000"/>
                      </a:solidFill>
                      <a:latin typeface="Calibri" panose="020F0502020204030204" pitchFamily="34" charset="0"/>
                    </a:rPr>
                    <a:t>Formats-EU Data Sets</a:t>
                  </a:r>
                </a:p>
                <a:p>
                  <a:pPr marL="180975" indent="-180975">
                    <a:buFont typeface="+mj-lt"/>
                    <a:buAutoNum type="arabicPeriod"/>
                  </a:pPr>
                  <a:r>
                    <a:rPr lang="en-US" sz="1000" dirty="0">
                      <a:solidFill>
                        <a:srgbClr val="000000"/>
                      </a:solidFill>
                      <a:latin typeface="Calibri" panose="020F0502020204030204" pitchFamily="34" charset="0"/>
                    </a:rPr>
                    <a:t>Visualizations EU Data Sets</a:t>
                  </a:r>
                </a:p>
                <a:p>
                  <a:pPr marL="180975" indent="-180975">
                    <a:buFont typeface="+mj-lt"/>
                    <a:buAutoNum type="arabicPeriod"/>
                  </a:pPr>
                  <a:r>
                    <a:rPr lang="en-US" sz="1000" dirty="0">
                      <a:solidFill>
                        <a:srgbClr val="000000"/>
                      </a:solidFill>
                      <a:latin typeface="Calibri" panose="020F0502020204030204" pitchFamily="34" charset="0"/>
                    </a:rPr>
                    <a:t>Additional Products EU Data Sets</a:t>
                  </a:r>
                </a:p>
                <a:p>
                  <a:pPr marL="180975" indent="-180975">
                    <a:buFont typeface="+mj-lt"/>
                    <a:buAutoNum type="arabicPeriod"/>
                  </a:pPr>
                  <a:r>
                    <a:rPr lang="en-US" sz="1000" dirty="0">
                      <a:solidFill>
                        <a:srgbClr val="000000"/>
                      </a:solidFill>
                      <a:latin typeface="Calibri" panose="020F0502020204030204" pitchFamily="34" charset="0"/>
                    </a:rPr>
                    <a:t>Active Dissemination Final EU Data Sets</a:t>
                  </a:r>
                </a:p>
                <a:p>
                  <a:pPr marL="180975" indent="-180975">
                    <a:buFont typeface="+mj-lt"/>
                    <a:buAutoNum type="arabicPeriod"/>
                  </a:pPr>
                  <a:r>
                    <a:rPr lang="en-US" sz="1000" dirty="0">
                      <a:solidFill>
                        <a:srgbClr val="000000"/>
                      </a:solidFill>
                      <a:latin typeface="Calibri" panose="020F0502020204030204" pitchFamily="34" charset="0"/>
                    </a:rPr>
                    <a:t>Monitor Final EU Data Sets Use</a:t>
                  </a:r>
                </a:p>
              </p:txBody>
            </p:sp>
            <p:sp>
              <p:nvSpPr>
                <p:cNvPr id="73" name="Rectángulo 72"/>
                <p:cNvSpPr>
                  <a:spLocks noChangeAspect="1"/>
                </p:cNvSpPr>
                <p:nvPr/>
              </p:nvSpPr>
              <p:spPr>
                <a:xfrm>
                  <a:off x="10636136" y="4631663"/>
                  <a:ext cx="1332547" cy="393664"/>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GB" sz="1000" i="1" dirty="0" smtClean="0">
                      <a:solidFill>
                        <a:schemeClr val="bg1"/>
                      </a:solidFill>
                      <a:latin typeface="Calibri" panose="020F0502020204030204" pitchFamily="34" charset="0"/>
                    </a:rPr>
                    <a:t>Custodian</a:t>
                  </a:r>
                  <a:endParaRPr lang="en-GB" sz="1000" i="1" dirty="0">
                    <a:solidFill>
                      <a:schemeClr val="bg1"/>
                    </a:solidFill>
                    <a:latin typeface="Calibri" panose="020F0502020204030204" pitchFamily="34" charset="0"/>
                  </a:endParaRPr>
                </a:p>
              </p:txBody>
            </p:sp>
          </p:grpSp>
        </p:grpSp>
        <p:grpSp>
          <p:nvGrpSpPr>
            <p:cNvPr id="7" name="Grupo 6"/>
            <p:cNvGrpSpPr/>
            <p:nvPr/>
          </p:nvGrpSpPr>
          <p:grpSpPr>
            <a:xfrm>
              <a:off x="5851260" y="5244206"/>
              <a:ext cx="4659606" cy="1008000"/>
              <a:chOff x="5851260" y="5244206"/>
              <a:chExt cx="4659606" cy="1008000"/>
            </a:xfrm>
          </p:grpSpPr>
          <p:sp>
            <p:nvSpPr>
              <p:cNvPr id="35" name="Rectángulo 34"/>
              <p:cNvSpPr/>
              <p:nvPr/>
            </p:nvSpPr>
            <p:spPr>
              <a:xfrm>
                <a:off x="5851260" y="5244206"/>
                <a:ext cx="1687133" cy="1008000"/>
              </a:xfrm>
              <a:prstGeom prst="rect">
                <a:avLst/>
              </a:prstGeom>
              <a:solidFill>
                <a:schemeClr val="accent1">
                  <a:lumMod val="20000"/>
                  <a:lumOff val="8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GB" sz="1600" dirty="0">
                    <a:solidFill>
                      <a:schemeClr val="accent1">
                        <a:lumMod val="50000"/>
                      </a:schemeClr>
                    </a:solidFill>
                    <a:latin typeface="Calibri" panose="020F0502020204030204" pitchFamily="34" charset="0"/>
                  </a:rPr>
                  <a:t>Data Harvesting</a:t>
                </a:r>
              </a:p>
            </p:txBody>
          </p:sp>
          <p:sp>
            <p:nvSpPr>
              <p:cNvPr id="31" name="Rectángulo 30"/>
              <p:cNvSpPr/>
              <p:nvPr/>
            </p:nvSpPr>
            <p:spPr>
              <a:xfrm>
                <a:off x="7630613" y="5244206"/>
                <a:ext cx="2880253" cy="1008000"/>
              </a:xfrm>
              <a:prstGeom prst="rect">
                <a:avLst/>
              </a:prstGeom>
              <a:solidFill>
                <a:schemeClr val="bg1"/>
              </a:solid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smtClean="0">
                    <a:solidFill>
                      <a:srgbClr val="000000"/>
                    </a:solidFill>
                    <a:latin typeface="Calibri" panose="020F0502020204030204" pitchFamily="34" charset="0"/>
                  </a:rPr>
                  <a:t>Data </a:t>
                </a:r>
                <a:r>
                  <a:rPr lang="en-US" sz="1000" dirty="0">
                    <a:solidFill>
                      <a:srgbClr val="000000"/>
                    </a:solidFill>
                    <a:latin typeface="Calibri" panose="020F0502020204030204" pitchFamily="34" charset="0"/>
                  </a:rPr>
                  <a:t>Harvesting Tool</a:t>
                </a:r>
              </a:p>
              <a:p>
                <a:pPr marL="180975" indent="-180975">
                  <a:buFont typeface="+mj-lt"/>
                  <a:buAutoNum type="arabicPeriod"/>
                </a:pPr>
                <a:r>
                  <a:rPr lang="en-US" sz="1000" dirty="0" smtClean="0">
                    <a:solidFill>
                      <a:srgbClr val="000000"/>
                    </a:solidFill>
                    <a:latin typeface="Calibri" panose="020F0502020204030204" pitchFamily="34" charset="0"/>
                  </a:rPr>
                  <a:t>System </a:t>
                </a:r>
                <a:r>
                  <a:rPr lang="en-US" sz="1000" dirty="0">
                    <a:solidFill>
                      <a:srgbClr val="000000"/>
                    </a:solidFill>
                    <a:latin typeface="Calibri" panose="020F0502020204030204" pitchFamily="34" charset="0"/>
                  </a:rPr>
                  <a:t>Administration Harvesting Processes</a:t>
                </a:r>
              </a:p>
            </p:txBody>
          </p:sp>
        </p:grpSp>
      </p:grpSp>
      <p:sp>
        <p:nvSpPr>
          <p:cNvPr id="80" name="Paralelogramo 79"/>
          <p:cNvSpPr/>
          <p:nvPr/>
        </p:nvSpPr>
        <p:spPr>
          <a:xfrm>
            <a:off x="371560" y="66260"/>
            <a:ext cx="2650609"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US" sz="1600" b="1" dirty="0">
                <a:solidFill>
                  <a:srgbClr val="016357"/>
                </a:solidFill>
                <a:latin typeface="Calibri" panose="020F0502020204030204" pitchFamily="34" charset="0"/>
                <a:cs typeface="Calibri" panose="020F0502020204030204" pitchFamily="34" charset="0"/>
              </a:rPr>
              <a:t>Focus </a:t>
            </a:r>
            <a:r>
              <a:rPr lang="en-US" sz="1600" b="1" dirty="0" smtClean="0">
                <a:solidFill>
                  <a:srgbClr val="016357"/>
                </a:solidFill>
                <a:latin typeface="Calibri" panose="020F0502020204030204" pitchFamily="34" charset="0"/>
                <a:cs typeface="Calibri" panose="020F0502020204030204" pitchFamily="34" charset="0"/>
              </a:rPr>
              <a:t>Areas </a:t>
            </a:r>
            <a:r>
              <a:rPr lang="en-US" sz="1600" b="1" dirty="0">
                <a:solidFill>
                  <a:srgbClr val="016357"/>
                </a:solidFill>
                <a:latin typeface="Calibri" panose="020F0502020204030204" pitchFamily="34" charset="0"/>
                <a:cs typeface="Calibri" panose="020F0502020204030204" pitchFamily="34" charset="0"/>
              </a:rPr>
              <a:t>Since last </a:t>
            </a:r>
            <a:r>
              <a:rPr lang="en-US" sz="1600" b="1" dirty="0" smtClean="0">
                <a:solidFill>
                  <a:srgbClr val="016357"/>
                </a:solidFill>
                <a:latin typeface="Calibri" panose="020F0502020204030204" pitchFamily="34" charset="0"/>
                <a:cs typeface="Calibri" panose="020F0502020204030204" pitchFamily="34" charset="0"/>
              </a:rPr>
              <a:t>STEERCO</a:t>
            </a:r>
            <a:endParaRPr lang="en-US" sz="1600" b="1" dirty="0">
              <a:solidFill>
                <a:srgbClr val="016357"/>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9799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3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1000"/>
                                        <p:tgtEl>
                                          <p:spTgt spid="30"/>
                                        </p:tgtEl>
                                      </p:cBhvr>
                                    </p:animEffect>
                                    <p:anim calcmode="lin" valueType="num">
                                      <p:cBhvr>
                                        <p:cTn id="20" dur="1000" fill="hold"/>
                                        <p:tgtEl>
                                          <p:spTgt spid="30"/>
                                        </p:tgtEl>
                                        <p:attrNameLst>
                                          <p:attrName>ppt_x</p:attrName>
                                        </p:attrNameLst>
                                      </p:cBhvr>
                                      <p:tavLst>
                                        <p:tav tm="0">
                                          <p:val>
                                            <p:strVal val="#ppt_x"/>
                                          </p:val>
                                        </p:tav>
                                        <p:tav tm="100000">
                                          <p:val>
                                            <p:strVal val="#ppt_x"/>
                                          </p:val>
                                        </p:tav>
                                      </p:tavLst>
                                    </p:anim>
                                    <p:anim calcmode="lin" valueType="num">
                                      <p:cBhvr>
                                        <p:cTn id="2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77"/>
                                        </p:tgtEl>
                                        <p:attrNameLst>
                                          <p:attrName>style.visibility</p:attrName>
                                        </p:attrNameLst>
                                      </p:cBhvr>
                                      <p:to>
                                        <p:strVal val="visible"/>
                                      </p:to>
                                    </p:set>
                                    <p:animEffect transition="in" filter="barn(inVertical)">
                                      <p:cBhvr>
                                        <p:cTn id="26" dur="3000"/>
                                        <p:tgtEl>
                                          <p:spTgt spid="7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2"/>
                                        </p:tgtEl>
                                        <p:attrNameLst>
                                          <p:attrName>style.visibility</p:attrName>
                                        </p:attrNameLst>
                                      </p:cBhvr>
                                      <p:to>
                                        <p:strVal val="visible"/>
                                      </p:to>
                                    </p:set>
                                    <p:animEffect transition="in" filter="fade">
                                      <p:cBhvr>
                                        <p:cTn id="31" dur="1000"/>
                                        <p:tgtEl>
                                          <p:spTgt spid="62"/>
                                        </p:tgtEl>
                                      </p:cBhvr>
                                    </p:animEffect>
                                    <p:anim calcmode="lin" valueType="num">
                                      <p:cBhvr>
                                        <p:cTn id="32" dur="1000" fill="hold"/>
                                        <p:tgtEl>
                                          <p:spTgt spid="62"/>
                                        </p:tgtEl>
                                        <p:attrNameLst>
                                          <p:attrName>ppt_x</p:attrName>
                                        </p:attrNameLst>
                                      </p:cBhvr>
                                      <p:tavLst>
                                        <p:tav tm="0">
                                          <p:val>
                                            <p:strVal val="#ppt_x"/>
                                          </p:val>
                                        </p:tav>
                                        <p:tav tm="100000">
                                          <p:val>
                                            <p:strVal val="#ppt_x"/>
                                          </p:val>
                                        </p:tav>
                                      </p:tavLst>
                                    </p:anim>
                                    <p:anim calcmode="lin" valueType="num">
                                      <p:cBhvr>
                                        <p:cTn id="33"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barn(inVertical)">
                                      <p:cBhvr>
                                        <p:cTn id="38" dur="3000"/>
                                        <p:tgtEl>
                                          <p:spTgt spid="76"/>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barn(inVertical)">
                                      <p:cBhvr>
                                        <p:cTn id="50" dur="3000"/>
                                        <p:tgtEl>
                                          <p:spTgt spid="39"/>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6"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barn(inHorizontal)">
                                      <p:cBhvr>
                                        <p:cTn id="55" dur="3000"/>
                                        <p:tgtEl>
                                          <p:spTgt spid="4"/>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1000"/>
                                        <p:tgtEl>
                                          <p:spTgt spid="13"/>
                                        </p:tgtEl>
                                      </p:cBhvr>
                                    </p:animEffect>
                                    <p:anim calcmode="lin" valueType="num">
                                      <p:cBhvr>
                                        <p:cTn id="61" dur="1000" fill="hold"/>
                                        <p:tgtEl>
                                          <p:spTgt spid="13"/>
                                        </p:tgtEl>
                                        <p:attrNameLst>
                                          <p:attrName>ppt_x</p:attrName>
                                        </p:attrNameLst>
                                      </p:cBhvr>
                                      <p:tavLst>
                                        <p:tav tm="0">
                                          <p:val>
                                            <p:strVal val="#ppt_x"/>
                                          </p:val>
                                        </p:tav>
                                        <p:tav tm="100000">
                                          <p:val>
                                            <p:strVal val="#ppt_x"/>
                                          </p:val>
                                        </p:tav>
                                      </p:tavLst>
                                    </p:anim>
                                    <p:anim calcmode="lin" valueType="num">
                                      <p:cBhvr>
                                        <p:cTn id="6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6" grpId="0" animBg="1"/>
      <p:bldP spid="77" grpId="0" animBg="1"/>
      <p:bldP spid="3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3</a:t>
            </a:fld>
            <a:endParaRPr lang="en-US" dirty="0">
              <a:solidFill>
                <a:schemeClr val="bg1"/>
              </a:solidFill>
            </a:endParaRPr>
          </a:p>
        </p:txBody>
      </p:sp>
      <p:sp>
        <p:nvSpPr>
          <p:cNvPr id="79" name="Rectángulo 78"/>
          <p:cNvSpPr/>
          <p:nvPr/>
        </p:nvSpPr>
        <p:spPr>
          <a:xfrm>
            <a:off x="266700" y="66260"/>
            <a:ext cx="11949120" cy="584775"/>
          </a:xfrm>
          <a:prstGeom prst="rect">
            <a:avLst/>
          </a:prstGeom>
        </p:spPr>
        <p:txBody>
          <a:bodyPr wrap="square" lIns="36000">
            <a:spAutoFit/>
          </a:bodyPr>
          <a:lstStyle/>
          <a:p>
            <a:pPr algn="r">
              <a:spcBef>
                <a:spcPts val="300"/>
              </a:spcBef>
              <a:spcAft>
                <a:spcPts val="300"/>
              </a:spcAft>
            </a:pPr>
            <a:r>
              <a:rPr lang="en-US" sz="3200" dirty="0" smtClean="0">
                <a:solidFill>
                  <a:schemeClr val="bg1"/>
                </a:solidFill>
                <a:latin typeface="Calibri" panose="020F0502020204030204" pitchFamily="34" charset="0"/>
              </a:rPr>
              <a:t>DEMO Latest Features</a:t>
            </a:r>
            <a:endParaRPr lang="en-US" sz="3200" dirty="0">
              <a:solidFill>
                <a:schemeClr val="bg1"/>
              </a:solidFill>
              <a:latin typeface="Calibri" panose="020F0502020204030204" pitchFamily="34" charset="0"/>
            </a:endParaRPr>
          </a:p>
        </p:txBody>
      </p:sp>
      <p:sp>
        <p:nvSpPr>
          <p:cNvPr id="6" name="Rectángulo 5"/>
          <p:cNvSpPr/>
          <p:nvPr/>
        </p:nvSpPr>
        <p:spPr>
          <a:xfrm>
            <a:off x="1388944" y="1660889"/>
            <a:ext cx="9409748" cy="954107"/>
          </a:xfrm>
          <a:prstGeom prst="rect">
            <a:avLst/>
          </a:prstGeom>
        </p:spPr>
        <p:txBody>
          <a:bodyPr wrap="square">
            <a:spAutoFit/>
          </a:bodyPr>
          <a:lstStyle/>
          <a:p>
            <a:pPr algn="ctr"/>
            <a:r>
              <a:rPr lang="en-US" sz="28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Demonstration of latest features</a:t>
            </a:r>
          </a:p>
          <a:p>
            <a:pPr algn="ctr"/>
            <a:r>
              <a:rPr lang="en-US" sz="28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 </a:t>
            </a:r>
            <a:r>
              <a:rPr lang="en-US" sz="28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Step 4 </a:t>
            </a:r>
            <a:r>
              <a:rPr lang="en-US" sz="28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 and Step 6</a:t>
            </a:r>
          </a:p>
        </p:txBody>
      </p:sp>
      <p:grpSp>
        <p:nvGrpSpPr>
          <p:cNvPr id="7" name="Grupo 6"/>
          <p:cNvGrpSpPr>
            <a:grpSpLocks noChangeAspect="1"/>
          </p:cNvGrpSpPr>
          <p:nvPr/>
        </p:nvGrpSpPr>
        <p:grpSpPr>
          <a:xfrm>
            <a:off x="1388944" y="2969543"/>
            <a:ext cx="9409748" cy="1005707"/>
            <a:chOff x="3109255" y="3256327"/>
            <a:chExt cx="6047309" cy="646332"/>
          </a:xfrm>
        </p:grpSpPr>
        <p:sp>
          <p:nvSpPr>
            <p:cNvPr id="11" name="Paralelogramo 10"/>
            <p:cNvSpPr/>
            <p:nvPr/>
          </p:nvSpPr>
          <p:spPr>
            <a:xfrm>
              <a:off x="3109255" y="3256327"/>
              <a:ext cx="2290763" cy="646332"/>
            </a:xfrm>
            <a:prstGeom prst="parallelogram">
              <a:avLst>
                <a:gd name="adj" fmla="val 94943"/>
              </a:avLst>
            </a:prstGeom>
            <a:solidFill>
              <a:schemeClr val="bg1"/>
            </a:solidFill>
            <a:ln>
              <a:solidFill>
                <a:srgbClr val="016357"/>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400" b="1" dirty="0">
                  <a:solidFill>
                    <a:srgbClr val="016357"/>
                  </a:solidFill>
                  <a:latin typeface="Calibri" panose="020F0502020204030204" pitchFamily="34" charset="0"/>
                  <a:cs typeface="Calibri" panose="020F0502020204030204" pitchFamily="34" charset="0"/>
                </a:rPr>
                <a:t>S</a:t>
              </a:r>
              <a:r>
                <a:rPr lang="en-GB" sz="2400" b="1" dirty="0" smtClean="0">
                  <a:solidFill>
                    <a:srgbClr val="016357"/>
                  </a:solidFill>
                  <a:latin typeface="Calibri" panose="020F0502020204030204" pitchFamily="34" charset="0"/>
                  <a:cs typeface="Calibri" panose="020F0502020204030204" pitchFamily="34" charset="0"/>
                </a:rPr>
                <a:t>tep 4 </a:t>
              </a:r>
            </a:p>
            <a:p>
              <a:pPr algn="ctr"/>
              <a:r>
                <a:rPr lang="en-GB" sz="2400" b="1" dirty="0" smtClean="0">
                  <a:solidFill>
                    <a:srgbClr val="C00000"/>
                  </a:solidFill>
                  <a:latin typeface="Calibri" panose="020F0502020204030204" pitchFamily="34" charset="0"/>
                  <a:cs typeface="Calibri" panose="020F0502020204030204" pitchFamily="34" charset="0"/>
                </a:rPr>
                <a:t>CUSTODIAN</a:t>
              </a:r>
              <a:endParaRPr lang="en-GB" sz="2400" b="1" dirty="0">
                <a:solidFill>
                  <a:srgbClr val="C00000"/>
                </a:solidFill>
                <a:latin typeface="Calibri" panose="020F0502020204030204" pitchFamily="34" charset="0"/>
                <a:cs typeface="Calibri" panose="020F0502020204030204" pitchFamily="34" charset="0"/>
              </a:endParaRPr>
            </a:p>
          </p:txBody>
        </p:sp>
        <p:sp>
          <p:nvSpPr>
            <p:cNvPr id="12" name="Paralelogramo 11"/>
            <p:cNvSpPr/>
            <p:nvPr/>
          </p:nvSpPr>
          <p:spPr>
            <a:xfrm>
              <a:off x="4987528" y="3256327"/>
              <a:ext cx="2290763" cy="646332"/>
            </a:xfrm>
            <a:prstGeom prst="parallelogram">
              <a:avLst>
                <a:gd name="adj" fmla="val 94943"/>
              </a:avLst>
            </a:prstGeom>
            <a:solidFill>
              <a:schemeClr val="bg1"/>
            </a:solidFill>
            <a:ln>
              <a:solidFill>
                <a:srgbClr val="016357"/>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400" b="1" dirty="0">
                  <a:solidFill>
                    <a:srgbClr val="016357"/>
                  </a:solidFill>
                  <a:latin typeface="Calibri" panose="020F0502020204030204" pitchFamily="34" charset="0"/>
                  <a:cs typeface="Calibri" panose="020F0502020204030204" pitchFamily="34" charset="0"/>
                </a:rPr>
                <a:t>Step </a:t>
              </a:r>
              <a:r>
                <a:rPr lang="en-GB" sz="2400" b="1" dirty="0" smtClean="0">
                  <a:solidFill>
                    <a:srgbClr val="016357"/>
                  </a:solidFill>
                  <a:latin typeface="Calibri" panose="020F0502020204030204" pitchFamily="34" charset="0"/>
                  <a:cs typeface="Calibri" panose="020F0502020204030204" pitchFamily="34" charset="0"/>
                </a:rPr>
                <a:t>6 </a:t>
              </a:r>
              <a:endParaRPr lang="en-GB" sz="2400" b="1" dirty="0">
                <a:solidFill>
                  <a:srgbClr val="016357"/>
                </a:solidFill>
                <a:latin typeface="Calibri" panose="020F0502020204030204" pitchFamily="34" charset="0"/>
                <a:cs typeface="Calibri" panose="020F0502020204030204" pitchFamily="34" charset="0"/>
              </a:endParaRPr>
            </a:p>
            <a:p>
              <a:pPr algn="ctr"/>
              <a:r>
                <a:rPr lang="en-GB" sz="2400" b="1" dirty="0">
                  <a:solidFill>
                    <a:srgbClr val="C00000"/>
                  </a:solidFill>
                  <a:latin typeface="Calibri" panose="020F0502020204030204" pitchFamily="34" charset="0"/>
                  <a:cs typeface="Calibri" panose="020F0502020204030204" pitchFamily="34" charset="0"/>
                </a:rPr>
                <a:t>CUSTODIAN</a:t>
              </a:r>
            </a:p>
          </p:txBody>
        </p:sp>
        <p:sp>
          <p:nvSpPr>
            <p:cNvPr id="13" name="Paralelogramo 12"/>
            <p:cNvSpPr/>
            <p:nvPr/>
          </p:nvSpPr>
          <p:spPr>
            <a:xfrm>
              <a:off x="6865801" y="3256327"/>
              <a:ext cx="2290763" cy="646332"/>
            </a:xfrm>
            <a:prstGeom prst="parallelogram">
              <a:avLst>
                <a:gd name="adj" fmla="val 94943"/>
              </a:avLst>
            </a:prstGeom>
            <a:solidFill>
              <a:schemeClr val="bg1"/>
            </a:solidFill>
            <a:ln>
              <a:solidFill>
                <a:srgbClr val="016357"/>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400" b="1" dirty="0">
                  <a:solidFill>
                    <a:srgbClr val="016357"/>
                  </a:solidFill>
                  <a:latin typeface="Calibri" panose="020F0502020204030204" pitchFamily="34" charset="0"/>
                  <a:cs typeface="Calibri" panose="020F0502020204030204" pitchFamily="34" charset="0"/>
                </a:rPr>
                <a:t>Step 6 </a:t>
              </a:r>
            </a:p>
            <a:p>
              <a:pPr algn="ctr"/>
              <a:r>
                <a:rPr lang="en-GB" sz="2400" b="1" dirty="0" smtClean="0">
                  <a:solidFill>
                    <a:srgbClr val="C00000"/>
                  </a:solidFill>
                  <a:latin typeface="Calibri" panose="020F0502020204030204" pitchFamily="34" charset="0"/>
                  <a:cs typeface="Calibri" panose="020F0502020204030204" pitchFamily="34" charset="0"/>
                </a:rPr>
                <a:t>REPORTER</a:t>
              </a:r>
              <a:endParaRPr lang="en-GB" sz="2400" b="1" dirty="0">
                <a:solidFill>
                  <a:srgbClr val="C00000"/>
                </a:solidFill>
                <a:latin typeface="Calibri" panose="020F0502020204030204" pitchFamily="34" charset="0"/>
                <a:cs typeface="Calibri" panose="020F0502020204030204" pitchFamily="34" charset="0"/>
              </a:endParaRPr>
            </a:p>
          </p:txBody>
        </p:sp>
      </p:grpSp>
      <p:sp>
        <p:nvSpPr>
          <p:cNvPr id="15" name="Paralelogramo 14"/>
          <p:cNvSpPr/>
          <p:nvPr/>
        </p:nvSpPr>
        <p:spPr>
          <a:xfrm>
            <a:off x="371560" y="66260"/>
            <a:ext cx="2650609"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US" sz="1600" b="1" dirty="0">
                <a:solidFill>
                  <a:srgbClr val="016357"/>
                </a:solidFill>
                <a:latin typeface="Calibri" panose="020F0502020204030204" pitchFamily="34" charset="0"/>
                <a:cs typeface="Calibri" panose="020F0502020204030204" pitchFamily="34" charset="0"/>
              </a:rPr>
              <a:t>Focus </a:t>
            </a:r>
            <a:r>
              <a:rPr lang="en-US" sz="1600" b="1" dirty="0" smtClean="0">
                <a:solidFill>
                  <a:srgbClr val="016357"/>
                </a:solidFill>
                <a:latin typeface="Calibri" panose="020F0502020204030204" pitchFamily="34" charset="0"/>
                <a:cs typeface="Calibri" panose="020F0502020204030204" pitchFamily="34" charset="0"/>
              </a:rPr>
              <a:t>Areas </a:t>
            </a:r>
            <a:r>
              <a:rPr lang="en-US" sz="1600" b="1" dirty="0">
                <a:solidFill>
                  <a:srgbClr val="016357"/>
                </a:solidFill>
                <a:latin typeface="Calibri" panose="020F0502020204030204" pitchFamily="34" charset="0"/>
                <a:cs typeface="Calibri" panose="020F0502020204030204" pitchFamily="34" charset="0"/>
              </a:rPr>
              <a:t>Since last </a:t>
            </a:r>
            <a:r>
              <a:rPr lang="en-US" sz="1600" b="1" dirty="0" smtClean="0">
                <a:solidFill>
                  <a:srgbClr val="016357"/>
                </a:solidFill>
                <a:latin typeface="Calibri" panose="020F0502020204030204" pitchFamily="34" charset="0"/>
                <a:cs typeface="Calibri" panose="020F0502020204030204" pitchFamily="34" charset="0"/>
              </a:rPr>
              <a:t>STEERCO</a:t>
            </a:r>
            <a:endParaRPr lang="en-US" sz="1600" b="1" dirty="0">
              <a:solidFill>
                <a:srgbClr val="016357"/>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27829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4</a:t>
            </a:fld>
            <a:endParaRPr lang="en-US" dirty="0">
              <a:solidFill>
                <a:schemeClr val="bg1"/>
              </a:solidFill>
            </a:endParaRPr>
          </a:p>
        </p:txBody>
      </p:sp>
      <p:sp>
        <p:nvSpPr>
          <p:cNvPr id="79" name="Rectángulo 78"/>
          <p:cNvSpPr/>
          <p:nvPr/>
        </p:nvSpPr>
        <p:spPr>
          <a:xfrm>
            <a:off x="266700" y="66260"/>
            <a:ext cx="11949120" cy="584775"/>
          </a:xfrm>
          <a:prstGeom prst="rect">
            <a:avLst/>
          </a:prstGeom>
        </p:spPr>
        <p:txBody>
          <a:bodyPr wrap="square" lIns="36000">
            <a:spAutoFit/>
          </a:bodyPr>
          <a:lstStyle/>
          <a:p>
            <a:pPr algn="r">
              <a:spcBef>
                <a:spcPts val="300"/>
              </a:spcBef>
              <a:spcAft>
                <a:spcPts val="300"/>
              </a:spcAft>
            </a:pPr>
            <a:r>
              <a:rPr lang="en-US" sz="3200" dirty="0" smtClean="0">
                <a:solidFill>
                  <a:schemeClr val="bg1"/>
                </a:solidFill>
                <a:latin typeface="Calibri" panose="020F0502020204030204" pitchFamily="34" charset="0"/>
              </a:rPr>
              <a:t>DEMO Latest Features</a:t>
            </a:r>
            <a:endParaRPr lang="en-US" sz="3200" dirty="0">
              <a:solidFill>
                <a:schemeClr val="bg1"/>
              </a:solidFill>
              <a:latin typeface="Calibri" panose="020F0502020204030204" pitchFamily="34" charset="0"/>
            </a:endParaRPr>
          </a:p>
        </p:txBody>
      </p:sp>
      <p:sp>
        <p:nvSpPr>
          <p:cNvPr id="4" name="Rectángulo redondeado 3"/>
          <p:cNvSpPr/>
          <p:nvPr/>
        </p:nvSpPr>
        <p:spPr>
          <a:xfrm>
            <a:off x="4618495" y="2107768"/>
            <a:ext cx="6772759" cy="4200041"/>
          </a:xfrm>
          <a:prstGeom prst="roundRect">
            <a:avLst>
              <a:gd name="adj" fmla="val 2973"/>
            </a:avLst>
          </a:prstGeom>
          <a:solidFill>
            <a:schemeClr val="bg1"/>
          </a:solidFill>
          <a:ln>
            <a:solidFill>
              <a:srgbClr val="0163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Aft>
                <a:spcPts val="300"/>
              </a:spcAft>
              <a:buFont typeface="Arial" panose="020B0604020202020204" pitchFamily="34" charset="0"/>
              <a:buChar char="•"/>
            </a:pPr>
            <a:r>
              <a:rPr lang="en-GB" sz="2200" b="1" dirty="0" smtClean="0">
                <a:solidFill>
                  <a:srgbClr val="016357"/>
                </a:solidFill>
                <a:latin typeface="Calibri" panose="020F0502020204030204" pitchFamily="34" charset="0"/>
                <a:cs typeface="Calibri" panose="020F0502020204030204" pitchFamily="34" charset="0"/>
              </a:rPr>
              <a:t>Login as a </a:t>
            </a:r>
            <a:r>
              <a:rPr lang="en-GB" sz="2200" b="1" dirty="0" smtClean="0">
                <a:solidFill>
                  <a:srgbClr val="C00000"/>
                </a:solidFill>
                <a:latin typeface="Calibri" panose="020F0502020204030204" pitchFamily="34" charset="0"/>
                <a:cs typeface="Calibri" panose="020F0502020204030204" pitchFamily="34" charset="0"/>
              </a:rPr>
              <a:t>Data Custodian</a:t>
            </a:r>
          </a:p>
          <a:p>
            <a:pPr marL="285750" indent="-285750">
              <a:spcAft>
                <a:spcPts val="300"/>
              </a:spcAft>
              <a:buFont typeface="Arial" panose="020B0604020202020204" pitchFamily="34" charset="0"/>
              <a:buChar char="•"/>
            </a:pPr>
            <a:r>
              <a:rPr lang="en-GB" sz="2200" b="1" dirty="0" smtClean="0">
                <a:solidFill>
                  <a:srgbClr val="016357"/>
                </a:solidFill>
                <a:latin typeface="Calibri" panose="020F0502020204030204" pitchFamily="34" charset="0"/>
                <a:cs typeface="Calibri" panose="020F0502020204030204" pitchFamily="34" charset="0"/>
              </a:rPr>
              <a:t>See and Manage My </a:t>
            </a:r>
            <a:r>
              <a:rPr lang="en-GB" sz="2200" b="1" dirty="0" err="1" smtClean="0">
                <a:solidFill>
                  <a:srgbClr val="016357"/>
                </a:solidFill>
                <a:latin typeface="Calibri" panose="020F0502020204030204" pitchFamily="34" charset="0"/>
                <a:cs typeface="Calibri" panose="020F0502020204030204" pitchFamily="34" charset="0"/>
              </a:rPr>
              <a:t>Dataflows</a:t>
            </a:r>
            <a:endParaRPr lang="en-GB" sz="2200" b="1" dirty="0" smtClean="0">
              <a:solidFill>
                <a:srgbClr val="016357"/>
              </a:solidFill>
              <a:latin typeface="Calibri" panose="020F0502020204030204" pitchFamily="34" charset="0"/>
              <a:cs typeface="Calibri" panose="020F0502020204030204" pitchFamily="34" charset="0"/>
            </a:endParaRPr>
          </a:p>
          <a:p>
            <a:pPr marL="285750" indent="-285750">
              <a:spcAft>
                <a:spcPts val="300"/>
              </a:spcAft>
              <a:buFont typeface="Arial" panose="020B0604020202020204" pitchFamily="34" charset="0"/>
              <a:buChar char="•"/>
            </a:pPr>
            <a:r>
              <a:rPr lang="en-GB" sz="2200" b="1" dirty="0" smtClean="0">
                <a:solidFill>
                  <a:srgbClr val="016357"/>
                </a:solidFill>
                <a:latin typeface="Calibri" panose="020F0502020204030204" pitchFamily="34" charset="0"/>
                <a:cs typeface="Calibri" panose="020F0502020204030204" pitchFamily="34" charset="0"/>
              </a:rPr>
              <a:t>Create New </a:t>
            </a:r>
            <a:r>
              <a:rPr lang="en-GB" sz="2200" b="1" dirty="0" err="1" smtClean="0">
                <a:solidFill>
                  <a:srgbClr val="016357"/>
                </a:solidFill>
                <a:latin typeface="Calibri" panose="020F0502020204030204" pitchFamily="34" charset="0"/>
                <a:cs typeface="Calibri" panose="020F0502020204030204" pitchFamily="34" charset="0"/>
              </a:rPr>
              <a:t>Dataflows</a:t>
            </a:r>
            <a:endParaRPr lang="en-GB" sz="2200" b="1" dirty="0" smtClean="0">
              <a:solidFill>
                <a:srgbClr val="016357"/>
              </a:solidFill>
              <a:latin typeface="Calibri" panose="020F0502020204030204" pitchFamily="34" charset="0"/>
              <a:cs typeface="Calibri" panose="020F0502020204030204" pitchFamily="34" charset="0"/>
            </a:endParaRPr>
          </a:p>
          <a:p>
            <a:pPr marL="285750" indent="-285750">
              <a:spcAft>
                <a:spcPts val="300"/>
              </a:spcAft>
              <a:buFont typeface="Arial" panose="020B0604020202020204" pitchFamily="34" charset="0"/>
              <a:buChar char="•"/>
            </a:pPr>
            <a:r>
              <a:rPr lang="en-GB" sz="2200" b="1" dirty="0" smtClean="0">
                <a:solidFill>
                  <a:srgbClr val="016357"/>
                </a:solidFill>
                <a:latin typeface="Calibri" panose="020F0502020204030204" pitchFamily="34" charset="0"/>
                <a:cs typeface="Calibri" panose="020F0502020204030204" pitchFamily="34" charset="0"/>
              </a:rPr>
              <a:t>Create Schemas</a:t>
            </a:r>
          </a:p>
          <a:p>
            <a:pPr marL="285750" indent="-285750">
              <a:spcAft>
                <a:spcPts val="300"/>
              </a:spcAft>
              <a:buFont typeface="Arial" panose="020B0604020202020204" pitchFamily="34" charset="0"/>
              <a:buChar char="•"/>
            </a:pPr>
            <a:r>
              <a:rPr lang="en-GB" sz="2200" b="1" dirty="0" smtClean="0">
                <a:solidFill>
                  <a:srgbClr val="016357"/>
                </a:solidFill>
                <a:latin typeface="Calibri" panose="020F0502020204030204" pitchFamily="34" charset="0"/>
                <a:cs typeface="Calibri" panose="020F0502020204030204" pitchFamily="34" charset="0"/>
              </a:rPr>
              <a:t>For each Schema  - Data Set Designer – to create Tables and Fields</a:t>
            </a:r>
          </a:p>
          <a:p>
            <a:pPr marL="285750" indent="-285750">
              <a:spcAft>
                <a:spcPts val="300"/>
              </a:spcAft>
              <a:buFont typeface="Arial" panose="020B0604020202020204" pitchFamily="34" charset="0"/>
              <a:buChar char="•"/>
            </a:pPr>
            <a:r>
              <a:rPr lang="en-GB" sz="2200" b="1" dirty="0" smtClean="0">
                <a:solidFill>
                  <a:srgbClr val="016357"/>
                </a:solidFill>
                <a:latin typeface="Calibri" panose="020F0502020204030204" pitchFamily="34" charset="0"/>
                <a:cs typeface="Calibri" panose="020F0502020204030204" pitchFamily="34" charset="0"/>
              </a:rPr>
              <a:t>Preview Design Data Set</a:t>
            </a:r>
          </a:p>
          <a:p>
            <a:pPr marL="285750" indent="-285750">
              <a:spcAft>
                <a:spcPts val="300"/>
              </a:spcAft>
              <a:buFont typeface="Arial" panose="020B0604020202020204" pitchFamily="34" charset="0"/>
              <a:buChar char="•"/>
            </a:pPr>
            <a:r>
              <a:rPr lang="en-GB" sz="2200" b="1" dirty="0" smtClean="0">
                <a:solidFill>
                  <a:srgbClr val="016357"/>
                </a:solidFill>
                <a:latin typeface="Calibri" panose="020F0502020204030204" pitchFamily="34" charset="0"/>
                <a:cs typeface="Calibri" panose="020F0502020204030204" pitchFamily="34" charset="0"/>
              </a:rPr>
              <a:t>Save and restore copies of a Schema (SNAPSHOTS)</a:t>
            </a:r>
          </a:p>
          <a:p>
            <a:pPr marL="285750" indent="-285750">
              <a:spcAft>
                <a:spcPts val="300"/>
              </a:spcAft>
              <a:buFont typeface="Arial" panose="020B0604020202020204" pitchFamily="34" charset="0"/>
              <a:buChar char="•"/>
            </a:pPr>
            <a:r>
              <a:rPr lang="en-GB" sz="2200" b="1" dirty="0" smtClean="0">
                <a:solidFill>
                  <a:srgbClr val="016357"/>
                </a:solidFill>
                <a:latin typeface="Calibri" panose="020F0502020204030204" pitchFamily="34" charset="0"/>
                <a:cs typeface="Calibri" panose="020F0502020204030204" pitchFamily="34" charset="0"/>
              </a:rPr>
              <a:t>Create and Manage Supporting Documents and </a:t>
            </a:r>
            <a:r>
              <a:rPr lang="en-GB" sz="2200" b="1" dirty="0" err="1" smtClean="0">
                <a:solidFill>
                  <a:srgbClr val="016357"/>
                </a:solidFill>
                <a:latin typeface="Calibri" panose="020F0502020204030204" pitchFamily="34" charset="0"/>
                <a:cs typeface="Calibri" panose="020F0502020204030204" pitchFamily="34" charset="0"/>
              </a:rPr>
              <a:t>Weblinks</a:t>
            </a:r>
            <a:r>
              <a:rPr lang="en-GB" sz="2200" b="1" dirty="0" smtClean="0">
                <a:solidFill>
                  <a:srgbClr val="016357"/>
                </a:solidFill>
                <a:latin typeface="Calibri" panose="020F0502020204030204" pitchFamily="34" charset="0"/>
                <a:cs typeface="Calibri" panose="020F0502020204030204" pitchFamily="34" charset="0"/>
              </a:rPr>
              <a:t> for the Dataflow</a:t>
            </a:r>
          </a:p>
        </p:txBody>
      </p:sp>
      <p:sp>
        <p:nvSpPr>
          <p:cNvPr id="6" name="Rectángulo 5"/>
          <p:cNvSpPr/>
          <p:nvPr/>
        </p:nvSpPr>
        <p:spPr>
          <a:xfrm>
            <a:off x="4618495" y="1025459"/>
            <a:ext cx="6011408" cy="830997"/>
          </a:xfrm>
          <a:prstGeom prst="rect">
            <a:avLst/>
          </a:prstGeom>
        </p:spPr>
        <p:txBody>
          <a:bodyPr wrap="square">
            <a:spAutoFit/>
          </a:bodyPr>
          <a:lstStyle/>
          <a:p>
            <a:r>
              <a:rPr lang="en-US" sz="2400" b="1" kern="50" dirty="0">
                <a:solidFill>
                  <a:srgbClr val="008173"/>
                </a:solidFill>
                <a:latin typeface="Calibri" panose="020F0502020204030204" pitchFamily="34" charset="0"/>
                <a:ea typeface="Times New Roman" panose="02020603050405020304" pitchFamily="18" charset="0"/>
                <a:cs typeface="Calibri" panose="020F0502020204030204" pitchFamily="34" charset="0"/>
              </a:rPr>
              <a:t>Demo Step 4 </a:t>
            </a:r>
            <a:r>
              <a:rPr lang="en-US" sz="2400" b="1" kern="50" dirty="0" smtClean="0">
                <a:solidFill>
                  <a:srgbClr val="008173"/>
                </a:solidFill>
                <a:latin typeface="Calibri" panose="020F0502020204030204" pitchFamily="34" charset="0"/>
                <a:ea typeface="Times New Roman" panose="02020603050405020304" pitchFamily="18" charset="0"/>
                <a:cs typeface="Calibri" panose="020F0502020204030204" pitchFamily="34" charset="0"/>
              </a:rPr>
              <a:t>Features </a:t>
            </a:r>
            <a:r>
              <a:rPr lang="en-US" sz="2400" b="1" kern="50" dirty="0" smtClean="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 </a:t>
            </a:r>
            <a:r>
              <a:rPr lang="en-US" sz="2400" b="1" kern="50" dirty="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Role </a:t>
            </a:r>
            <a:r>
              <a:rPr lang="en-US" sz="2400" b="1" kern="50" dirty="0">
                <a:solidFill>
                  <a:srgbClr val="C00000"/>
                </a:solidFill>
                <a:latin typeface="Calibri" panose="020F0502020204030204" pitchFamily="34" charset="0"/>
                <a:ea typeface="Times New Roman" panose="02020603050405020304" pitchFamily="18" charset="0"/>
                <a:cs typeface="Calibri" panose="020F0502020204030204" pitchFamily="34" charset="0"/>
              </a:rPr>
              <a:t>Data </a:t>
            </a:r>
            <a:r>
              <a:rPr lang="en-US" sz="2400" b="1" kern="50" dirty="0" smtClean="0">
                <a:solidFill>
                  <a:srgbClr val="C00000"/>
                </a:solidFill>
                <a:latin typeface="Calibri" panose="020F0502020204030204" pitchFamily="34" charset="0"/>
                <a:ea typeface="Times New Roman" panose="02020603050405020304" pitchFamily="18" charset="0"/>
                <a:cs typeface="Calibri" panose="020F0502020204030204" pitchFamily="34" charset="0"/>
              </a:rPr>
              <a:t>Custodian </a:t>
            </a:r>
            <a:r>
              <a:rPr lang="en-US" sz="2400" b="1" kern="50" dirty="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(Setting up a Data Flow and Design Data Set)</a:t>
            </a:r>
            <a:endParaRPr lang="es-ES" sz="2400" b="1" dirty="0">
              <a:solidFill>
                <a:schemeClr val="accent1">
                  <a:lumMod val="50000"/>
                </a:schemeClr>
              </a:solidFill>
            </a:endParaRPr>
          </a:p>
        </p:txBody>
      </p:sp>
      <p:pic>
        <p:nvPicPr>
          <p:cNvPr id="5" name="Imagen 4"/>
          <p:cNvPicPr>
            <a:picLocks noChangeAspect="1"/>
          </p:cNvPicPr>
          <p:nvPr/>
        </p:nvPicPr>
        <p:blipFill>
          <a:blip r:embed="rId2"/>
          <a:stretch>
            <a:fillRect/>
          </a:stretch>
        </p:blipFill>
        <p:spPr>
          <a:xfrm>
            <a:off x="490220" y="987517"/>
            <a:ext cx="3492500" cy="5668019"/>
          </a:xfrm>
          <a:prstGeom prst="rect">
            <a:avLst/>
          </a:prstGeom>
        </p:spPr>
      </p:pic>
      <p:sp>
        <p:nvSpPr>
          <p:cNvPr id="8" name="Paralelogramo 7"/>
          <p:cNvSpPr/>
          <p:nvPr/>
        </p:nvSpPr>
        <p:spPr>
          <a:xfrm>
            <a:off x="647607"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a:solidFill>
                  <a:srgbClr val="016357"/>
                </a:solidFill>
              </a:rPr>
              <a:t>S</a:t>
            </a:r>
            <a:r>
              <a:rPr lang="en-GB" sz="1600" b="1" dirty="0" smtClean="0">
                <a:solidFill>
                  <a:srgbClr val="016357"/>
                </a:solidFill>
              </a:rPr>
              <a:t>tep 4 </a:t>
            </a:r>
          </a:p>
          <a:p>
            <a:pPr algn="ctr"/>
            <a:r>
              <a:rPr lang="en-GB" sz="1600" b="1" dirty="0" smtClean="0">
                <a:solidFill>
                  <a:srgbClr val="C00000"/>
                </a:solidFill>
              </a:rPr>
              <a:t>CUSTODIAN</a:t>
            </a:r>
            <a:endParaRPr lang="en-GB" sz="1600" b="1" dirty="0">
              <a:solidFill>
                <a:srgbClr val="C00000"/>
              </a:solidFill>
            </a:endParaRPr>
          </a:p>
        </p:txBody>
      </p:sp>
      <p:sp>
        <p:nvSpPr>
          <p:cNvPr id="9" name="Paralelogramo 8"/>
          <p:cNvSpPr/>
          <p:nvPr/>
        </p:nvSpPr>
        <p:spPr>
          <a:xfrm>
            <a:off x="2525880"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a:solidFill>
                  <a:schemeClr val="bg1">
                    <a:lumMod val="50000"/>
                  </a:schemeClr>
                </a:solidFill>
              </a:rPr>
              <a:t>Step </a:t>
            </a:r>
            <a:r>
              <a:rPr lang="en-GB" sz="1600" b="1" dirty="0" smtClean="0">
                <a:solidFill>
                  <a:schemeClr val="bg1">
                    <a:lumMod val="50000"/>
                  </a:schemeClr>
                </a:solidFill>
              </a:rPr>
              <a:t>6 </a:t>
            </a:r>
            <a:endParaRPr lang="en-GB" sz="1600" b="1" dirty="0">
              <a:solidFill>
                <a:schemeClr val="bg1">
                  <a:lumMod val="50000"/>
                </a:schemeClr>
              </a:solidFill>
            </a:endParaRPr>
          </a:p>
          <a:p>
            <a:pPr algn="ctr"/>
            <a:r>
              <a:rPr lang="en-GB" sz="1600" b="1" dirty="0">
                <a:solidFill>
                  <a:schemeClr val="bg1">
                    <a:lumMod val="50000"/>
                  </a:schemeClr>
                </a:solidFill>
              </a:rPr>
              <a:t>CUSTODIAN</a:t>
            </a:r>
          </a:p>
        </p:txBody>
      </p:sp>
      <p:sp>
        <p:nvSpPr>
          <p:cNvPr id="10" name="Paralelogramo 9"/>
          <p:cNvSpPr/>
          <p:nvPr/>
        </p:nvSpPr>
        <p:spPr>
          <a:xfrm>
            <a:off x="4404153"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a:solidFill>
                  <a:schemeClr val="bg1">
                    <a:lumMod val="50000"/>
                  </a:schemeClr>
                </a:solidFill>
              </a:rPr>
              <a:t>Step 6 </a:t>
            </a:r>
          </a:p>
          <a:p>
            <a:pPr algn="ctr"/>
            <a:r>
              <a:rPr lang="en-GB" sz="1600" b="1" dirty="0" smtClean="0">
                <a:solidFill>
                  <a:schemeClr val="bg1">
                    <a:lumMod val="50000"/>
                  </a:schemeClr>
                </a:solidFill>
              </a:rPr>
              <a:t>REPORTER</a:t>
            </a:r>
            <a:endParaRPr lang="en-GB" sz="1600" b="1" dirty="0">
              <a:solidFill>
                <a:schemeClr val="bg1">
                  <a:lumMod val="50000"/>
                </a:schemeClr>
              </a:solidFill>
            </a:endParaRPr>
          </a:p>
        </p:txBody>
      </p:sp>
    </p:spTree>
    <p:extLst>
      <p:ext uri="{BB962C8B-B14F-4D97-AF65-F5344CB8AC3E}">
        <p14:creationId xmlns:p14="http://schemas.microsoft.com/office/powerpoint/2010/main" val="13304031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5</a:t>
            </a:fld>
            <a:endParaRPr lang="en-US" dirty="0">
              <a:solidFill>
                <a:schemeClr val="bg1"/>
              </a:solidFill>
            </a:endParaRPr>
          </a:p>
        </p:txBody>
      </p:sp>
      <p:sp>
        <p:nvSpPr>
          <p:cNvPr id="79" name="Rectángulo 78"/>
          <p:cNvSpPr/>
          <p:nvPr/>
        </p:nvSpPr>
        <p:spPr>
          <a:xfrm>
            <a:off x="266700" y="66260"/>
            <a:ext cx="11949120" cy="584775"/>
          </a:xfrm>
          <a:prstGeom prst="rect">
            <a:avLst/>
          </a:prstGeom>
        </p:spPr>
        <p:txBody>
          <a:bodyPr wrap="square" lIns="36000">
            <a:spAutoFit/>
          </a:bodyPr>
          <a:lstStyle/>
          <a:p>
            <a:pPr algn="r">
              <a:spcBef>
                <a:spcPts val="300"/>
              </a:spcBef>
              <a:spcAft>
                <a:spcPts val="300"/>
              </a:spcAft>
            </a:pPr>
            <a:r>
              <a:rPr lang="en-US" sz="3200" dirty="0" smtClean="0">
                <a:solidFill>
                  <a:schemeClr val="bg1"/>
                </a:solidFill>
                <a:latin typeface="Calibri" panose="020F0502020204030204" pitchFamily="34" charset="0"/>
              </a:rPr>
              <a:t>DEMO Latest Features</a:t>
            </a:r>
            <a:endParaRPr lang="en-US" sz="3200" dirty="0">
              <a:solidFill>
                <a:schemeClr val="bg1"/>
              </a:solidFill>
              <a:latin typeface="Calibri" panose="020F0502020204030204" pitchFamily="34" charset="0"/>
            </a:endParaRPr>
          </a:p>
        </p:txBody>
      </p:sp>
      <p:sp>
        <p:nvSpPr>
          <p:cNvPr id="4" name="Rectángulo redondeado 3"/>
          <p:cNvSpPr/>
          <p:nvPr/>
        </p:nvSpPr>
        <p:spPr>
          <a:xfrm>
            <a:off x="4859792" y="1812072"/>
            <a:ext cx="6946128" cy="4371752"/>
          </a:xfrm>
          <a:prstGeom prst="roundRect">
            <a:avLst>
              <a:gd name="adj" fmla="val 2973"/>
            </a:avLst>
          </a:prstGeom>
          <a:solidFill>
            <a:schemeClr val="bg1"/>
          </a:solidFill>
          <a:ln>
            <a:solidFill>
              <a:srgbClr val="0163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Aft>
                <a:spcPts val="300"/>
              </a:spcAft>
              <a:buFont typeface="Arial" panose="020B0604020202020204" pitchFamily="34" charset="0"/>
              <a:buChar char="•"/>
            </a:pPr>
            <a:r>
              <a:rPr lang="en-US" sz="2200" b="1" dirty="0">
                <a:solidFill>
                  <a:srgbClr val="016357"/>
                </a:solidFill>
                <a:latin typeface="Calibri" panose="020F0502020204030204" pitchFamily="34" charset="0"/>
                <a:cs typeface="Calibri" panose="020F0502020204030204" pitchFamily="34" charset="0"/>
              </a:rPr>
              <a:t>Login as a </a:t>
            </a:r>
            <a:r>
              <a:rPr lang="en-US" sz="2200" b="1" dirty="0">
                <a:solidFill>
                  <a:srgbClr val="C00000"/>
                </a:solidFill>
                <a:latin typeface="Calibri" panose="020F0502020204030204" pitchFamily="34" charset="0"/>
                <a:cs typeface="Calibri" panose="020F0502020204030204" pitchFamily="34" charset="0"/>
              </a:rPr>
              <a:t>Data Custodian</a:t>
            </a:r>
          </a:p>
          <a:p>
            <a:pPr marL="285750" indent="-285750">
              <a:spcAft>
                <a:spcPts val="300"/>
              </a:spcAft>
              <a:buFont typeface="Arial" panose="020B0604020202020204" pitchFamily="34" charset="0"/>
              <a:buChar char="•"/>
            </a:pPr>
            <a:r>
              <a:rPr lang="en-US" sz="2200" b="1" dirty="0">
                <a:solidFill>
                  <a:srgbClr val="016357"/>
                </a:solidFill>
                <a:latin typeface="Calibri" panose="020F0502020204030204" pitchFamily="34" charset="0"/>
                <a:cs typeface="Calibri" panose="020F0502020204030204" pitchFamily="34" charset="0"/>
              </a:rPr>
              <a:t>See My </a:t>
            </a:r>
            <a:r>
              <a:rPr lang="en-US" sz="2200" b="1" dirty="0" err="1">
                <a:solidFill>
                  <a:srgbClr val="016357"/>
                </a:solidFill>
                <a:latin typeface="Calibri" panose="020F0502020204030204" pitchFamily="34" charset="0"/>
                <a:cs typeface="Calibri" panose="020F0502020204030204" pitchFamily="34" charset="0"/>
              </a:rPr>
              <a:t>Dataflows</a:t>
            </a:r>
            <a:endParaRPr lang="en-US" sz="2200" b="1" dirty="0">
              <a:solidFill>
                <a:srgbClr val="016357"/>
              </a:solidFill>
              <a:latin typeface="Calibri" panose="020F0502020204030204" pitchFamily="34" charset="0"/>
              <a:cs typeface="Calibri" panose="020F0502020204030204" pitchFamily="34" charset="0"/>
            </a:endParaRPr>
          </a:p>
          <a:p>
            <a:pPr marL="285750" indent="-285750">
              <a:spcAft>
                <a:spcPts val="300"/>
              </a:spcAft>
              <a:buFont typeface="Arial" panose="020B0604020202020204" pitchFamily="34" charset="0"/>
              <a:buChar char="•"/>
            </a:pPr>
            <a:r>
              <a:rPr lang="en-US" sz="2200" b="1" dirty="0">
                <a:solidFill>
                  <a:srgbClr val="016357"/>
                </a:solidFill>
                <a:latin typeface="Calibri" panose="020F0502020204030204" pitchFamily="34" charset="0"/>
                <a:cs typeface="Calibri" panose="020F0502020204030204" pitchFamily="34" charset="0"/>
              </a:rPr>
              <a:t>See Reporting Datasets for the Workflow</a:t>
            </a:r>
          </a:p>
          <a:p>
            <a:pPr marL="285750" indent="-285750">
              <a:spcAft>
                <a:spcPts val="300"/>
              </a:spcAft>
              <a:buFont typeface="Arial" panose="020B0604020202020204" pitchFamily="34" charset="0"/>
              <a:buChar char="•"/>
            </a:pPr>
            <a:r>
              <a:rPr lang="en-US" sz="2200" b="1" dirty="0">
                <a:solidFill>
                  <a:srgbClr val="016357"/>
                </a:solidFill>
                <a:latin typeface="Calibri" panose="020F0502020204030204" pitchFamily="34" charset="0"/>
                <a:cs typeface="Calibri" panose="020F0502020204030204" pitchFamily="34" charset="0"/>
              </a:rPr>
              <a:t>I can open “view only” reporting datasets</a:t>
            </a:r>
          </a:p>
          <a:p>
            <a:pPr marL="285750" indent="-285750">
              <a:spcAft>
                <a:spcPts val="300"/>
              </a:spcAft>
              <a:buFont typeface="Arial" panose="020B0604020202020204" pitchFamily="34" charset="0"/>
              <a:buChar char="•"/>
            </a:pPr>
            <a:r>
              <a:rPr lang="en-US" sz="2200" b="1" dirty="0">
                <a:solidFill>
                  <a:srgbClr val="016357"/>
                </a:solidFill>
                <a:latin typeface="Calibri" panose="020F0502020204030204" pitchFamily="34" charset="0"/>
                <a:cs typeface="Calibri" panose="020F0502020204030204" pitchFamily="34" charset="0"/>
              </a:rPr>
              <a:t>I can see status and validations for reported data</a:t>
            </a:r>
          </a:p>
          <a:p>
            <a:pPr marL="285750" indent="-285750">
              <a:spcAft>
                <a:spcPts val="300"/>
              </a:spcAft>
              <a:buFont typeface="Arial" panose="020B0604020202020204" pitchFamily="34" charset="0"/>
              <a:buChar char="•"/>
            </a:pPr>
            <a:r>
              <a:rPr lang="en-US" sz="2200" b="1" dirty="0">
                <a:solidFill>
                  <a:srgbClr val="016357"/>
                </a:solidFill>
                <a:latin typeface="Calibri" panose="020F0502020204030204" pitchFamily="34" charset="0"/>
                <a:cs typeface="Calibri" panose="020F0502020204030204" pitchFamily="34" charset="0"/>
              </a:rPr>
              <a:t>Within the validations I can filter these by error levels</a:t>
            </a:r>
          </a:p>
          <a:p>
            <a:pPr marL="285750" indent="-285750">
              <a:spcAft>
                <a:spcPts val="300"/>
              </a:spcAft>
              <a:buFont typeface="Arial" panose="020B0604020202020204" pitchFamily="34" charset="0"/>
              <a:buChar char="•"/>
            </a:pPr>
            <a:r>
              <a:rPr lang="en-US" sz="2200" b="1" dirty="0">
                <a:solidFill>
                  <a:srgbClr val="016357"/>
                </a:solidFill>
                <a:latin typeface="Calibri" panose="020F0502020204030204" pitchFamily="34" charset="0"/>
                <a:cs typeface="Calibri" panose="020F0502020204030204" pitchFamily="34" charset="0"/>
              </a:rPr>
              <a:t>I can go to and view specific </a:t>
            </a:r>
            <a:r>
              <a:rPr lang="en-US" sz="2200" b="1" dirty="0" smtClean="0">
                <a:solidFill>
                  <a:srgbClr val="016357"/>
                </a:solidFill>
                <a:latin typeface="Calibri" panose="020F0502020204030204" pitchFamily="34" charset="0"/>
                <a:cs typeface="Calibri" panose="020F0502020204030204" pitchFamily="34" charset="0"/>
              </a:rPr>
              <a:t>errors</a:t>
            </a:r>
          </a:p>
          <a:p>
            <a:pPr marL="285750" indent="-285750">
              <a:spcAft>
                <a:spcPts val="300"/>
              </a:spcAft>
              <a:buFont typeface="Arial" panose="020B0604020202020204" pitchFamily="34" charset="0"/>
              <a:buChar char="•"/>
            </a:pPr>
            <a:endParaRPr lang="en-US" sz="2200" b="1" dirty="0" smtClean="0">
              <a:solidFill>
                <a:srgbClr val="016357"/>
              </a:solidFill>
              <a:latin typeface="Calibri" panose="020F0502020204030204" pitchFamily="34" charset="0"/>
              <a:cs typeface="Calibri" panose="020F0502020204030204" pitchFamily="34" charset="0"/>
            </a:endParaRPr>
          </a:p>
          <a:p>
            <a:pPr marL="285750" indent="-285750">
              <a:spcAft>
                <a:spcPts val="300"/>
              </a:spcAft>
              <a:buFont typeface="Arial" panose="020B0604020202020204" pitchFamily="34" charset="0"/>
              <a:buChar char="•"/>
            </a:pPr>
            <a:r>
              <a:rPr lang="en-US" sz="2200" b="1" dirty="0" smtClean="0">
                <a:solidFill>
                  <a:srgbClr val="016357"/>
                </a:solidFill>
                <a:latin typeface="Calibri" panose="020F0502020204030204" pitchFamily="34" charset="0"/>
                <a:cs typeface="Calibri" panose="020F0502020204030204" pitchFamily="34" charset="0"/>
              </a:rPr>
              <a:t>I  </a:t>
            </a:r>
            <a:r>
              <a:rPr lang="en-US" sz="2200" b="1" dirty="0">
                <a:solidFill>
                  <a:srgbClr val="016357"/>
                </a:solidFill>
                <a:latin typeface="Calibri" panose="020F0502020204030204" pitchFamily="34" charset="0"/>
                <a:cs typeface="Calibri" panose="020F0502020204030204" pitchFamily="34" charset="0"/>
              </a:rPr>
              <a:t>can see overall loading Statistics for reporting data </a:t>
            </a:r>
            <a:r>
              <a:rPr lang="en-US" sz="2200" b="1" dirty="0" smtClean="0">
                <a:solidFill>
                  <a:srgbClr val="016357"/>
                </a:solidFill>
                <a:latin typeface="Calibri" panose="020F0502020204030204" pitchFamily="34" charset="0"/>
                <a:cs typeface="Calibri" panose="020F0502020204030204" pitchFamily="34" charset="0"/>
              </a:rPr>
              <a:t>sets</a:t>
            </a:r>
            <a:endParaRPr lang="en-US" sz="2200" b="1" dirty="0">
              <a:solidFill>
                <a:srgbClr val="016357"/>
              </a:solidFill>
              <a:latin typeface="Calibri" panose="020F0502020204030204" pitchFamily="34" charset="0"/>
              <a:cs typeface="Calibri" panose="020F0502020204030204" pitchFamily="34" charset="0"/>
            </a:endParaRPr>
          </a:p>
        </p:txBody>
      </p:sp>
      <p:sp>
        <p:nvSpPr>
          <p:cNvPr id="6" name="Rectángulo 5"/>
          <p:cNvSpPr/>
          <p:nvPr/>
        </p:nvSpPr>
        <p:spPr>
          <a:xfrm>
            <a:off x="4859792" y="981075"/>
            <a:ext cx="6528644" cy="830997"/>
          </a:xfrm>
          <a:prstGeom prst="rect">
            <a:avLst/>
          </a:prstGeom>
        </p:spPr>
        <p:txBody>
          <a:bodyPr wrap="square">
            <a:spAutoFit/>
          </a:bodyPr>
          <a:lstStyle/>
          <a:p>
            <a:r>
              <a:rPr lang="en-US" sz="2400" b="1" kern="50" dirty="0">
                <a:solidFill>
                  <a:srgbClr val="008173"/>
                </a:solidFill>
                <a:latin typeface="Calibri" panose="020F0502020204030204" pitchFamily="34" charset="0"/>
                <a:ea typeface="Times New Roman" panose="02020603050405020304" pitchFamily="18" charset="0"/>
                <a:cs typeface="Calibri" panose="020F0502020204030204" pitchFamily="34" charset="0"/>
              </a:rPr>
              <a:t>Demo Step </a:t>
            </a:r>
            <a:r>
              <a:rPr lang="en-US" sz="2400" b="1" kern="50" dirty="0" smtClean="0">
                <a:solidFill>
                  <a:srgbClr val="008173"/>
                </a:solidFill>
                <a:latin typeface="Calibri" panose="020F0502020204030204" pitchFamily="34" charset="0"/>
                <a:ea typeface="Times New Roman" panose="02020603050405020304" pitchFamily="18" charset="0"/>
                <a:cs typeface="Calibri" panose="020F0502020204030204" pitchFamily="34" charset="0"/>
              </a:rPr>
              <a:t>6 Features </a:t>
            </a:r>
            <a:r>
              <a:rPr lang="en-US" sz="2400" b="1" kern="50" dirty="0" smtClean="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 </a:t>
            </a:r>
            <a:r>
              <a:rPr lang="en-US" sz="2400" b="1" kern="50" dirty="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Role </a:t>
            </a:r>
            <a:r>
              <a:rPr lang="en-US" sz="2400" b="1" kern="50" dirty="0">
                <a:solidFill>
                  <a:srgbClr val="C00000"/>
                </a:solidFill>
                <a:latin typeface="Calibri" panose="020F0502020204030204" pitchFamily="34" charset="0"/>
                <a:ea typeface="Times New Roman" panose="02020603050405020304" pitchFamily="18" charset="0"/>
                <a:cs typeface="Calibri" panose="020F0502020204030204" pitchFamily="34" charset="0"/>
              </a:rPr>
              <a:t>Data Custodian </a:t>
            </a:r>
            <a:r>
              <a:rPr lang="en-US" sz="2400" b="1" kern="50" dirty="0" smtClean="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(View Reporting </a:t>
            </a:r>
            <a:r>
              <a:rPr lang="en-US" sz="2400" b="1" kern="50" dirty="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Data, Validations, Dashboards)</a:t>
            </a:r>
          </a:p>
        </p:txBody>
      </p:sp>
      <p:pic>
        <p:nvPicPr>
          <p:cNvPr id="7" name="Imagen 6"/>
          <p:cNvPicPr>
            <a:picLocks noChangeAspect="1"/>
          </p:cNvPicPr>
          <p:nvPr/>
        </p:nvPicPr>
        <p:blipFill>
          <a:blip r:embed="rId2"/>
          <a:stretch>
            <a:fillRect/>
          </a:stretch>
        </p:blipFill>
        <p:spPr>
          <a:xfrm>
            <a:off x="266700" y="988390"/>
            <a:ext cx="4354890" cy="5666400"/>
          </a:xfrm>
          <a:prstGeom prst="rect">
            <a:avLst/>
          </a:prstGeom>
        </p:spPr>
      </p:pic>
      <p:sp>
        <p:nvSpPr>
          <p:cNvPr id="22" name="Paralelogramo 21"/>
          <p:cNvSpPr/>
          <p:nvPr/>
        </p:nvSpPr>
        <p:spPr>
          <a:xfrm>
            <a:off x="384133"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a:solidFill>
                  <a:schemeClr val="bg1">
                    <a:lumMod val="50000"/>
                  </a:schemeClr>
                </a:solidFill>
              </a:rPr>
              <a:t>S</a:t>
            </a:r>
            <a:r>
              <a:rPr lang="en-GB" sz="1600" b="1" dirty="0" smtClean="0">
                <a:solidFill>
                  <a:schemeClr val="bg1">
                    <a:lumMod val="50000"/>
                  </a:schemeClr>
                </a:solidFill>
              </a:rPr>
              <a:t>tep 4 </a:t>
            </a:r>
          </a:p>
          <a:p>
            <a:pPr algn="ctr"/>
            <a:r>
              <a:rPr lang="en-GB" sz="1600" b="1" dirty="0" smtClean="0">
                <a:solidFill>
                  <a:schemeClr val="bg1">
                    <a:lumMod val="50000"/>
                  </a:schemeClr>
                </a:solidFill>
              </a:rPr>
              <a:t>CUSTODIAN</a:t>
            </a:r>
            <a:endParaRPr lang="en-GB" sz="1600" b="1" dirty="0">
              <a:solidFill>
                <a:schemeClr val="bg1">
                  <a:lumMod val="50000"/>
                </a:schemeClr>
              </a:solidFill>
            </a:endParaRPr>
          </a:p>
        </p:txBody>
      </p:sp>
      <p:sp>
        <p:nvSpPr>
          <p:cNvPr id="23" name="Paralelogramo 22"/>
          <p:cNvSpPr/>
          <p:nvPr/>
        </p:nvSpPr>
        <p:spPr>
          <a:xfrm>
            <a:off x="2262406"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a:solidFill>
                  <a:srgbClr val="016357"/>
                </a:solidFill>
              </a:rPr>
              <a:t>Step </a:t>
            </a:r>
            <a:r>
              <a:rPr lang="en-GB" sz="1600" b="1" dirty="0" smtClean="0">
                <a:solidFill>
                  <a:srgbClr val="016357"/>
                </a:solidFill>
              </a:rPr>
              <a:t>6 </a:t>
            </a:r>
            <a:endParaRPr lang="en-GB" sz="1600" b="1" dirty="0">
              <a:solidFill>
                <a:srgbClr val="016357"/>
              </a:solidFill>
            </a:endParaRPr>
          </a:p>
          <a:p>
            <a:pPr algn="ctr"/>
            <a:r>
              <a:rPr lang="en-GB" sz="1600" b="1" dirty="0">
                <a:solidFill>
                  <a:srgbClr val="C00000"/>
                </a:solidFill>
              </a:rPr>
              <a:t>CUSTODIAN</a:t>
            </a:r>
          </a:p>
        </p:txBody>
      </p:sp>
      <p:sp>
        <p:nvSpPr>
          <p:cNvPr id="24" name="Paralelogramo 23"/>
          <p:cNvSpPr/>
          <p:nvPr/>
        </p:nvSpPr>
        <p:spPr>
          <a:xfrm>
            <a:off x="4140679"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a:solidFill>
                  <a:schemeClr val="bg1">
                    <a:lumMod val="50000"/>
                  </a:schemeClr>
                </a:solidFill>
              </a:rPr>
              <a:t>Step 6 </a:t>
            </a:r>
          </a:p>
          <a:p>
            <a:pPr algn="ctr"/>
            <a:r>
              <a:rPr lang="en-GB" sz="1600" b="1" dirty="0" smtClean="0">
                <a:solidFill>
                  <a:schemeClr val="bg1">
                    <a:lumMod val="50000"/>
                  </a:schemeClr>
                </a:solidFill>
              </a:rPr>
              <a:t>REPORTER</a:t>
            </a:r>
            <a:endParaRPr lang="en-GB" sz="1600" b="1" dirty="0">
              <a:solidFill>
                <a:schemeClr val="bg1">
                  <a:lumMod val="50000"/>
                </a:schemeClr>
              </a:solidFill>
            </a:endParaRPr>
          </a:p>
        </p:txBody>
      </p:sp>
    </p:spTree>
    <p:extLst>
      <p:ext uri="{BB962C8B-B14F-4D97-AF65-F5344CB8AC3E}">
        <p14:creationId xmlns:p14="http://schemas.microsoft.com/office/powerpoint/2010/main" val="8504249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6</a:t>
            </a:fld>
            <a:endParaRPr lang="en-US" dirty="0">
              <a:solidFill>
                <a:schemeClr val="bg1"/>
              </a:solidFill>
            </a:endParaRPr>
          </a:p>
        </p:txBody>
      </p:sp>
      <p:sp>
        <p:nvSpPr>
          <p:cNvPr id="79" name="Rectángulo 78"/>
          <p:cNvSpPr/>
          <p:nvPr/>
        </p:nvSpPr>
        <p:spPr>
          <a:xfrm>
            <a:off x="266700" y="66260"/>
            <a:ext cx="11949120" cy="584775"/>
          </a:xfrm>
          <a:prstGeom prst="rect">
            <a:avLst/>
          </a:prstGeom>
        </p:spPr>
        <p:txBody>
          <a:bodyPr wrap="square" lIns="36000">
            <a:spAutoFit/>
          </a:bodyPr>
          <a:lstStyle/>
          <a:p>
            <a:pPr algn="r">
              <a:spcBef>
                <a:spcPts val="300"/>
              </a:spcBef>
              <a:spcAft>
                <a:spcPts val="300"/>
              </a:spcAft>
            </a:pPr>
            <a:r>
              <a:rPr lang="en-US" sz="3200" dirty="0" smtClean="0">
                <a:solidFill>
                  <a:schemeClr val="bg1"/>
                </a:solidFill>
                <a:latin typeface="Calibri" panose="020F0502020204030204" pitchFamily="34" charset="0"/>
              </a:rPr>
              <a:t>DEMO Latest Features</a:t>
            </a:r>
            <a:endParaRPr lang="en-US" sz="3200" dirty="0">
              <a:solidFill>
                <a:schemeClr val="bg1"/>
              </a:solidFill>
              <a:latin typeface="Calibri" panose="020F0502020204030204" pitchFamily="34" charset="0"/>
            </a:endParaRPr>
          </a:p>
        </p:txBody>
      </p:sp>
      <p:sp>
        <p:nvSpPr>
          <p:cNvPr id="4" name="Rectángulo redondeado 3"/>
          <p:cNvSpPr/>
          <p:nvPr/>
        </p:nvSpPr>
        <p:spPr>
          <a:xfrm>
            <a:off x="4859792" y="1968285"/>
            <a:ext cx="6946128" cy="4195686"/>
          </a:xfrm>
          <a:prstGeom prst="roundRect">
            <a:avLst>
              <a:gd name="adj" fmla="val 2973"/>
            </a:avLst>
          </a:prstGeom>
          <a:solidFill>
            <a:schemeClr val="bg1"/>
          </a:solidFill>
          <a:ln>
            <a:solidFill>
              <a:srgbClr val="0163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Aft>
                <a:spcPts val="300"/>
              </a:spcAft>
              <a:buFont typeface="Arial" panose="020B0604020202020204" pitchFamily="34" charset="0"/>
              <a:buChar char="•"/>
            </a:pPr>
            <a:r>
              <a:rPr lang="en-US" sz="2200" b="1" dirty="0">
                <a:solidFill>
                  <a:srgbClr val="016357"/>
                </a:solidFill>
                <a:latin typeface="Calibri" panose="020F0502020204030204" pitchFamily="34" charset="0"/>
                <a:cs typeface="Calibri" panose="020F0502020204030204" pitchFamily="34" charset="0"/>
              </a:rPr>
              <a:t>Login as a </a:t>
            </a:r>
            <a:r>
              <a:rPr lang="en-US" sz="2200" b="1" dirty="0">
                <a:solidFill>
                  <a:srgbClr val="C00000"/>
                </a:solidFill>
                <a:latin typeface="Calibri" panose="020F0502020204030204" pitchFamily="34" charset="0"/>
                <a:cs typeface="Calibri" panose="020F0502020204030204" pitchFamily="34" charset="0"/>
              </a:rPr>
              <a:t>Data </a:t>
            </a:r>
            <a:r>
              <a:rPr lang="en-US" sz="2200" b="1" dirty="0" smtClean="0">
                <a:solidFill>
                  <a:srgbClr val="C00000"/>
                </a:solidFill>
                <a:latin typeface="Calibri" panose="020F0502020204030204" pitchFamily="34" charset="0"/>
                <a:cs typeface="Calibri" panose="020F0502020204030204" pitchFamily="34" charset="0"/>
              </a:rPr>
              <a:t>Reporter</a:t>
            </a:r>
            <a:endParaRPr lang="en-US" sz="2200" b="1" dirty="0">
              <a:solidFill>
                <a:srgbClr val="C00000"/>
              </a:solidFill>
              <a:latin typeface="Calibri" panose="020F0502020204030204" pitchFamily="34" charset="0"/>
              <a:cs typeface="Calibri" panose="020F0502020204030204" pitchFamily="34" charset="0"/>
            </a:endParaRPr>
          </a:p>
          <a:p>
            <a:pPr marL="285750" indent="-285750">
              <a:spcAft>
                <a:spcPts val="300"/>
              </a:spcAft>
              <a:buFont typeface="Arial" panose="020B0604020202020204" pitchFamily="34" charset="0"/>
              <a:buChar char="•"/>
            </a:pPr>
            <a:r>
              <a:rPr lang="en-US" sz="2200" b="1" dirty="0">
                <a:solidFill>
                  <a:srgbClr val="016357"/>
                </a:solidFill>
                <a:latin typeface="Calibri" panose="020F0502020204030204" pitchFamily="34" charset="0"/>
                <a:cs typeface="Calibri" panose="020F0502020204030204" pitchFamily="34" charset="0"/>
              </a:rPr>
              <a:t>See My </a:t>
            </a:r>
            <a:r>
              <a:rPr lang="en-US" sz="2200" b="1" dirty="0" err="1">
                <a:solidFill>
                  <a:srgbClr val="016357"/>
                </a:solidFill>
                <a:latin typeface="Calibri" panose="020F0502020204030204" pitchFamily="34" charset="0"/>
                <a:cs typeface="Calibri" panose="020F0502020204030204" pitchFamily="34" charset="0"/>
              </a:rPr>
              <a:t>Dataflows</a:t>
            </a:r>
            <a:endParaRPr lang="en-US" sz="2200" b="1" dirty="0">
              <a:solidFill>
                <a:srgbClr val="016357"/>
              </a:solidFill>
              <a:latin typeface="Calibri" panose="020F0502020204030204" pitchFamily="34" charset="0"/>
              <a:cs typeface="Calibri" panose="020F0502020204030204" pitchFamily="34" charset="0"/>
            </a:endParaRPr>
          </a:p>
          <a:p>
            <a:pPr marL="285750" indent="-285750">
              <a:spcAft>
                <a:spcPts val="300"/>
              </a:spcAft>
              <a:buFont typeface="Arial" panose="020B0604020202020204" pitchFamily="34" charset="0"/>
              <a:buChar char="•"/>
            </a:pPr>
            <a:r>
              <a:rPr lang="en-US" sz="2200" b="1" dirty="0" smtClean="0">
                <a:solidFill>
                  <a:srgbClr val="016357"/>
                </a:solidFill>
                <a:latin typeface="Calibri" panose="020F0502020204030204" pitchFamily="34" charset="0"/>
                <a:cs typeface="Calibri" panose="020F0502020204030204" pitchFamily="34" charset="0"/>
              </a:rPr>
              <a:t>Access Dataflow Help (Documents, Web Links, Schema and Errors)</a:t>
            </a:r>
            <a:endParaRPr lang="en-US" sz="2200" b="1" dirty="0">
              <a:solidFill>
                <a:srgbClr val="016357"/>
              </a:solidFill>
              <a:latin typeface="Calibri" panose="020F0502020204030204" pitchFamily="34" charset="0"/>
              <a:cs typeface="Calibri" panose="020F0502020204030204" pitchFamily="34" charset="0"/>
            </a:endParaRPr>
          </a:p>
          <a:p>
            <a:pPr marL="285750" indent="-285750">
              <a:spcAft>
                <a:spcPts val="300"/>
              </a:spcAft>
              <a:buFont typeface="Arial" panose="020B0604020202020204" pitchFamily="34" charset="0"/>
              <a:buChar char="•"/>
            </a:pPr>
            <a:r>
              <a:rPr lang="en-US" sz="2200" b="1" dirty="0" smtClean="0">
                <a:solidFill>
                  <a:srgbClr val="016357"/>
                </a:solidFill>
                <a:latin typeface="Calibri" panose="020F0502020204030204" pitchFamily="34" charset="0"/>
                <a:cs typeface="Calibri" panose="020F0502020204030204" pitchFamily="34" charset="0"/>
              </a:rPr>
              <a:t>Reporting Data Set</a:t>
            </a:r>
          </a:p>
          <a:p>
            <a:pPr marL="742950" lvl="1" indent="-285750">
              <a:spcAft>
                <a:spcPts val="300"/>
              </a:spcAft>
              <a:buFont typeface="Arial" panose="020B0604020202020204" pitchFamily="34" charset="0"/>
              <a:buChar char="•"/>
            </a:pPr>
            <a:r>
              <a:rPr lang="en-US" sz="2200" b="1" dirty="0" smtClean="0">
                <a:solidFill>
                  <a:srgbClr val="016357"/>
                </a:solidFill>
                <a:latin typeface="Calibri" panose="020F0502020204030204" pitchFamily="34" charset="0"/>
                <a:cs typeface="Calibri" panose="020F0502020204030204" pitchFamily="34" charset="0"/>
              </a:rPr>
              <a:t>Import</a:t>
            </a:r>
          </a:p>
          <a:p>
            <a:pPr marL="742950" lvl="1" indent="-285750">
              <a:spcAft>
                <a:spcPts val="300"/>
              </a:spcAft>
              <a:buFont typeface="Arial" panose="020B0604020202020204" pitchFamily="34" charset="0"/>
              <a:buChar char="•"/>
            </a:pPr>
            <a:r>
              <a:rPr lang="en-US" sz="2200" b="1" dirty="0" smtClean="0">
                <a:solidFill>
                  <a:srgbClr val="016357"/>
                </a:solidFill>
                <a:latin typeface="Calibri" panose="020F0502020204030204" pitchFamily="34" charset="0"/>
                <a:cs typeface="Calibri" panose="020F0502020204030204" pitchFamily="34" charset="0"/>
              </a:rPr>
              <a:t>Export</a:t>
            </a:r>
          </a:p>
          <a:p>
            <a:pPr marL="742950" lvl="1" indent="-285750">
              <a:spcAft>
                <a:spcPts val="300"/>
              </a:spcAft>
              <a:buFont typeface="Arial" panose="020B0604020202020204" pitchFamily="34" charset="0"/>
              <a:buChar char="•"/>
            </a:pPr>
            <a:r>
              <a:rPr lang="en-US" sz="2200" b="1" dirty="0" smtClean="0">
                <a:solidFill>
                  <a:srgbClr val="016357"/>
                </a:solidFill>
                <a:latin typeface="Calibri" panose="020F0502020204030204" pitchFamily="34" charset="0"/>
                <a:cs typeface="Calibri" panose="020F0502020204030204" pitchFamily="34" charset="0"/>
              </a:rPr>
              <a:t>Show Hide – Columns (Data Grid)</a:t>
            </a:r>
          </a:p>
          <a:p>
            <a:pPr marL="742950" lvl="1" indent="-285750">
              <a:spcAft>
                <a:spcPts val="300"/>
              </a:spcAft>
              <a:buFont typeface="Arial" panose="020B0604020202020204" pitchFamily="34" charset="0"/>
              <a:buChar char="•"/>
            </a:pPr>
            <a:r>
              <a:rPr lang="en-US" sz="2200" b="1" dirty="0" smtClean="0">
                <a:solidFill>
                  <a:srgbClr val="016357"/>
                </a:solidFill>
                <a:latin typeface="Calibri" panose="020F0502020204030204" pitchFamily="34" charset="0"/>
                <a:cs typeface="Calibri" panose="020F0502020204030204" pitchFamily="34" charset="0"/>
              </a:rPr>
              <a:t>Apply Validation Filters</a:t>
            </a:r>
          </a:p>
          <a:p>
            <a:pPr marL="742950" lvl="1" indent="-285750">
              <a:spcAft>
                <a:spcPts val="300"/>
              </a:spcAft>
              <a:buFont typeface="Arial" panose="020B0604020202020204" pitchFamily="34" charset="0"/>
              <a:buChar char="•"/>
            </a:pPr>
            <a:r>
              <a:rPr lang="en-US" sz="2200" b="1" dirty="0" smtClean="0">
                <a:solidFill>
                  <a:srgbClr val="016357"/>
                </a:solidFill>
                <a:latin typeface="Calibri" panose="020F0502020204030204" pitchFamily="34" charset="0"/>
                <a:cs typeface="Calibri" panose="020F0502020204030204" pitchFamily="34" charset="0"/>
              </a:rPr>
              <a:t>View Dashboards</a:t>
            </a:r>
          </a:p>
        </p:txBody>
      </p:sp>
      <p:sp>
        <p:nvSpPr>
          <p:cNvPr id="6" name="Rectángulo 5"/>
          <p:cNvSpPr/>
          <p:nvPr/>
        </p:nvSpPr>
        <p:spPr>
          <a:xfrm>
            <a:off x="4859792" y="988390"/>
            <a:ext cx="6314889" cy="830997"/>
          </a:xfrm>
          <a:prstGeom prst="rect">
            <a:avLst/>
          </a:prstGeom>
        </p:spPr>
        <p:txBody>
          <a:bodyPr wrap="square">
            <a:spAutoFit/>
          </a:bodyPr>
          <a:lstStyle/>
          <a:p>
            <a:r>
              <a:rPr lang="en-US" sz="2400" b="1" kern="50" dirty="0">
                <a:solidFill>
                  <a:srgbClr val="008173"/>
                </a:solidFill>
                <a:latin typeface="Calibri" panose="020F0502020204030204" pitchFamily="34" charset="0"/>
                <a:ea typeface="Times New Roman" panose="02020603050405020304" pitchFamily="18" charset="0"/>
                <a:cs typeface="Calibri" panose="020F0502020204030204" pitchFamily="34" charset="0"/>
              </a:rPr>
              <a:t>Demo Step 6</a:t>
            </a:r>
            <a:r>
              <a:rPr lang="en-US" sz="2400" b="1" kern="50" dirty="0" smtClean="0">
                <a:solidFill>
                  <a:srgbClr val="008173"/>
                </a:solidFill>
                <a:latin typeface="Calibri" panose="020F0502020204030204" pitchFamily="34" charset="0"/>
                <a:ea typeface="Times New Roman" panose="02020603050405020304" pitchFamily="18" charset="0"/>
                <a:cs typeface="Calibri" panose="020F0502020204030204" pitchFamily="34" charset="0"/>
              </a:rPr>
              <a:t> Features </a:t>
            </a:r>
            <a:r>
              <a:rPr lang="en-US" sz="2400" b="1" kern="50" dirty="0" smtClean="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 </a:t>
            </a:r>
            <a:r>
              <a:rPr lang="en-US" sz="2400" b="1" kern="50" dirty="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Role </a:t>
            </a:r>
            <a:r>
              <a:rPr lang="en-US" sz="2400" b="1" kern="50" dirty="0">
                <a:solidFill>
                  <a:srgbClr val="C00000"/>
                </a:solidFill>
                <a:latin typeface="Calibri" panose="020F0502020204030204" pitchFamily="34" charset="0"/>
                <a:ea typeface="Times New Roman" panose="02020603050405020304" pitchFamily="18" charset="0"/>
                <a:cs typeface="Calibri" panose="020F0502020204030204" pitchFamily="34" charset="0"/>
              </a:rPr>
              <a:t>Data </a:t>
            </a:r>
            <a:r>
              <a:rPr lang="en-US" sz="2400" b="1" kern="50" dirty="0" smtClean="0">
                <a:solidFill>
                  <a:srgbClr val="C00000"/>
                </a:solidFill>
                <a:latin typeface="Calibri" panose="020F0502020204030204" pitchFamily="34" charset="0"/>
                <a:ea typeface="Times New Roman" panose="02020603050405020304" pitchFamily="18" charset="0"/>
                <a:cs typeface="Calibri" panose="020F0502020204030204" pitchFamily="34" charset="0"/>
              </a:rPr>
              <a:t>Reporter </a:t>
            </a:r>
            <a:r>
              <a:rPr lang="en-US" sz="2400" b="1" kern="50" dirty="0" smtClean="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rPr>
              <a:t>(Data Flow Help and Reporting Dataset)</a:t>
            </a:r>
            <a:endParaRPr lang="en-US" sz="2400" b="1" kern="50" dirty="0">
              <a:solidFill>
                <a:schemeClr val="accent1">
                  <a:lumMod val="50000"/>
                </a:schemeClr>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7" name="Imagen 6"/>
          <p:cNvPicPr>
            <a:picLocks noChangeAspect="1"/>
          </p:cNvPicPr>
          <p:nvPr/>
        </p:nvPicPr>
        <p:blipFill>
          <a:blip r:embed="rId2"/>
          <a:stretch>
            <a:fillRect/>
          </a:stretch>
        </p:blipFill>
        <p:spPr>
          <a:xfrm>
            <a:off x="266700" y="988390"/>
            <a:ext cx="4354890" cy="5666400"/>
          </a:xfrm>
          <a:prstGeom prst="rect">
            <a:avLst/>
          </a:prstGeom>
        </p:spPr>
      </p:pic>
      <p:sp>
        <p:nvSpPr>
          <p:cNvPr id="8" name="Paralelogramo 7"/>
          <p:cNvSpPr/>
          <p:nvPr/>
        </p:nvSpPr>
        <p:spPr>
          <a:xfrm>
            <a:off x="334963"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a:solidFill>
                  <a:schemeClr val="bg1">
                    <a:lumMod val="50000"/>
                  </a:schemeClr>
                </a:solidFill>
              </a:rPr>
              <a:t>S</a:t>
            </a:r>
            <a:r>
              <a:rPr lang="en-GB" sz="1600" b="1" dirty="0" smtClean="0">
                <a:solidFill>
                  <a:schemeClr val="bg1">
                    <a:lumMod val="50000"/>
                  </a:schemeClr>
                </a:solidFill>
              </a:rPr>
              <a:t>tep 4 </a:t>
            </a:r>
          </a:p>
          <a:p>
            <a:pPr algn="ctr"/>
            <a:r>
              <a:rPr lang="en-GB" sz="1600" b="1" dirty="0" smtClean="0">
                <a:solidFill>
                  <a:schemeClr val="bg1">
                    <a:lumMod val="50000"/>
                  </a:schemeClr>
                </a:solidFill>
              </a:rPr>
              <a:t>CUSTODIAN</a:t>
            </a:r>
            <a:endParaRPr lang="en-GB" sz="1600" b="1" dirty="0">
              <a:solidFill>
                <a:schemeClr val="bg1">
                  <a:lumMod val="50000"/>
                </a:schemeClr>
              </a:solidFill>
            </a:endParaRPr>
          </a:p>
        </p:txBody>
      </p:sp>
      <p:sp>
        <p:nvSpPr>
          <p:cNvPr id="9" name="Paralelogramo 8"/>
          <p:cNvSpPr/>
          <p:nvPr/>
        </p:nvSpPr>
        <p:spPr>
          <a:xfrm>
            <a:off x="2213236"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a:solidFill>
                  <a:schemeClr val="bg1">
                    <a:lumMod val="50000"/>
                  </a:schemeClr>
                </a:solidFill>
              </a:rPr>
              <a:t>Step 6 </a:t>
            </a:r>
          </a:p>
          <a:p>
            <a:pPr algn="ctr"/>
            <a:r>
              <a:rPr lang="en-GB" sz="1600" b="1" dirty="0">
                <a:solidFill>
                  <a:schemeClr val="bg1">
                    <a:lumMod val="50000"/>
                  </a:schemeClr>
                </a:solidFill>
              </a:rPr>
              <a:t>CUSTODIAN</a:t>
            </a:r>
          </a:p>
        </p:txBody>
      </p:sp>
      <p:sp>
        <p:nvSpPr>
          <p:cNvPr id="10" name="Paralelogramo 9"/>
          <p:cNvSpPr/>
          <p:nvPr/>
        </p:nvSpPr>
        <p:spPr>
          <a:xfrm>
            <a:off x="4091509"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a:solidFill>
                  <a:srgbClr val="016357"/>
                </a:solidFill>
              </a:rPr>
              <a:t>Step 6 </a:t>
            </a:r>
          </a:p>
          <a:p>
            <a:pPr algn="ctr"/>
            <a:r>
              <a:rPr lang="en-GB" sz="1600" b="1" dirty="0" smtClean="0">
                <a:solidFill>
                  <a:srgbClr val="C00000"/>
                </a:solidFill>
              </a:rPr>
              <a:t>REPORTER</a:t>
            </a:r>
            <a:endParaRPr lang="en-GB" sz="1600" b="1" dirty="0">
              <a:solidFill>
                <a:srgbClr val="C00000"/>
              </a:solidFill>
            </a:endParaRPr>
          </a:p>
        </p:txBody>
      </p:sp>
    </p:spTree>
    <p:extLst>
      <p:ext uri="{BB962C8B-B14F-4D97-AF65-F5344CB8AC3E}">
        <p14:creationId xmlns:p14="http://schemas.microsoft.com/office/powerpoint/2010/main" val="16699887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7</a:t>
            </a:fld>
            <a:endParaRPr lang="en-US" dirty="0">
              <a:solidFill>
                <a:schemeClr val="bg1"/>
              </a:solidFill>
            </a:endParaRPr>
          </a:p>
        </p:txBody>
      </p:sp>
      <p:sp>
        <p:nvSpPr>
          <p:cNvPr id="11" name="Rectángulo 10"/>
          <p:cNvSpPr/>
          <p:nvPr/>
        </p:nvSpPr>
        <p:spPr>
          <a:xfrm>
            <a:off x="1204778" y="66260"/>
            <a:ext cx="10858642" cy="646331"/>
          </a:xfrm>
          <a:prstGeom prst="rect">
            <a:avLst/>
          </a:prstGeom>
        </p:spPr>
        <p:txBody>
          <a:bodyPr wrap="square">
            <a:spAutoFit/>
          </a:bodyPr>
          <a:lstStyle/>
          <a:p>
            <a:pPr algn="r">
              <a:spcBef>
                <a:spcPts val="300"/>
              </a:spcBef>
              <a:spcAft>
                <a:spcPts val="300"/>
              </a:spcAft>
            </a:pPr>
            <a:r>
              <a:rPr lang="en-US" sz="3600" dirty="0">
                <a:solidFill>
                  <a:schemeClr val="bg1"/>
                </a:solidFill>
                <a:latin typeface="Calibri" panose="020F0502020204030204" pitchFamily="34" charset="0"/>
              </a:rPr>
              <a:t>Update on the </a:t>
            </a:r>
            <a:r>
              <a:rPr lang="en-US" sz="3600" dirty="0" smtClean="0">
                <a:solidFill>
                  <a:schemeClr val="bg1"/>
                </a:solidFill>
                <a:latin typeface="Calibri" panose="020F0502020204030204" pitchFamily="34" charset="0"/>
              </a:rPr>
              <a:t>Architecture and SW </a:t>
            </a:r>
            <a:r>
              <a:rPr lang="en-US" sz="3600" dirty="0">
                <a:solidFill>
                  <a:schemeClr val="bg1"/>
                </a:solidFill>
                <a:latin typeface="Calibri" panose="020F0502020204030204" pitchFamily="34" charset="0"/>
              </a:rPr>
              <a:t>D</a:t>
            </a:r>
            <a:r>
              <a:rPr lang="en-US" sz="3600" dirty="0" smtClean="0">
                <a:solidFill>
                  <a:schemeClr val="bg1"/>
                </a:solidFill>
                <a:latin typeface="Calibri" panose="020F0502020204030204" pitchFamily="34" charset="0"/>
              </a:rPr>
              <a:t>evelopment</a:t>
            </a:r>
            <a:endParaRPr lang="es-ES" sz="3600" kern="50" dirty="0">
              <a:solidFill>
                <a:schemeClr val="bg1"/>
              </a:solidFill>
              <a:latin typeface="Verdana" panose="020B0604030504040204" pitchFamily="34" charset="0"/>
              <a:ea typeface="Times New Roman" panose="02020603050405020304" pitchFamily="18" charset="0"/>
              <a:cs typeface="CG Times (W1)"/>
            </a:endParaRPr>
          </a:p>
        </p:txBody>
      </p:sp>
      <p:sp>
        <p:nvSpPr>
          <p:cNvPr id="12" name="Rectángulo 11"/>
          <p:cNvSpPr/>
          <p:nvPr/>
        </p:nvSpPr>
        <p:spPr>
          <a:xfrm>
            <a:off x="355409" y="1232261"/>
            <a:ext cx="8602612" cy="3693319"/>
          </a:xfrm>
          <a:prstGeom prst="rect">
            <a:avLst/>
          </a:prstGeom>
          <a:ln>
            <a:noFill/>
          </a:ln>
        </p:spPr>
        <p:txBody>
          <a:bodyPr wrap="square">
            <a:spAutoFit/>
          </a:bodyPr>
          <a:lstStyle/>
          <a:p>
            <a:pPr>
              <a:spcBef>
                <a:spcPts val="600"/>
              </a:spcBef>
              <a:spcAft>
                <a:spcPts val="600"/>
              </a:spcAft>
            </a:pPr>
            <a:r>
              <a:rPr lang="en-US" sz="24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Update Software Development and System Architecture</a:t>
            </a:r>
            <a:endParaRPr lang="en-US" sz="24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a:p>
            <a:pPr marL="800100" lvl="1" indent="-342900">
              <a:spcBef>
                <a:spcPts val="600"/>
              </a:spcBef>
              <a:spcAft>
                <a:spcPts val="600"/>
              </a:spcAft>
              <a:buFont typeface="Symbol" panose="05050102010706020507" pitchFamily="18" charset="2"/>
              <a:buChar char=""/>
            </a:pPr>
            <a:r>
              <a:rPr lang="en-US" sz="20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Software </a:t>
            </a:r>
            <a:r>
              <a:rPr lang="en-US" sz="20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Architecture – Evolution and Implementation</a:t>
            </a:r>
          </a:p>
          <a:p>
            <a:pPr marL="800100" lvl="1" indent="-342900">
              <a:spcBef>
                <a:spcPts val="600"/>
              </a:spcBef>
              <a:spcAft>
                <a:spcPts val="600"/>
              </a:spcAft>
              <a:buFont typeface="Symbol" panose="05050102010706020507" pitchFamily="18" charset="2"/>
              <a:buChar char=""/>
            </a:pPr>
            <a:r>
              <a:rPr lang="en-US" sz="20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ROD </a:t>
            </a:r>
            <a:r>
              <a:rPr lang="en-US" sz="20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3.1</a:t>
            </a:r>
          </a:p>
          <a:p>
            <a:pPr marL="800100" lvl="1" indent="-342900">
              <a:spcBef>
                <a:spcPts val="600"/>
              </a:spcBef>
              <a:spcAft>
                <a:spcPts val="600"/>
              </a:spcAft>
              <a:buFont typeface="Symbol" panose="05050102010706020507" pitchFamily="18" charset="2"/>
              <a:buChar char=""/>
            </a:pPr>
            <a:r>
              <a:rPr lang="en-US" sz="20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UNS </a:t>
            </a:r>
            <a:r>
              <a:rPr lang="en-US" sz="20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3.0</a:t>
            </a:r>
          </a:p>
          <a:p>
            <a:pPr marL="800100" lvl="1" indent="-342900">
              <a:spcBef>
                <a:spcPts val="600"/>
              </a:spcBef>
              <a:spcAft>
                <a:spcPts val="600"/>
              </a:spcAft>
              <a:buFont typeface="Symbol" panose="05050102010706020507" pitchFamily="18" charset="2"/>
              <a:buChar char=""/>
            </a:pPr>
            <a:r>
              <a:rPr lang="en-US" sz="20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System </a:t>
            </a:r>
            <a:r>
              <a:rPr lang="en-US" sz="20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and Architecture Updates</a:t>
            </a:r>
          </a:p>
          <a:p>
            <a:pPr marL="800100" lvl="1" indent="-342900">
              <a:spcBef>
                <a:spcPts val="600"/>
              </a:spcBef>
              <a:spcAft>
                <a:spcPts val="600"/>
              </a:spcAft>
              <a:buFont typeface="Symbol" panose="05050102010706020507" pitchFamily="18" charset="2"/>
              <a:buChar char=""/>
            </a:pPr>
            <a:r>
              <a:rPr lang="en-US" sz="20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SW </a:t>
            </a:r>
            <a:r>
              <a:rPr lang="en-US" sz="20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Development focus Release Candidate 1</a:t>
            </a:r>
          </a:p>
          <a:p>
            <a:pPr marL="800100" lvl="1" indent="-342900">
              <a:spcBef>
                <a:spcPts val="600"/>
              </a:spcBef>
              <a:spcAft>
                <a:spcPts val="600"/>
              </a:spcAft>
              <a:buFont typeface="Symbol" panose="05050102010706020507" pitchFamily="18" charset="2"/>
              <a:buChar char=""/>
            </a:pPr>
            <a:r>
              <a:rPr lang="en-US" sz="20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SW </a:t>
            </a:r>
            <a:r>
              <a:rPr lang="en-US" sz="20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Development focus Release Candidates 2 &amp; 3</a:t>
            </a:r>
          </a:p>
          <a:p>
            <a:pPr marL="800100" lvl="1" indent="-342900">
              <a:spcBef>
                <a:spcPts val="600"/>
              </a:spcBef>
              <a:spcAft>
                <a:spcPts val="600"/>
              </a:spcAft>
              <a:buFont typeface="Symbol" panose="05050102010706020507" pitchFamily="18" charset="2"/>
              <a:buChar char=""/>
            </a:pPr>
            <a:r>
              <a:rPr lang="en-US" sz="20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Other </a:t>
            </a:r>
            <a:r>
              <a:rPr lang="en-US" sz="20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Activities</a:t>
            </a:r>
          </a:p>
        </p:txBody>
      </p:sp>
    </p:spTree>
    <p:extLst>
      <p:ext uri="{BB962C8B-B14F-4D97-AF65-F5344CB8AC3E}">
        <p14:creationId xmlns:p14="http://schemas.microsoft.com/office/powerpoint/2010/main" val="18590926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8</a:t>
            </a:fld>
            <a:endParaRPr lang="en-US" dirty="0">
              <a:solidFill>
                <a:schemeClr val="bg1"/>
              </a:solidFill>
            </a:endParaRPr>
          </a:p>
        </p:txBody>
      </p:sp>
      <p:sp>
        <p:nvSpPr>
          <p:cNvPr id="11" name="Rectángulo 10"/>
          <p:cNvSpPr/>
          <p:nvPr/>
        </p:nvSpPr>
        <p:spPr>
          <a:xfrm>
            <a:off x="1204778" y="66260"/>
            <a:ext cx="10858642" cy="646331"/>
          </a:xfrm>
          <a:prstGeom prst="rect">
            <a:avLst/>
          </a:prstGeom>
        </p:spPr>
        <p:txBody>
          <a:bodyPr wrap="square">
            <a:spAutoFit/>
          </a:bodyPr>
          <a:lstStyle/>
          <a:p>
            <a:pPr algn="r">
              <a:spcBef>
                <a:spcPts val="300"/>
              </a:spcBef>
              <a:spcAft>
                <a:spcPts val="300"/>
              </a:spcAft>
            </a:pPr>
            <a:r>
              <a:rPr lang="en-US" sz="3600" dirty="0">
                <a:solidFill>
                  <a:schemeClr val="bg1"/>
                </a:solidFill>
                <a:latin typeface="Calibri" panose="020F0502020204030204" pitchFamily="34" charset="0"/>
              </a:rPr>
              <a:t>Update on the </a:t>
            </a:r>
            <a:r>
              <a:rPr lang="en-US" sz="3600" dirty="0" smtClean="0">
                <a:solidFill>
                  <a:schemeClr val="bg1"/>
                </a:solidFill>
                <a:latin typeface="Calibri" panose="020F0502020204030204" pitchFamily="34" charset="0"/>
              </a:rPr>
              <a:t>Architecture and SW </a:t>
            </a:r>
            <a:r>
              <a:rPr lang="en-US" sz="3600" dirty="0">
                <a:solidFill>
                  <a:schemeClr val="bg1"/>
                </a:solidFill>
                <a:latin typeface="Calibri" panose="020F0502020204030204" pitchFamily="34" charset="0"/>
              </a:rPr>
              <a:t>D</a:t>
            </a:r>
            <a:r>
              <a:rPr lang="en-US" sz="3600" dirty="0" smtClean="0">
                <a:solidFill>
                  <a:schemeClr val="bg1"/>
                </a:solidFill>
                <a:latin typeface="Calibri" panose="020F0502020204030204" pitchFamily="34" charset="0"/>
              </a:rPr>
              <a:t>evelopment</a:t>
            </a:r>
            <a:endParaRPr lang="es-ES" sz="3600" kern="50" dirty="0">
              <a:solidFill>
                <a:schemeClr val="bg1"/>
              </a:solidFill>
              <a:latin typeface="Verdana" panose="020B0604030504040204" pitchFamily="34" charset="0"/>
              <a:ea typeface="Times New Roman" panose="02020603050405020304" pitchFamily="18" charset="0"/>
              <a:cs typeface="CG Times (W1)"/>
            </a:endParaRPr>
          </a:p>
        </p:txBody>
      </p:sp>
      <p:sp>
        <p:nvSpPr>
          <p:cNvPr id="6" name="Paralelogramo 5"/>
          <p:cNvSpPr/>
          <p:nvPr/>
        </p:nvSpPr>
        <p:spPr>
          <a:xfrm>
            <a:off x="358778"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ROD3 </a:t>
            </a:r>
          </a:p>
          <a:p>
            <a:pPr algn="ctr"/>
            <a:r>
              <a:rPr lang="en-GB" sz="1600" b="1" dirty="0" smtClean="0">
                <a:solidFill>
                  <a:srgbClr val="016357"/>
                </a:solidFill>
              </a:rPr>
              <a:t>STATUS</a:t>
            </a:r>
            <a:endParaRPr lang="en-GB" sz="1600" b="1" dirty="0">
              <a:solidFill>
                <a:srgbClr val="016357"/>
              </a:solidFill>
            </a:endParaRPr>
          </a:p>
        </p:txBody>
      </p:sp>
      <p:grpSp>
        <p:nvGrpSpPr>
          <p:cNvPr id="7" name="Grupo 6"/>
          <p:cNvGrpSpPr/>
          <p:nvPr/>
        </p:nvGrpSpPr>
        <p:grpSpPr>
          <a:xfrm>
            <a:off x="150852" y="968312"/>
            <a:ext cx="11860173" cy="1457438"/>
            <a:chOff x="176252" y="968312"/>
            <a:chExt cx="11860173" cy="1457438"/>
          </a:xfrm>
        </p:grpSpPr>
        <p:sp>
          <p:nvSpPr>
            <p:cNvPr id="8" name="Rectángulo 7"/>
            <p:cNvSpPr/>
            <p:nvPr/>
          </p:nvSpPr>
          <p:spPr>
            <a:xfrm>
              <a:off x="358778" y="968312"/>
              <a:ext cx="11677647" cy="1457438"/>
            </a:xfrm>
            <a:prstGeom prst="rect">
              <a:avLst/>
            </a:prstGeom>
            <a:solidFill>
              <a:schemeClr val="bg1"/>
            </a:solidFill>
            <a:ln w="6350">
              <a:solidFill>
                <a:srgbClr val="016357"/>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p:cNvSpPr/>
            <p:nvPr/>
          </p:nvSpPr>
          <p:spPr>
            <a:xfrm>
              <a:off x="8273117" y="1527591"/>
              <a:ext cx="965859" cy="288000"/>
            </a:xfrm>
            <a:prstGeom prst="rect">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s-ES" sz="1400" dirty="0" smtClean="0"/>
                <a:t>ROD3</a:t>
              </a:r>
              <a:endParaRPr lang="es-ES" sz="1400" dirty="0"/>
            </a:p>
          </p:txBody>
        </p:sp>
        <p:sp>
          <p:nvSpPr>
            <p:cNvPr id="10" name="Rectángulo 9"/>
            <p:cNvSpPr/>
            <p:nvPr/>
          </p:nvSpPr>
          <p:spPr>
            <a:xfrm>
              <a:off x="9368851" y="1429209"/>
              <a:ext cx="1062998" cy="483960"/>
            </a:xfrm>
            <a:prstGeom prst="rect">
              <a:avLst/>
            </a:prstGeom>
          </p:spPr>
          <p:txBody>
            <a:bodyPr wrap="square" lIns="72000" tIns="72000" rIns="72000" bIns="72000">
              <a:spAutoFit/>
            </a:bodyPr>
            <a:lstStyle/>
            <a:p>
              <a:pPr algn="ctr">
                <a:spcBef>
                  <a:spcPts val="300"/>
                </a:spcBef>
                <a:spcAft>
                  <a:spcPts val="300"/>
                </a:spcAft>
              </a:pPr>
              <a:r>
                <a:rPr lang="en-GB" sz="1100"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RO Deadline Notifications</a:t>
              </a:r>
              <a:endParaRPr lang="en-GB" sz="1100"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13" name="Rectángulo 12"/>
            <p:cNvSpPr/>
            <p:nvPr/>
          </p:nvSpPr>
          <p:spPr>
            <a:xfrm>
              <a:off x="8202019" y="1011854"/>
              <a:ext cx="1051809" cy="422405"/>
            </a:xfrm>
            <a:prstGeom prst="rect">
              <a:avLst/>
            </a:prstGeom>
          </p:spPr>
          <p:txBody>
            <a:bodyPr wrap="square" lIns="72000" tIns="72000" rIns="72000" bIns="72000">
              <a:spAutoFit/>
            </a:bodyPr>
            <a:lstStyle/>
            <a:p>
              <a:pPr>
                <a:spcBef>
                  <a:spcPts val="300"/>
                </a:spcBef>
                <a:spcAft>
                  <a:spcPts val="300"/>
                </a:spcAft>
              </a:pPr>
              <a:r>
                <a:rPr lang="en-GB"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For Now:</a:t>
              </a:r>
            </a:p>
          </p:txBody>
        </p:sp>
        <p:sp>
          <p:nvSpPr>
            <p:cNvPr id="14" name="Rectángulo 13"/>
            <p:cNvSpPr/>
            <p:nvPr/>
          </p:nvSpPr>
          <p:spPr>
            <a:xfrm>
              <a:off x="10561723" y="1515716"/>
              <a:ext cx="1282535" cy="288000"/>
            </a:xfrm>
            <a:prstGeom prst="rect">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s-ES" sz="1400" dirty="0"/>
                <a:t>RN2 - UNS2</a:t>
              </a:r>
            </a:p>
          </p:txBody>
        </p:sp>
        <p:cxnSp>
          <p:nvCxnSpPr>
            <p:cNvPr id="15" name="Conector recto de flecha 14"/>
            <p:cNvCxnSpPr>
              <a:stCxn id="9" idx="3"/>
              <a:endCxn id="14" idx="1"/>
            </p:cNvCxnSpPr>
            <p:nvPr/>
          </p:nvCxnSpPr>
          <p:spPr>
            <a:xfrm flipV="1">
              <a:off x="9238976" y="1659716"/>
              <a:ext cx="1322747" cy="11875"/>
            </a:xfrm>
            <a:prstGeom prst="straightConnector1">
              <a:avLst/>
            </a:prstGeom>
            <a:ln>
              <a:solidFill>
                <a:srgbClr val="016357"/>
              </a:solidFill>
              <a:tailEnd type="triangle"/>
            </a:ln>
          </p:spPr>
          <p:style>
            <a:lnRef idx="1">
              <a:schemeClr val="accent1"/>
            </a:lnRef>
            <a:fillRef idx="0">
              <a:schemeClr val="accent1"/>
            </a:fillRef>
            <a:effectRef idx="0">
              <a:schemeClr val="accent1"/>
            </a:effectRef>
            <a:fontRef idx="minor">
              <a:schemeClr val="tx1"/>
            </a:fontRef>
          </p:style>
        </p:cxnSp>
        <p:sp>
          <p:nvSpPr>
            <p:cNvPr id="16" name="Rectángulo 15"/>
            <p:cNvSpPr/>
            <p:nvPr/>
          </p:nvSpPr>
          <p:spPr>
            <a:xfrm>
              <a:off x="639563" y="986052"/>
              <a:ext cx="3497003" cy="1391901"/>
            </a:xfrm>
            <a:prstGeom prst="rect">
              <a:avLst/>
            </a:prstGeom>
            <a:ln>
              <a:noFill/>
            </a:ln>
          </p:spPr>
          <p:txBody>
            <a:bodyPr wrap="square" lIns="72000" tIns="72000" rIns="72000" bIns="72000">
              <a:spAutoFit/>
            </a:bodyPr>
            <a:lstStyle/>
            <a:p>
              <a:pPr>
                <a:spcBef>
                  <a:spcPts val="300"/>
                </a:spcBef>
                <a:spcAft>
                  <a:spcPts val="300"/>
                </a:spcAft>
              </a:pPr>
              <a:r>
                <a:rPr lang="en-GB" sz="16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IN PRODUCTION</a:t>
              </a:r>
            </a:p>
            <a:p>
              <a:pPr>
                <a:spcBef>
                  <a:spcPts val="300"/>
                </a:spcBef>
                <a:spcAft>
                  <a:spcPts val="300"/>
                </a:spcAft>
              </a:pPr>
              <a:r>
                <a:rPr lang="en-GB" sz="1500" kern="50" dirty="0" smtClean="0">
                  <a:latin typeface="Calibri" panose="020F0502020204030204" pitchFamily="34" charset="0"/>
                  <a:ea typeface="Times New Roman" panose="02020603050405020304" pitchFamily="18" charset="0"/>
                  <a:cs typeface="Calibri" panose="020F0502020204030204" pitchFamily="34" charset="0"/>
                </a:rPr>
                <a:t>ROD </a:t>
              </a:r>
              <a:r>
                <a:rPr lang="en-GB" sz="1500" kern="50" dirty="0">
                  <a:latin typeface="Calibri" panose="020F0502020204030204" pitchFamily="34" charset="0"/>
                  <a:ea typeface="Times New Roman" panose="02020603050405020304" pitchFamily="18" charset="0"/>
                  <a:cs typeface="Calibri" panose="020F0502020204030204" pitchFamily="34" charset="0"/>
                </a:rPr>
                <a:t>3.0 has been refactored, it has been structured to allow integration with Reportnet 3.0 via REST API, and has been put into production by </a:t>
              </a:r>
              <a:r>
                <a:rPr lang="en-GB" sz="1500" kern="50" dirty="0" err="1">
                  <a:latin typeface="Calibri" panose="020F0502020204030204" pitchFamily="34" charset="0"/>
                  <a:ea typeface="Times New Roman" panose="02020603050405020304" pitchFamily="18" charset="0"/>
                  <a:cs typeface="Calibri" panose="020F0502020204030204" pitchFamily="34" charset="0"/>
                </a:rPr>
                <a:t>EaudeWeb</a:t>
              </a:r>
              <a:endParaRPr lang="en-GB" sz="1500" kern="50" dirty="0">
                <a:latin typeface="Calibri" panose="020F0502020204030204" pitchFamily="34" charset="0"/>
                <a:ea typeface="Times New Roman" panose="02020603050405020304" pitchFamily="18" charset="0"/>
                <a:cs typeface="Calibri" panose="020F0502020204030204" pitchFamily="34" charset="0"/>
              </a:endParaRPr>
            </a:p>
          </p:txBody>
        </p:sp>
        <p:sp>
          <p:nvSpPr>
            <p:cNvPr id="17" name="Rectángulo 16"/>
            <p:cNvSpPr/>
            <p:nvPr/>
          </p:nvSpPr>
          <p:spPr>
            <a:xfrm>
              <a:off x="4152341" y="982145"/>
              <a:ext cx="3525601" cy="1391901"/>
            </a:xfrm>
            <a:prstGeom prst="rect">
              <a:avLst/>
            </a:prstGeom>
            <a:ln>
              <a:noFill/>
            </a:ln>
          </p:spPr>
          <p:txBody>
            <a:bodyPr wrap="square" lIns="72000" tIns="72000" rIns="72000" bIns="72000">
              <a:spAutoFit/>
            </a:bodyPr>
            <a:lstStyle/>
            <a:p>
              <a:pPr>
                <a:spcBef>
                  <a:spcPts val="300"/>
                </a:spcBef>
                <a:spcAft>
                  <a:spcPts val="300"/>
                </a:spcAft>
              </a:pPr>
              <a:r>
                <a:rPr lang="en-GB" sz="16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SW MAINTENANCE</a:t>
              </a:r>
            </a:p>
            <a:p>
              <a:pPr>
                <a:spcBef>
                  <a:spcPts val="300"/>
                </a:spcBef>
                <a:spcAft>
                  <a:spcPts val="300"/>
                </a:spcAft>
              </a:pPr>
              <a:r>
                <a:rPr lang="en-GB" sz="1500" kern="50" dirty="0" smtClean="0">
                  <a:latin typeface="Calibri" panose="020F0502020204030204" pitchFamily="34" charset="0"/>
                  <a:ea typeface="Times New Roman" panose="02020603050405020304" pitchFamily="18" charset="0"/>
                  <a:cs typeface="Calibri" panose="020F0502020204030204" pitchFamily="34" charset="0"/>
                </a:rPr>
                <a:t>Reportnet </a:t>
              </a:r>
              <a:r>
                <a:rPr lang="en-GB" sz="1500" kern="50" dirty="0">
                  <a:latin typeface="Calibri" panose="020F0502020204030204" pitchFamily="34" charset="0"/>
                  <a:ea typeface="Times New Roman" panose="02020603050405020304" pitchFamily="18" charset="0"/>
                  <a:cs typeface="Calibri" panose="020F0502020204030204" pitchFamily="34" charset="0"/>
                </a:rPr>
                <a:t>3.0 development team will take on Software Maintenance activities for ROD3.0, including pending requirements (registered in TASKMAN)</a:t>
              </a:r>
            </a:p>
          </p:txBody>
        </p:sp>
        <p:sp>
          <p:nvSpPr>
            <p:cNvPr id="18" name="Elipse 17"/>
            <p:cNvSpPr/>
            <p:nvPr/>
          </p:nvSpPr>
          <p:spPr>
            <a:xfrm>
              <a:off x="176252" y="1521594"/>
              <a:ext cx="348342" cy="350875"/>
            </a:xfrm>
            <a:prstGeom prst="ellipse">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s-ES" sz="1400" b="1" dirty="0" smtClean="0"/>
                <a:t>1</a:t>
              </a:r>
              <a:endParaRPr lang="es-ES" sz="1400" b="1" dirty="0"/>
            </a:p>
          </p:txBody>
        </p:sp>
      </p:grpSp>
      <p:grpSp>
        <p:nvGrpSpPr>
          <p:cNvPr id="19" name="Grupo 18"/>
          <p:cNvGrpSpPr/>
          <p:nvPr/>
        </p:nvGrpSpPr>
        <p:grpSpPr>
          <a:xfrm>
            <a:off x="150852" y="2590201"/>
            <a:ext cx="11860173" cy="1457438"/>
            <a:chOff x="176252" y="2590201"/>
            <a:chExt cx="11860173" cy="1457438"/>
          </a:xfrm>
        </p:grpSpPr>
        <p:sp>
          <p:nvSpPr>
            <p:cNvPr id="20" name="Rectángulo 19"/>
            <p:cNvSpPr/>
            <p:nvPr/>
          </p:nvSpPr>
          <p:spPr>
            <a:xfrm>
              <a:off x="358778" y="2590201"/>
              <a:ext cx="11677647" cy="1457438"/>
            </a:xfrm>
            <a:prstGeom prst="rect">
              <a:avLst/>
            </a:prstGeom>
            <a:solidFill>
              <a:schemeClr val="bg1"/>
            </a:solidFill>
            <a:ln w="6350">
              <a:solidFill>
                <a:srgbClr val="016357"/>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p:cNvSpPr/>
            <p:nvPr/>
          </p:nvSpPr>
          <p:spPr>
            <a:xfrm>
              <a:off x="5181242" y="2665272"/>
              <a:ext cx="2141056" cy="422405"/>
            </a:xfrm>
            <a:prstGeom prst="rect">
              <a:avLst/>
            </a:prstGeom>
          </p:spPr>
          <p:txBody>
            <a:bodyPr wrap="square" lIns="72000" tIns="72000" rIns="72000" bIns="72000">
              <a:spAutoFit/>
            </a:bodyPr>
            <a:lstStyle/>
            <a:p>
              <a:pPr>
                <a:spcBef>
                  <a:spcPts val="300"/>
                </a:spcBef>
                <a:spcAft>
                  <a:spcPts val="300"/>
                </a:spcAft>
              </a:pPr>
              <a:r>
                <a:rPr lang="en-GB"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Future Temporary:</a:t>
              </a:r>
              <a:endParaRPr lang="en-GB"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22" name="Rectángulo 21"/>
            <p:cNvSpPr/>
            <p:nvPr/>
          </p:nvSpPr>
          <p:spPr>
            <a:xfrm>
              <a:off x="5291111" y="3152394"/>
              <a:ext cx="965859" cy="288000"/>
            </a:xfrm>
            <a:prstGeom prst="rect">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s-ES" sz="1400" dirty="0"/>
                <a:t>ROD3</a:t>
              </a:r>
            </a:p>
          </p:txBody>
        </p:sp>
        <p:sp>
          <p:nvSpPr>
            <p:cNvPr id="23" name="Rectángulo 22"/>
            <p:cNvSpPr/>
            <p:nvPr/>
          </p:nvSpPr>
          <p:spPr>
            <a:xfrm>
              <a:off x="6757335" y="3151412"/>
              <a:ext cx="1129928" cy="288000"/>
            </a:xfrm>
            <a:prstGeom prst="rect">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s-ES" sz="1400" dirty="0"/>
                <a:t>Micro Proxy</a:t>
              </a:r>
            </a:p>
          </p:txBody>
        </p:sp>
        <p:sp>
          <p:nvSpPr>
            <p:cNvPr id="24" name="Rectángulo 23"/>
            <p:cNvSpPr/>
            <p:nvPr/>
          </p:nvSpPr>
          <p:spPr>
            <a:xfrm>
              <a:off x="9600004" y="2845664"/>
              <a:ext cx="1282535" cy="288000"/>
            </a:xfrm>
            <a:prstGeom prst="rect">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s-ES" sz="1400" dirty="0"/>
                <a:t>RN2 - UNS2</a:t>
              </a:r>
            </a:p>
          </p:txBody>
        </p:sp>
        <p:cxnSp>
          <p:nvCxnSpPr>
            <p:cNvPr id="25" name="Conector angular 24"/>
            <p:cNvCxnSpPr>
              <a:stCxn id="23" idx="0"/>
              <a:endCxn id="24" idx="1"/>
            </p:cNvCxnSpPr>
            <p:nvPr/>
          </p:nvCxnSpPr>
          <p:spPr>
            <a:xfrm rot="5400000" flipH="1" flipV="1">
              <a:off x="8380277" y="1931686"/>
              <a:ext cx="161748" cy="2277705"/>
            </a:xfrm>
            <a:prstGeom prst="bentConnector2">
              <a:avLst/>
            </a:prstGeom>
            <a:ln>
              <a:solidFill>
                <a:srgbClr val="016357"/>
              </a:solidFill>
              <a:tailEnd type="triangle"/>
            </a:ln>
          </p:spPr>
          <p:style>
            <a:lnRef idx="1">
              <a:schemeClr val="accent1"/>
            </a:lnRef>
            <a:fillRef idx="0">
              <a:schemeClr val="accent1"/>
            </a:fillRef>
            <a:effectRef idx="0">
              <a:schemeClr val="accent1"/>
            </a:effectRef>
            <a:fontRef idx="minor">
              <a:schemeClr val="tx1"/>
            </a:fontRef>
          </p:style>
        </p:cxnSp>
        <p:sp>
          <p:nvSpPr>
            <p:cNvPr id="26" name="Rectángulo 25"/>
            <p:cNvSpPr/>
            <p:nvPr/>
          </p:nvSpPr>
          <p:spPr>
            <a:xfrm>
              <a:off x="9558440" y="3440042"/>
              <a:ext cx="1365662" cy="288000"/>
            </a:xfrm>
            <a:prstGeom prst="rect">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s-ES" sz="1400" dirty="0"/>
                <a:t>RN3 - UNS3</a:t>
              </a:r>
            </a:p>
          </p:txBody>
        </p:sp>
        <p:cxnSp>
          <p:nvCxnSpPr>
            <p:cNvPr id="27" name="Conector angular 26"/>
            <p:cNvCxnSpPr>
              <a:stCxn id="23" idx="2"/>
              <a:endCxn id="26" idx="1"/>
            </p:cNvCxnSpPr>
            <p:nvPr/>
          </p:nvCxnSpPr>
          <p:spPr>
            <a:xfrm rot="16200000" flipH="1">
              <a:off x="8368054" y="2393656"/>
              <a:ext cx="144630" cy="2236141"/>
            </a:xfrm>
            <a:prstGeom prst="bentConnector2">
              <a:avLst/>
            </a:prstGeom>
            <a:ln>
              <a:solidFill>
                <a:srgbClr val="016357"/>
              </a:solidFill>
              <a:tailEnd type="triangle"/>
            </a:ln>
          </p:spPr>
          <p:style>
            <a:lnRef idx="1">
              <a:schemeClr val="accent1"/>
            </a:lnRef>
            <a:fillRef idx="0">
              <a:schemeClr val="accent1"/>
            </a:fillRef>
            <a:effectRef idx="0">
              <a:schemeClr val="accent1"/>
            </a:effectRef>
            <a:fontRef idx="minor">
              <a:schemeClr val="tx1"/>
            </a:fontRef>
          </p:style>
        </p:cxnSp>
        <p:sp>
          <p:nvSpPr>
            <p:cNvPr id="28" name="Rectángulo 27"/>
            <p:cNvSpPr/>
            <p:nvPr/>
          </p:nvSpPr>
          <p:spPr>
            <a:xfrm>
              <a:off x="9556009" y="2595742"/>
              <a:ext cx="2144870" cy="314683"/>
            </a:xfrm>
            <a:prstGeom prst="rect">
              <a:avLst/>
            </a:prstGeom>
          </p:spPr>
          <p:txBody>
            <a:bodyPr wrap="square" lIns="72000" tIns="72000" rIns="72000" bIns="72000">
              <a:spAutoFit/>
            </a:bodyPr>
            <a:lstStyle/>
            <a:p>
              <a:r>
                <a:rPr lang="en-GB" sz="1100" i="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Ignores RN3 relevant Messages</a:t>
              </a:r>
              <a:endParaRPr lang="en-GB" sz="1100" i="1"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29" name="Rectángulo 28"/>
            <p:cNvSpPr/>
            <p:nvPr/>
          </p:nvSpPr>
          <p:spPr>
            <a:xfrm>
              <a:off x="9556009" y="3673811"/>
              <a:ext cx="2144870" cy="314683"/>
            </a:xfrm>
            <a:prstGeom prst="rect">
              <a:avLst/>
            </a:prstGeom>
          </p:spPr>
          <p:txBody>
            <a:bodyPr wrap="square" lIns="72000" tIns="72000" rIns="72000" bIns="72000">
              <a:spAutoFit/>
            </a:bodyPr>
            <a:lstStyle/>
            <a:p>
              <a:r>
                <a:rPr lang="en-GB" sz="1100" i="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Ignores RN2 relevant Messages</a:t>
              </a:r>
              <a:endParaRPr lang="en-GB" sz="1100" i="1"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30" name="Rectángulo 29"/>
            <p:cNvSpPr/>
            <p:nvPr/>
          </p:nvSpPr>
          <p:spPr>
            <a:xfrm>
              <a:off x="8212134" y="2747079"/>
              <a:ext cx="1062998" cy="483960"/>
            </a:xfrm>
            <a:prstGeom prst="rect">
              <a:avLst/>
            </a:prstGeom>
          </p:spPr>
          <p:txBody>
            <a:bodyPr wrap="square" lIns="72000" tIns="72000" rIns="72000" bIns="72000">
              <a:spAutoFit/>
            </a:bodyPr>
            <a:lstStyle/>
            <a:p>
              <a:pPr algn="ctr">
                <a:spcBef>
                  <a:spcPts val="300"/>
                </a:spcBef>
                <a:spcAft>
                  <a:spcPts val="300"/>
                </a:spcAft>
              </a:pPr>
              <a:r>
                <a:rPr lang="en-GB" sz="1100"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RO Deadline Notifications</a:t>
              </a:r>
              <a:endParaRPr lang="en-GB" sz="1100"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31" name="Rectángulo 30"/>
            <p:cNvSpPr/>
            <p:nvPr/>
          </p:nvSpPr>
          <p:spPr>
            <a:xfrm>
              <a:off x="8191352" y="3356505"/>
              <a:ext cx="1062998" cy="483960"/>
            </a:xfrm>
            <a:prstGeom prst="rect">
              <a:avLst/>
            </a:prstGeom>
          </p:spPr>
          <p:txBody>
            <a:bodyPr wrap="square" lIns="72000" tIns="72000" rIns="72000" bIns="72000">
              <a:spAutoFit/>
            </a:bodyPr>
            <a:lstStyle/>
            <a:p>
              <a:pPr algn="ctr">
                <a:spcBef>
                  <a:spcPts val="300"/>
                </a:spcBef>
                <a:spcAft>
                  <a:spcPts val="300"/>
                </a:spcAft>
              </a:pPr>
              <a:r>
                <a:rPr lang="en-GB" sz="1100"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RO Deadline Notifications</a:t>
              </a:r>
              <a:endParaRPr lang="en-GB" sz="1100"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32" name="Rectángulo 31"/>
            <p:cNvSpPr/>
            <p:nvPr/>
          </p:nvSpPr>
          <p:spPr>
            <a:xfrm>
              <a:off x="639563" y="2747719"/>
              <a:ext cx="4294567" cy="1207235"/>
            </a:xfrm>
            <a:prstGeom prst="rect">
              <a:avLst/>
            </a:prstGeom>
            <a:ln>
              <a:noFill/>
            </a:ln>
          </p:spPr>
          <p:txBody>
            <a:bodyPr wrap="square" lIns="72000" tIns="72000" rIns="72000" bIns="72000">
              <a:spAutoFit/>
            </a:bodyPr>
            <a:lstStyle/>
            <a:p>
              <a:pPr>
                <a:spcBef>
                  <a:spcPts val="300"/>
                </a:spcBef>
                <a:spcAft>
                  <a:spcPts val="300"/>
                </a:spcAft>
              </a:pPr>
              <a:r>
                <a:rPr lang="en-GB" sz="16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RO DEADLINE NOTIFICATIONS</a:t>
              </a:r>
            </a:p>
            <a:p>
              <a:pPr>
                <a:spcBef>
                  <a:spcPts val="300"/>
                </a:spcBef>
                <a:spcAft>
                  <a:spcPts val="300"/>
                </a:spcAft>
              </a:pPr>
              <a:r>
                <a:rPr lang="en-GB" sz="1600" kern="50" dirty="0" smtClean="0">
                  <a:latin typeface="Calibri" panose="020F0502020204030204" pitchFamily="34" charset="0"/>
                  <a:ea typeface="Times New Roman" panose="02020603050405020304" pitchFamily="18" charset="0"/>
                  <a:cs typeface="Calibri" panose="020F0502020204030204" pitchFamily="34" charset="0"/>
                </a:rPr>
                <a:t>A </a:t>
              </a:r>
              <a:r>
                <a:rPr lang="en-GB" sz="1600" kern="50" dirty="0">
                  <a:latin typeface="Calibri" panose="020F0502020204030204" pitchFamily="34" charset="0"/>
                  <a:ea typeface="Times New Roman" panose="02020603050405020304" pitchFamily="18" charset="0"/>
                  <a:cs typeface="Calibri" panose="020F0502020204030204" pitchFamily="34" charset="0"/>
                </a:rPr>
                <a:t>RN3 Micro Proxy will be built to channel Notifications regarding Reporting Obligations Deadlines to either UNS2-RN2 or RN3</a:t>
              </a:r>
            </a:p>
          </p:txBody>
        </p:sp>
        <p:cxnSp>
          <p:nvCxnSpPr>
            <p:cNvPr id="33" name="Conector recto de flecha 32"/>
            <p:cNvCxnSpPr>
              <a:stCxn id="22" idx="3"/>
              <a:endCxn id="23" idx="1"/>
            </p:cNvCxnSpPr>
            <p:nvPr/>
          </p:nvCxnSpPr>
          <p:spPr>
            <a:xfrm flipV="1">
              <a:off x="6256970" y="3295412"/>
              <a:ext cx="500365" cy="982"/>
            </a:xfrm>
            <a:prstGeom prst="straightConnector1">
              <a:avLst/>
            </a:prstGeom>
            <a:ln>
              <a:solidFill>
                <a:srgbClr val="016357"/>
              </a:solidFill>
              <a:tailEnd type="triangle"/>
            </a:ln>
          </p:spPr>
          <p:style>
            <a:lnRef idx="1">
              <a:schemeClr val="accent1"/>
            </a:lnRef>
            <a:fillRef idx="0">
              <a:schemeClr val="accent1"/>
            </a:fillRef>
            <a:effectRef idx="0">
              <a:schemeClr val="accent1"/>
            </a:effectRef>
            <a:fontRef idx="minor">
              <a:schemeClr val="tx1"/>
            </a:fontRef>
          </p:style>
        </p:cxnSp>
        <p:sp>
          <p:nvSpPr>
            <p:cNvPr id="34" name="Elipse 33"/>
            <p:cNvSpPr/>
            <p:nvPr/>
          </p:nvSpPr>
          <p:spPr>
            <a:xfrm>
              <a:off x="176252" y="3143483"/>
              <a:ext cx="348342" cy="350875"/>
            </a:xfrm>
            <a:prstGeom prst="ellipse">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s-ES" sz="1400" b="1" dirty="0"/>
                <a:t>2</a:t>
              </a:r>
            </a:p>
          </p:txBody>
        </p:sp>
      </p:grpSp>
      <p:grpSp>
        <p:nvGrpSpPr>
          <p:cNvPr id="35" name="Grupo 34"/>
          <p:cNvGrpSpPr/>
          <p:nvPr/>
        </p:nvGrpSpPr>
        <p:grpSpPr>
          <a:xfrm>
            <a:off x="150852" y="4203571"/>
            <a:ext cx="11860173" cy="2596373"/>
            <a:chOff x="176252" y="4203571"/>
            <a:chExt cx="11860173" cy="2596373"/>
          </a:xfrm>
        </p:grpSpPr>
        <p:sp>
          <p:nvSpPr>
            <p:cNvPr id="36" name="Rectángulo 35"/>
            <p:cNvSpPr/>
            <p:nvPr/>
          </p:nvSpPr>
          <p:spPr>
            <a:xfrm>
              <a:off x="358779" y="4203571"/>
              <a:ext cx="11677646" cy="2596373"/>
            </a:xfrm>
            <a:prstGeom prst="rect">
              <a:avLst/>
            </a:prstGeom>
            <a:solidFill>
              <a:schemeClr val="bg1"/>
            </a:solidFill>
            <a:ln w="6350">
              <a:solidFill>
                <a:srgbClr val="016357"/>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45720" rIns="36000" bIns="45720" numCol="1" spcCol="0" rtlCol="0" fromWordArt="0" anchor="ctr" anchorCtr="0" forceAA="0" compatLnSpc="1">
              <a:prstTxWarp prst="textNoShape">
                <a:avLst/>
              </a:prstTxWarp>
              <a:noAutofit/>
            </a:bodyPr>
            <a:lstStyle/>
            <a:p>
              <a:pPr marL="174625">
                <a:spcBef>
                  <a:spcPts val="300"/>
                </a:spcBef>
                <a:spcAft>
                  <a:spcPts val="300"/>
                </a:spcAft>
              </a:pPr>
              <a:r>
                <a:rPr lang="en-GB" sz="16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rPr>
                <a:t>REPORTNET 3.0 </a:t>
              </a:r>
              <a:r>
                <a:rPr lang="en-GB" sz="16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INTEGRATION</a:t>
              </a:r>
              <a:endParaRPr lang="en-GB" sz="1600" kern="50" dirty="0" smtClean="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marL="174625">
                <a:spcBef>
                  <a:spcPts val="300"/>
                </a:spcBef>
                <a:spcAft>
                  <a:spcPts val="300"/>
                </a:spcAft>
              </a:pPr>
              <a:r>
                <a:rPr lang="en-GB" sz="1600" kern="50" dirty="0" smtClean="0">
                  <a:solidFill>
                    <a:schemeClr val="tx1"/>
                  </a:solidFill>
                  <a:latin typeface="Calibri" panose="020F0502020204030204" pitchFamily="34" charset="0"/>
                  <a:ea typeface="Times New Roman" panose="02020603050405020304" pitchFamily="18" charset="0"/>
                  <a:cs typeface="Calibri" panose="020F0502020204030204" pitchFamily="34" charset="0"/>
                </a:rPr>
                <a:t>An </a:t>
              </a:r>
              <a:r>
                <a:rPr lang="en-GB" sz="1600" kern="50" dirty="0">
                  <a:solidFill>
                    <a:schemeClr val="tx1"/>
                  </a:solidFill>
                  <a:latin typeface="Calibri" panose="020F0502020204030204" pitchFamily="34" charset="0"/>
                  <a:ea typeface="Times New Roman" panose="02020603050405020304" pitchFamily="18" charset="0"/>
                  <a:cs typeface="Calibri" panose="020F0502020204030204" pitchFamily="34" charset="0"/>
                </a:rPr>
                <a:t>interface using REST API will be developed allowing Reportnet 3.0 to work with ROD3. </a:t>
              </a:r>
              <a:r>
                <a:rPr lang="en-GB" sz="1600" kern="50" dirty="0" smtClean="0">
                  <a:solidFill>
                    <a:schemeClr val="tx1"/>
                  </a:solidFill>
                  <a:latin typeface="Calibri" panose="020F0502020204030204" pitchFamily="34" charset="0"/>
                  <a:ea typeface="Times New Roman" panose="02020603050405020304" pitchFamily="18" charset="0"/>
                  <a:cs typeface="Calibri" panose="020F0502020204030204" pitchFamily="34" charset="0"/>
                </a:rPr>
                <a:t>Initial </a:t>
              </a:r>
              <a:r>
                <a:rPr lang="en-GB" sz="1600" kern="50" dirty="0">
                  <a:solidFill>
                    <a:schemeClr val="tx1"/>
                  </a:solidFill>
                  <a:latin typeface="Calibri" panose="020F0502020204030204" pitchFamily="34" charset="0"/>
                  <a:ea typeface="Times New Roman" panose="02020603050405020304" pitchFamily="18" charset="0"/>
                  <a:cs typeface="Calibri" panose="020F0502020204030204" pitchFamily="34" charset="0"/>
                </a:rPr>
                <a:t>planned features include functionalities for RN3 Users – ability to</a:t>
              </a:r>
              <a:r>
                <a:rPr lang="en-US" sz="1600" kern="50" dirty="0">
                  <a:solidFill>
                    <a:schemeClr val="tx1"/>
                  </a:solidFill>
                  <a:latin typeface="Calibri" panose="020F0502020204030204" pitchFamily="34" charset="0"/>
                  <a:ea typeface="Times New Roman" panose="02020603050405020304" pitchFamily="18" charset="0"/>
                  <a:cs typeface="Calibri" panose="020F0502020204030204" pitchFamily="34" charset="0"/>
                </a:rPr>
                <a:t> search/access/view information regarding all Obligations (in ROD3)  </a:t>
              </a:r>
            </a:p>
            <a:p>
              <a:pPr marL="742950" lvl="2" indent="-285750">
                <a:spcBef>
                  <a:spcPts val="300"/>
                </a:spcBef>
                <a:spcAft>
                  <a:spcPts val="300"/>
                </a:spcAft>
                <a:buFont typeface="Arial" panose="020B0604020202020204" pitchFamily="34" charset="0"/>
                <a:buChar char="•"/>
              </a:pPr>
              <a:r>
                <a:rPr lang="en-US" sz="1600" kern="50" dirty="0">
                  <a:solidFill>
                    <a:schemeClr val="tx1"/>
                  </a:solidFill>
                  <a:latin typeface="Calibri" panose="020F0502020204030204" pitchFamily="34" charset="0"/>
                  <a:ea typeface="Times New Roman" panose="02020603050405020304" pitchFamily="18" charset="0"/>
                  <a:cs typeface="Calibri" panose="020F0502020204030204" pitchFamily="34" charset="0"/>
                </a:rPr>
                <a:t>News Most recently Updated Obligations</a:t>
              </a:r>
            </a:p>
            <a:p>
              <a:pPr marL="742950" lvl="2" indent="-285750">
                <a:spcBef>
                  <a:spcPts val="300"/>
                </a:spcBef>
                <a:spcAft>
                  <a:spcPts val="300"/>
                </a:spcAft>
                <a:buFont typeface="Arial" panose="020B0604020202020204" pitchFamily="34" charset="0"/>
                <a:buChar char="•"/>
              </a:pPr>
              <a:r>
                <a:rPr lang="en-US" sz="1600" kern="50" dirty="0">
                  <a:solidFill>
                    <a:schemeClr val="tx1"/>
                  </a:solidFill>
                  <a:latin typeface="Calibri" panose="020F0502020204030204" pitchFamily="34" charset="0"/>
                  <a:ea typeface="Times New Roman" panose="02020603050405020304" pitchFamily="18" charset="0"/>
                  <a:cs typeface="Calibri" panose="020F0502020204030204" pitchFamily="34" charset="0"/>
                </a:rPr>
                <a:t>Obligation Details (Overview, Legislation and History)</a:t>
              </a:r>
            </a:p>
            <a:p>
              <a:pPr marL="742950" lvl="2" indent="-285750">
                <a:spcBef>
                  <a:spcPts val="300"/>
                </a:spcBef>
                <a:spcAft>
                  <a:spcPts val="300"/>
                </a:spcAft>
                <a:buFont typeface="Arial" panose="020B0604020202020204" pitchFamily="34" charset="0"/>
                <a:buChar char="•"/>
              </a:pPr>
              <a:r>
                <a:rPr lang="en-US" sz="1600" kern="50" dirty="0">
                  <a:solidFill>
                    <a:schemeClr val="tx1"/>
                  </a:solidFill>
                  <a:latin typeface="Calibri" panose="020F0502020204030204" pitchFamily="34" charset="0"/>
                  <a:ea typeface="Times New Roman" panose="02020603050405020304" pitchFamily="18" charset="0"/>
                  <a:cs typeface="Calibri" panose="020F0502020204030204" pitchFamily="34" charset="0"/>
                </a:rPr>
                <a:t>Search/Filter List Obligations - Magazine View/List View</a:t>
              </a:r>
            </a:p>
            <a:p>
              <a:pPr marL="742950" lvl="2" indent="-285750">
                <a:spcBef>
                  <a:spcPts val="300"/>
                </a:spcBef>
                <a:spcAft>
                  <a:spcPts val="300"/>
                </a:spcAft>
                <a:buFont typeface="Arial" panose="020B0604020202020204" pitchFamily="34" charset="0"/>
                <a:buChar char="•"/>
              </a:pPr>
              <a:r>
                <a:rPr lang="en-US" sz="1600" kern="50" dirty="0">
                  <a:solidFill>
                    <a:schemeClr val="tx1"/>
                  </a:solidFill>
                  <a:latin typeface="Calibri" panose="020F0502020204030204" pitchFamily="34" charset="0"/>
                  <a:ea typeface="Times New Roman" panose="02020603050405020304" pitchFamily="18" charset="0"/>
                  <a:cs typeface="Calibri" panose="020F0502020204030204" pitchFamily="34" charset="0"/>
                </a:rPr>
                <a:t>Magazine View of available Data Collections and Associated Obligation (with search / filter capacity for listed Data Collections and Obligations)</a:t>
              </a:r>
            </a:p>
          </p:txBody>
        </p:sp>
        <p:sp>
          <p:nvSpPr>
            <p:cNvPr id="37" name="Elipse 36"/>
            <p:cNvSpPr/>
            <p:nvPr/>
          </p:nvSpPr>
          <p:spPr>
            <a:xfrm>
              <a:off x="176252" y="5326320"/>
              <a:ext cx="348342" cy="350875"/>
            </a:xfrm>
            <a:prstGeom prst="ellipse">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s-ES" sz="1400" b="1" dirty="0" smtClean="0"/>
                <a:t>3</a:t>
              </a:r>
              <a:endParaRPr lang="es-ES" sz="1400" b="1" dirty="0"/>
            </a:p>
          </p:txBody>
        </p:sp>
      </p:grpSp>
    </p:spTree>
    <p:extLst>
      <p:ext uri="{BB962C8B-B14F-4D97-AF65-F5344CB8AC3E}">
        <p14:creationId xmlns:p14="http://schemas.microsoft.com/office/powerpoint/2010/main" val="2756117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1000"/>
                                        <p:tgtEl>
                                          <p:spTgt spid="35"/>
                                        </p:tgtEl>
                                      </p:cBhvr>
                                    </p:animEffect>
                                    <p:anim calcmode="lin" valueType="num">
                                      <p:cBhvr>
                                        <p:cTn id="15" dur="1000" fill="hold"/>
                                        <p:tgtEl>
                                          <p:spTgt spid="35"/>
                                        </p:tgtEl>
                                        <p:attrNameLst>
                                          <p:attrName>ppt_x</p:attrName>
                                        </p:attrNameLst>
                                      </p:cBhvr>
                                      <p:tavLst>
                                        <p:tav tm="0">
                                          <p:val>
                                            <p:strVal val="#ppt_x"/>
                                          </p:val>
                                        </p:tav>
                                        <p:tav tm="100000">
                                          <p:val>
                                            <p:strVal val="#ppt_x"/>
                                          </p:val>
                                        </p:tav>
                                      </p:tavLst>
                                    </p:anim>
                                    <p:anim calcmode="lin" valueType="num">
                                      <p:cBhvr>
                                        <p:cTn id="16"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9</a:t>
            </a:fld>
            <a:endParaRPr lang="en-US" dirty="0">
              <a:solidFill>
                <a:schemeClr val="bg1"/>
              </a:solidFill>
            </a:endParaRPr>
          </a:p>
        </p:txBody>
      </p:sp>
      <p:sp>
        <p:nvSpPr>
          <p:cNvPr id="39" name="Rectángulo 38"/>
          <p:cNvSpPr/>
          <p:nvPr/>
        </p:nvSpPr>
        <p:spPr>
          <a:xfrm>
            <a:off x="334963" y="1006783"/>
            <a:ext cx="11522075" cy="2756377"/>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tIns="72000" bIns="72000">
            <a:spAutoFit/>
          </a:bodyPr>
          <a:lstStyle/>
          <a:p>
            <a:pPr>
              <a:spcBef>
                <a:spcPts val="300"/>
              </a:spcBef>
              <a:spcAft>
                <a:spcPts val="800"/>
              </a:spcAft>
            </a:pPr>
            <a:r>
              <a:rPr lang="en-GB" sz="20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UNS - STATUS</a:t>
            </a:r>
            <a:endParaRPr lang="en-GB" sz="20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a:p>
            <a:pPr marL="285750" indent="-285750">
              <a:spcBef>
                <a:spcPts val="600"/>
              </a:spcBef>
              <a:spcAft>
                <a:spcPts val="600"/>
              </a:spcAft>
              <a:buFont typeface="Arial" panose="020B0604020202020204" pitchFamily="34" charset="0"/>
              <a:buChar char="•"/>
            </a:pPr>
            <a:r>
              <a:rPr lang="en-GB" kern="50" dirty="0" smtClean="0">
                <a:latin typeface="Calibri" panose="020F0502020204030204" pitchFamily="34" charset="0"/>
                <a:ea typeface="Times New Roman" panose="02020603050405020304" pitchFamily="18" charset="0"/>
                <a:cs typeface="Calibri" panose="020F0502020204030204" pitchFamily="34" charset="0"/>
              </a:rPr>
              <a:t>RN3 Notifications System (UNS3), to be developed as a </a:t>
            </a:r>
            <a:r>
              <a:rPr lang="en-GB" kern="50" dirty="0" err="1" smtClean="0">
                <a:latin typeface="Calibri" panose="020F0502020204030204" pitchFamily="34" charset="0"/>
                <a:ea typeface="Times New Roman" panose="02020603050405020304" pitchFamily="18" charset="0"/>
                <a:cs typeface="Calibri" panose="020F0502020204030204" pitchFamily="34" charset="0"/>
              </a:rPr>
              <a:t>Microservice</a:t>
            </a:r>
            <a:r>
              <a:rPr lang="en-GB" kern="50" dirty="0" smtClean="0">
                <a:latin typeface="Calibri" panose="020F0502020204030204" pitchFamily="34" charset="0"/>
                <a:ea typeface="Times New Roman" panose="02020603050405020304" pitchFamily="18" charset="0"/>
                <a:cs typeface="Calibri" panose="020F0502020204030204" pitchFamily="34" charset="0"/>
              </a:rPr>
              <a:t> (Communication Service) following RN3 Requirements and will serve RN3 Users </a:t>
            </a:r>
          </a:p>
          <a:p>
            <a:pPr marL="285750" indent="-285750">
              <a:spcBef>
                <a:spcPts val="600"/>
              </a:spcBef>
              <a:spcAft>
                <a:spcPts val="600"/>
              </a:spcAft>
              <a:buFont typeface="Arial" panose="020B0604020202020204" pitchFamily="34" charset="0"/>
              <a:buChar char="•"/>
            </a:pPr>
            <a:r>
              <a:rPr lang="en-GB" kern="50" dirty="0" smtClean="0">
                <a:latin typeface="Calibri" panose="020F0502020204030204" pitchFamily="34" charset="0"/>
                <a:ea typeface="Times New Roman" panose="02020603050405020304" pitchFamily="18" charset="0"/>
                <a:cs typeface="Calibri" panose="020F0502020204030204" pitchFamily="34" charset="0"/>
              </a:rPr>
              <a:t>As per User Stories  (Cross Cutting Features and specific STEPS)</a:t>
            </a:r>
          </a:p>
          <a:p>
            <a:pPr marL="285750" indent="-285750">
              <a:spcBef>
                <a:spcPts val="600"/>
              </a:spcBef>
              <a:spcAft>
                <a:spcPts val="600"/>
              </a:spcAft>
              <a:buFont typeface="Arial" panose="020B0604020202020204" pitchFamily="34" charset="0"/>
              <a:buChar char="•"/>
            </a:pPr>
            <a:r>
              <a:rPr lang="en-GB" kern="50" dirty="0" smtClean="0">
                <a:latin typeface="Calibri" panose="020F0502020204030204" pitchFamily="34" charset="0"/>
                <a:ea typeface="Times New Roman" panose="02020603050405020304" pitchFamily="18" charset="0"/>
                <a:cs typeface="Calibri" panose="020F0502020204030204" pitchFamily="34" charset="0"/>
              </a:rPr>
              <a:t>Planned for Release Candidates. In RC1, RC2, RC3 notifications centred on Reportnet Users (Requesters and Reporters based on their role in the system and specific available features)</a:t>
            </a:r>
          </a:p>
          <a:p>
            <a:pPr marL="285750" indent="-285750">
              <a:spcBef>
                <a:spcPts val="600"/>
              </a:spcBef>
              <a:spcAft>
                <a:spcPts val="600"/>
              </a:spcAft>
              <a:buFont typeface="Arial" panose="020B0604020202020204" pitchFamily="34" charset="0"/>
              <a:buChar char="•"/>
            </a:pPr>
            <a:r>
              <a:rPr lang="en-GB" kern="50" dirty="0" smtClean="0">
                <a:latin typeface="Calibri" panose="020F0502020204030204" pitchFamily="34" charset="0"/>
                <a:ea typeface="Times New Roman" panose="02020603050405020304" pitchFamily="18" charset="0"/>
                <a:cs typeface="Calibri" panose="020F0502020204030204" pitchFamily="34" charset="0"/>
              </a:rPr>
              <a:t>UNS2 (existing Notification System) will continue to serve RN2 users </a:t>
            </a:r>
            <a:r>
              <a:rPr lang="en-GB" kern="50" dirty="0" smtClean="0">
                <a:latin typeface="Calibri" panose="020F0502020204030204" pitchFamily="34" charset="0"/>
                <a:ea typeface="Times New Roman" panose="02020603050405020304" pitchFamily="18" charset="0"/>
                <a:cs typeface="Calibri" panose="020F0502020204030204" pitchFamily="34" charset="0"/>
              </a:rPr>
              <a:t>independently</a:t>
            </a:r>
            <a:endParaRPr lang="en-GB" kern="50" dirty="0" smtClean="0">
              <a:latin typeface="Calibri" panose="020F0502020204030204" pitchFamily="34" charset="0"/>
              <a:ea typeface="Times New Roman" panose="02020603050405020304" pitchFamily="18" charset="0"/>
              <a:cs typeface="Calibri" panose="020F0502020204030204" pitchFamily="34" charset="0"/>
            </a:endParaRPr>
          </a:p>
        </p:txBody>
      </p:sp>
      <p:sp>
        <p:nvSpPr>
          <p:cNvPr id="40" name="Paralelogramo 39"/>
          <p:cNvSpPr/>
          <p:nvPr/>
        </p:nvSpPr>
        <p:spPr>
          <a:xfrm>
            <a:off x="358778"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UNS</a:t>
            </a:r>
          </a:p>
          <a:p>
            <a:pPr algn="ctr"/>
            <a:r>
              <a:rPr lang="en-GB" sz="1600" b="1" dirty="0" smtClean="0">
                <a:solidFill>
                  <a:srgbClr val="016357"/>
                </a:solidFill>
              </a:rPr>
              <a:t>STATUS</a:t>
            </a:r>
            <a:endParaRPr lang="en-GB" sz="1600" b="1" dirty="0">
              <a:solidFill>
                <a:srgbClr val="016357"/>
              </a:solidFill>
            </a:endParaRPr>
          </a:p>
        </p:txBody>
      </p:sp>
      <p:sp>
        <p:nvSpPr>
          <p:cNvPr id="41" name="Rectángulo 40"/>
          <p:cNvSpPr/>
          <p:nvPr/>
        </p:nvSpPr>
        <p:spPr>
          <a:xfrm>
            <a:off x="1204778" y="66260"/>
            <a:ext cx="10858642" cy="646331"/>
          </a:xfrm>
          <a:prstGeom prst="rect">
            <a:avLst/>
          </a:prstGeom>
        </p:spPr>
        <p:txBody>
          <a:bodyPr wrap="square">
            <a:spAutoFit/>
          </a:bodyPr>
          <a:lstStyle/>
          <a:p>
            <a:pPr algn="r">
              <a:spcBef>
                <a:spcPts val="300"/>
              </a:spcBef>
              <a:spcAft>
                <a:spcPts val="300"/>
              </a:spcAft>
            </a:pPr>
            <a:r>
              <a:rPr lang="en-US" sz="3600" dirty="0">
                <a:solidFill>
                  <a:schemeClr val="bg1"/>
                </a:solidFill>
                <a:latin typeface="Calibri" panose="020F0502020204030204" pitchFamily="34" charset="0"/>
              </a:rPr>
              <a:t>Update on the </a:t>
            </a:r>
            <a:r>
              <a:rPr lang="en-US" sz="3600" dirty="0" smtClean="0">
                <a:solidFill>
                  <a:schemeClr val="bg1"/>
                </a:solidFill>
                <a:latin typeface="Calibri" panose="020F0502020204030204" pitchFamily="34" charset="0"/>
              </a:rPr>
              <a:t>Architecture and SW </a:t>
            </a:r>
            <a:r>
              <a:rPr lang="en-US" sz="3600" dirty="0">
                <a:solidFill>
                  <a:schemeClr val="bg1"/>
                </a:solidFill>
                <a:latin typeface="Calibri" panose="020F0502020204030204" pitchFamily="34" charset="0"/>
              </a:rPr>
              <a:t>D</a:t>
            </a:r>
            <a:r>
              <a:rPr lang="en-US" sz="3600" dirty="0" smtClean="0">
                <a:solidFill>
                  <a:schemeClr val="bg1"/>
                </a:solidFill>
                <a:latin typeface="Calibri" panose="020F0502020204030204" pitchFamily="34" charset="0"/>
              </a:rPr>
              <a:t>evelopment</a:t>
            </a:r>
            <a:endParaRPr lang="es-ES" sz="3600" kern="50" dirty="0">
              <a:solidFill>
                <a:schemeClr val="bg1"/>
              </a:solidFill>
              <a:latin typeface="Verdana" panose="020B0604030504040204" pitchFamily="34" charset="0"/>
              <a:ea typeface="Times New Roman" panose="02020603050405020304" pitchFamily="18" charset="0"/>
              <a:cs typeface="CG Times (W1)"/>
            </a:endParaRPr>
          </a:p>
        </p:txBody>
      </p:sp>
    </p:spTree>
    <p:extLst>
      <p:ext uri="{BB962C8B-B14F-4D97-AF65-F5344CB8AC3E}">
        <p14:creationId xmlns:p14="http://schemas.microsoft.com/office/powerpoint/2010/main" val="6683989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10</a:t>
            </a:fld>
            <a:endParaRPr lang="en-US" dirty="0">
              <a:solidFill>
                <a:schemeClr val="bg1"/>
              </a:solidFill>
            </a:endParaRPr>
          </a:p>
        </p:txBody>
      </p:sp>
      <p:sp>
        <p:nvSpPr>
          <p:cNvPr id="4" name="Rectángulo 3"/>
          <p:cNvSpPr/>
          <p:nvPr/>
        </p:nvSpPr>
        <p:spPr>
          <a:xfrm>
            <a:off x="566063" y="1178304"/>
            <a:ext cx="11072418" cy="5057670"/>
          </a:xfrm>
          <a:prstGeom prst="rect">
            <a:avLst/>
          </a:prstGeom>
          <a:solidFill>
            <a:schemeClr val="bg1"/>
          </a:solidFill>
          <a:ln w="3175">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36000" bIns="36000" numCol="1" spcCol="0" rtlCol="0" fromWordArt="0" anchor="t" anchorCtr="0" forceAA="0" compatLnSpc="1">
            <a:prstTxWarp prst="textNoShape">
              <a:avLst/>
            </a:prstTxWarp>
            <a:noAutofit/>
          </a:bodyPr>
          <a:lstStyle/>
          <a:p>
            <a:endParaRPr lang="en-GB" sz="950" b="1" dirty="0">
              <a:solidFill>
                <a:schemeClr val="tx1"/>
              </a:solidFill>
              <a:latin typeface="Calibri" panose="020F0502020204030204" pitchFamily="34" charset="0"/>
              <a:cs typeface="Calibri" panose="020F0502020204030204" pitchFamily="34" charset="0"/>
            </a:endParaRPr>
          </a:p>
        </p:txBody>
      </p:sp>
      <p:sp>
        <p:nvSpPr>
          <p:cNvPr id="5" name="Rectángulo 4"/>
          <p:cNvSpPr/>
          <p:nvPr/>
        </p:nvSpPr>
        <p:spPr>
          <a:xfrm>
            <a:off x="9682930" y="1254509"/>
            <a:ext cx="1756595" cy="986244"/>
          </a:xfrm>
          <a:prstGeom prst="rect">
            <a:avLst/>
          </a:prstGeom>
          <a:solidFill>
            <a:schemeClr val="bg1"/>
          </a:solidFill>
          <a:ln w="3175">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36000" bIns="36000" numCol="1" spcCol="0" rtlCol="0" fromWordArt="0" anchor="t" anchorCtr="0" forceAA="0" compatLnSpc="1">
            <a:prstTxWarp prst="textNoShape">
              <a:avLst/>
            </a:prstTxWarp>
            <a:noAutofit/>
          </a:bodyPr>
          <a:lstStyle/>
          <a:p>
            <a:pPr algn="ctr"/>
            <a:r>
              <a:rPr lang="en-GB" sz="1200" b="1" dirty="0" smtClean="0">
                <a:solidFill>
                  <a:schemeClr val="tx1"/>
                </a:solidFill>
                <a:latin typeface="Calibri" panose="020F0502020204030204" pitchFamily="34" charset="0"/>
                <a:cs typeface="Calibri" panose="020F0502020204030204" pitchFamily="34" charset="0"/>
              </a:rPr>
              <a:t>Legend</a:t>
            </a:r>
            <a:endParaRPr lang="en-GB" sz="1200" b="1" dirty="0">
              <a:solidFill>
                <a:schemeClr val="tx1"/>
              </a:solidFill>
              <a:latin typeface="Calibri" panose="020F0502020204030204" pitchFamily="34" charset="0"/>
              <a:cs typeface="Calibri" panose="020F0502020204030204" pitchFamily="34" charset="0"/>
            </a:endParaRPr>
          </a:p>
        </p:txBody>
      </p:sp>
      <p:sp>
        <p:nvSpPr>
          <p:cNvPr id="6" name="Rectángulo 5"/>
          <p:cNvSpPr/>
          <p:nvPr/>
        </p:nvSpPr>
        <p:spPr>
          <a:xfrm>
            <a:off x="6942946" y="3153605"/>
            <a:ext cx="161612" cy="99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p:cNvSpPr/>
          <p:nvPr/>
        </p:nvSpPr>
        <p:spPr>
          <a:xfrm>
            <a:off x="7310983" y="4726584"/>
            <a:ext cx="161612" cy="99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p:cNvSpPr/>
          <p:nvPr/>
        </p:nvSpPr>
        <p:spPr>
          <a:xfrm>
            <a:off x="5299544" y="3156972"/>
            <a:ext cx="161612" cy="99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p:cNvSpPr/>
          <p:nvPr/>
        </p:nvSpPr>
        <p:spPr>
          <a:xfrm>
            <a:off x="709845" y="2304360"/>
            <a:ext cx="7358386" cy="3766088"/>
          </a:xfrm>
          <a:prstGeom prst="rect">
            <a:avLst/>
          </a:prstGeom>
          <a:solidFill>
            <a:schemeClr val="bg2"/>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tlCol="0" anchor="t" anchorCtr="0"/>
          <a:lstStyle/>
          <a:p>
            <a:r>
              <a:rPr lang="en-GB" sz="1200" b="1" dirty="0" smtClean="0">
                <a:solidFill>
                  <a:schemeClr val="tx1"/>
                </a:solidFill>
              </a:rPr>
              <a:t>Reportnet Integration Layer</a:t>
            </a:r>
            <a:endParaRPr lang="en-GB" sz="1200" b="1" dirty="0">
              <a:solidFill>
                <a:schemeClr val="tx1"/>
              </a:solidFill>
            </a:endParaRPr>
          </a:p>
        </p:txBody>
      </p:sp>
      <p:sp>
        <p:nvSpPr>
          <p:cNvPr id="10" name="Rectángulo 9"/>
          <p:cNvSpPr/>
          <p:nvPr/>
        </p:nvSpPr>
        <p:spPr>
          <a:xfrm>
            <a:off x="8267358" y="3145456"/>
            <a:ext cx="3177844" cy="1404060"/>
          </a:xfrm>
          <a:prstGeom prst="rect">
            <a:avLst/>
          </a:prstGeom>
          <a:solidFill>
            <a:srgbClr val="DCE6F2"/>
          </a:solidFill>
          <a:ln w="31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smtClean="0">
                <a:solidFill>
                  <a:schemeClr val="tx1"/>
                </a:solidFill>
                <a:latin typeface="Calibri" panose="020F0502020204030204" pitchFamily="34" charset="0"/>
                <a:cs typeface="Calibri" panose="020F0502020204030204" pitchFamily="34" charset="0"/>
              </a:rPr>
              <a:t>PostgreSQL HA</a:t>
            </a:r>
            <a:endParaRPr lang="en-GB" sz="1200" b="1" dirty="0">
              <a:solidFill>
                <a:schemeClr val="tx1"/>
              </a:solidFill>
              <a:latin typeface="Calibri" panose="020F0502020204030204" pitchFamily="34" charset="0"/>
              <a:cs typeface="Calibri" panose="020F0502020204030204" pitchFamily="34" charset="0"/>
            </a:endParaRPr>
          </a:p>
        </p:txBody>
      </p:sp>
      <p:sp>
        <p:nvSpPr>
          <p:cNvPr id="11" name="Rectángulo 10"/>
          <p:cNvSpPr/>
          <p:nvPr/>
        </p:nvSpPr>
        <p:spPr>
          <a:xfrm>
            <a:off x="8267358" y="5231353"/>
            <a:ext cx="3177844" cy="839096"/>
          </a:xfrm>
          <a:prstGeom prst="rect">
            <a:avLst/>
          </a:prstGeom>
          <a:solidFill>
            <a:srgbClr val="DCE6F2"/>
          </a:solidFill>
          <a:ln w="31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smtClean="0">
                <a:solidFill>
                  <a:schemeClr val="tx1"/>
                </a:solidFill>
                <a:latin typeface="Calibri" panose="020F0502020204030204" pitchFamily="34" charset="0"/>
                <a:cs typeface="Calibri" panose="020F0502020204030204" pitchFamily="34" charset="0"/>
              </a:rPr>
              <a:t>MongoDB Cluster</a:t>
            </a:r>
            <a:endParaRPr lang="en-GB" sz="1200" b="1" dirty="0">
              <a:solidFill>
                <a:schemeClr val="tx1"/>
              </a:solidFill>
              <a:latin typeface="Calibri" panose="020F0502020204030204" pitchFamily="34" charset="0"/>
              <a:cs typeface="Calibri" panose="020F0502020204030204" pitchFamily="34" charset="0"/>
            </a:endParaRPr>
          </a:p>
        </p:txBody>
      </p:sp>
      <p:sp>
        <p:nvSpPr>
          <p:cNvPr id="12" name="Rectángulo 11"/>
          <p:cNvSpPr/>
          <p:nvPr/>
        </p:nvSpPr>
        <p:spPr>
          <a:xfrm>
            <a:off x="2831736" y="5120138"/>
            <a:ext cx="4045872" cy="819754"/>
          </a:xfrm>
          <a:prstGeom prst="rect">
            <a:avLst/>
          </a:prstGeom>
          <a:solidFill>
            <a:schemeClr val="bg1">
              <a:lumMod val="85000"/>
            </a:schemeClr>
          </a:solidFill>
          <a:ln w="31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smtClean="0">
                <a:solidFill>
                  <a:schemeClr val="tx1"/>
                </a:solidFill>
                <a:latin typeface="Calibri" panose="020F0502020204030204" pitchFamily="34" charset="0"/>
                <a:cs typeface="Calibri" panose="020F0502020204030204" pitchFamily="34" charset="0"/>
              </a:rPr>
              <a:t>Event Bus Cluster</a:t>
            </a:r>
            <a:endParaRPr lang="en-GB" sz="1200" b="1" dirty="0">
              <a:solidFill>
                <a:schemeClr val="tx1"/>
              </a:solidFill>
              <a:latin typeface="Calibri" panose="020F0502020204030204" pitchFamily="34" charset="0"/>
              <a:cs typeface="Calibri" panose="020F0502020204030204" pitchFamily="34" charset="0"/>
            </a:endParaRPr>
          </a:p>
        </p:txBody>
      </p:sp>
      <p:sp>
        <p:nvSpPr>
          <p:cNvPr id="13" name="Rectángulo 12"/>
          <p:cNvSpPr/>
          <p:nvPr/>
        </p:nvSpPr>
        <p:spPr>
          <a:xfrm>
            <a:off x="2831735" y="3145456"/>
            <a:ext cx="5098080" cy="1676824"/>
          </a:xfrm>
          <a:prstGeom prst="rect">
            <a:avLst/>
          </a:prstGeom>
          <a:solidFill>
            <a:srgbClr val="F9F1D3"/>
          </a:solidFill>
          <a:ln w="3175">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r>
              <a:rPr lang="en-GB" sz="1200" b="1" dirty="0" err="1">
                <a:solidFill>
                  <a:schemeClr val="tx1"/>
                </a:solidFill>
                <a:latin typeface="Calibri" panose="020F0502020204030204" pitchFamily="34" charset="0"/>
                <a:cs typeface="Calibri" panose="020F0502020204030204" pitchFamily="34" charset="0"/>
              </a:rPr>
              <a:t>RecordNet</a:t>
            </a:r>
            <a:r>
              <a:rPr lang="en-GB" sz="1200" b="1" dirty="0">
                <a:solidFill>
                  <a:schemeClr val="tx1"/>
                </a:solidFill>
                <a:latin typeface="Calibri" panose="020F0502020204030204" pitchFamily="34" charset="0"/>
                <a:cs typeface="Calibri" panose="020F0502020204030204" pitchFamily="34" charset="0"/>
              </a:rPr>
              <a:t> Core Platform</a:t>
            </a:r>
          </a:p>
        </p:txBody>
      </p:sp>
      <p:sp>
        <p:nvSpPr>
          <p:cNvPr id="14" name="Rectángulo 13"/>
          <p:cNvSpPr/>
          <p:nvPr/>
        </p:nvSpPr>
        <p:spPr>
          <a:xfrm>
            <a:off x="4526612" y="1250770"/>
            <a:ext cx="3541619" cy="870224"/>
          </a:xfrm>
          <a:prstGeom prst="rect">
            <a:avLst/>
          </a:prstGeom>
          <a:solidFill>
            <a:srgbClr val="DCE6F2"/>
          </a:solidFill>
          <a:ln w="31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r>
              <a:rPr lang="en-GB" sz="1100" b="1" dirty="0">
                <a:solidFill>
                  <a:schemeClr val="tx1"/>
                </a:solidFill>
                <a:latin typeface="Calibri" panose="020F0502020204030204" pitchFamily="34" charset="0"/>
                <a:cs typeface="Calibri" panose="020F0502020204030204" pitchFamily="34" charset="0"/>
              </a:rPr>
              <a:t>Reportnet Frontend Layer</a:t>
            </a:r>
          </a:p>
        </p:txBody>
      </p:sp>
      <p:sp>
        <p:nvSpPr>
          <p:cNvPr id="15" name="Rectángulo 14"/>
          <p:cNvSpPr/>
          <p:nvPr/>
        </p:nvSpPr>
        <p:spPr>
          <a:xfrm>
            <a:off x="9952512" y="3312407"/>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Replica(s)</a:t>
            </a:r>
          </a:p>
        </p:txBody>
      </p:sp>
      <p:pic>
        <p:nvPicPr>
          <p:cNvPr id="16" name="Imagen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3833" y="3369313"/>
            <a:ext cx="268000" cy="241200"/>
          </a:xfrm>
          <a:prstGeom prst="rect">
            <a:avLst/>
          </a:prstGeom>
        </p:spPr>
      </p:pic>
      <p:sp>
        <p:nvSpPr>
          <p:cNvPr id="17" name="Rectángulo 16"/>
          <p:cNvSpPr/>
          <p:nvPr/>
        </p:nvSpPr>
        <p:spPr>
          <a:xfrm>
            <a:off x="8386022" y="3805641"/>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PostgresSQL</a:t>
            </a:r>
            <a:r>
              <a:rPr lang="en-GB" sz="950" dirty="0">
                <a:solidFill>
                  <a:schemeClr val="tx1"/>
                </a:solidFill>
                <a:latin typeface="Calibri" panose="020F0502020204030204" pitchFamily="34" charset="0"/>
                <a:cs typeface="Calibri" panose="020F0502020204030204" pitchFamily="34" charset="0"/>
              </a:rPr>
              <a:t> Connection Pool</a:t>
            </a:r>
          </a:p>
        </p:txBody>
      </p:sp>
      <p:pic>
        <p:nvPicPr>
          <p:cNvPr id="18" name="Imagen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7343" y="3848147"/>
            <a:ext cx="278438" cy="270000"/>
          </a:xfrm>
          <a:prstGeom prst="rect">
            <a:avLst/>
          </a:prstGeom>
        </p:spPr>
      </p:pic>
      <p:sp>
        <p:nvSpPr>
          <p:cNvPr id="19" name="Rectángulo 18"/>
          <p:cNvSpPr/>
          <p:nvPr/>
        </p:nvSpPr>
        <p:spPr>
          <a:xfrm>
            <a:off x="9167618" y="4710816"/>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Postrgres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Operator</a:t>
            </a:r>
          </a:p>
        </p:txBody>
      </p:sp>
      <p:pic>
        <p:nvPicPr>
          <p:cNvPr id="20" name="Imagen 19"/>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248939" y="4767722"/>
            <a:ext cx="249814" cy="241200"/>
          </a:xfrm>
          <a:prstGeom prst="rect">
            <a:avLst/>
          </a:prstGeom>
        </p:spPr>
      </p:pic>
      <p:sp>
        <p:nvSpPr>
          <p:cNvPr id="21" name="Rectángulo 20"/>
          <p:cNvSpPr/>
          <p:nvPr/>
        </p:nvSpPr>
        <p:spPr>
          <a:xfrm>
            <a:off x="9933462" y="5543550"/>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Replica</a:t>
            </a:r>
          </a:p>
        </p:txBody>
      </p:sp>
      <p:pic>
        <p:nvPicPr>
          <p:cNvPr id="22" name="Imagen 2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4783" y="5600456"/>
            <a:ext cx="268000" cy="241200"/>
          </a:xfrm>
          <a:prstGeom prst="rect">
            <a:avLst/>
          </a:prstGeom>
        </p:spPr>
      </p:pic>
      <p:sp>
        <p:nvSpPr>
          <p:cNvPr id="23" name="Rectángulo 22"/>
          <p:cNvSpPr/>
          <p:nvPr/>
        </p:nvSpPr>
        <p:spPr>
          <a:xfrm>
            <a:off x="1027867" y="3111076"/>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Communication 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24" name="Imagen 2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9188" y="3167982"/>
            <a:ext cx="249814" cy="241200"/>
          </a:xfrm>
          <a:prstGeom prst="rect">
            <a:avLst/>
          </a:prstGeom>
        </p:spPr>
      </p:pic>
      <p:sp>
        <p:nvSpPr>
          <p:cNvPr id="25" name="Rectángulo 24"/>
          <p:cNvSpPr/>
          <p:nvPr/>
        </p:nvSpPr>
        <p:spPr>
          <a:xfrm>
            <a:off x="1027867" y="4347978"/>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Harvester</a:t>
            </a:r>
          </a:p>
          <a:p>
            <a:r>
              <a:rPr lang="en-GB" sz="950" dirty="0" smtClean="0">
                <a:solidFill>
                  <a:schemeClr val="tx1"/>
                </a:solidFill>
                <a:latin typeface="Calibri" panose="020F0502020204030204" pitchFamily="34" charset="0"/>
                <a:cs typeface="Calibri" panose="020F0502020204030204" pitchFamily="34" charset="0"/>
              </a:rPr>
              <a:t>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26" name="Imagen 2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9188" y="4404884"/>
            <a:ext cx="249814" cy="241200"/>
          </a:xfrm>
          <a:prstGeom prst="rect">
            <a:avLst/>
          </a:prstGeom>
        </p:spPr>
      </p:pic>
      <p:sp>
        <p:nvSpPr>
          <p:cNvPr id="27" name="Rectángulo 26"/>
          <p:cNvSpPr/>
          <p:nvPr/>
        </p:nvSpPr>
        <p:spPr>
          <a:xfrm>
            <a:off x="1027867" y="4966429"/>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err="1" smtClean="0">
                <a:solidFill>
                  <a:schemeClr val="tx1"/>
                </a:solidFill>
                <a:latin typeface="Calibri" panose="020F0502020204030204" pitchFamily="34" charset="0"/>
                <a:cs typeface="Calibri" panose="020F0502020204030204" pitchFamily="34" charset="0"/>
              </a:rPr>
              <a:t>IndexSearch</a:t>
            </a:r>
            <a:endParaRPr lang="en-GB" sz="950" dirty="0" smtClean="0">
              <a:solidFill>
                <a:schemeClr val="tx1"/>
              </a:solidFill>
              <a:latin typeface="Calibri" panose="020F0502020204030204" pitchFamily="34" charset="0"/>
              <a:cs typeface="Calibri" panose="020F0502020204030204" pitchFamily="34" charset="0"/>
            </a:endParaRPr>
          </a:p>
          <a:p>
            <a:r>
              <a:rPr lang="en-GB" sz="950" dirty="0" smtClean="0">
                <a:solidFill>
                  <a:schemeClr val="tx1"/>
                </a:solidFill>
                <a:latin typeface="Calibri" panose="020F0502020204030204" pitchFamily="34" charset="0"/>
                <a:cs typeface="Calibri" panose="020F0502020204030204" pitchFamily="34" charset="0"/>
              </a:rPr>
              <a:t>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28" name="Imagen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9188" y="5023335"/>
            <a:ext cx="249814" cy="241200"/>
          </a:xfrm>
          <a:prstGeom prst="rect">
            <a:avLst/>
          </a:prstGeom>
        </p:spPr>
      </p:pic>
      <p:sp>
        <p:nvSpPr>
          <p:cNvPr id="29" name="Rectángulo 28"/>
          <p:cNvSpPr/>
          <p:nvPr/>
        </p:nvSpPr>
        <p:spPr>
          <a:xfrm>
            <a:off x="1027867" y="5584879"/>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Log Aggregator</a:t>
            </a:r>
            <a:endParaRPr lang="en-GB" sz="950" dirty="0">
              <a:solidFill>
                <a:schemeClr val="tx1"/>
              </a:solidFill>
              <a:latin typeface="Calibri" panose="020F0502020204030204" pitchFamily="34" charset="0"/>
              <a:cs typeface="Calibri" panose="020F0502020204030204" pitchFamily="34" charset="0"/>
            </a:endParaRPr>
          </a:p>
        </p:txBody>
      </p:sp>
      <p:pic>
        <p:nvPicPr>
          <p:cNvPr id="30" name="Imagen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9188" y="5641785"/>
            <a:ext cx="259067" cy="241200"/>
          </a:xfrm>
          <a:prstGeom prst="rect">
            <a:avLst/>
          </a:prstGeom>
        </p:spPr>
      </p:pic>
      <p:sp>
        <p:nvSpPr>
          <p:cNvPr id="31" name="Rectángulo 30"/>
          <p:cNvSpPr/>
          <p:nvPr/>
        </p:nvSpPr>
        <p:spPr>
          <a:xfrm>
            <a:off x="1027867" y="3729527"/>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User</a:t>
            </a:r>
          </a:p>
          <a:p>
            <a:r>
              <a:rPr lang="en-GB" sz="950" dirty="0" smtClean="0">
                <a:solidFill>
                  <a:schemeClr val="tx1"/>
                </a:solidFill>
                <a:latin typeface="Calibri" panose="020F0502020204030204" pitchFamily="34" charset="0"/>
                <a:cs typeface="Calibri" panose="020F0502020204030204" pitchFamily="34" charset="0"/>
              </a:rPr>
              <a:t>Management</a:t>
            </a:r>
            <a:endParaRPr lang="en-GB" sz="950" dirty="0">
              <a:solidFill>
                <a:schemeClr val="tx1"/>
              </a:solidFill>
              <a:latin typeface="Calibri" panose="020F0502020204030204" pitchFamily="34" charset="0"/>
              <a:cs typeface="Calibri" panose="020F0502020204030204" pitchFamily="34" charset="0"/>
            </a:endParaRPr>
          </a:p>
        </p:txBody>
      </p:sp>
      <p:pic>
        <p:nvPicPr>
          <p:cNvPr id="32" name="Imagen 3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09188" y="3786433"/>
            <a:ext cx="249814" cy="241200"/>
          </a:xfrm>
          <a:prstGeom prst="rect">
            <a:avLst/>
          </a:prstGeom>
        </p:spPr>
      </p:pic>
      <p:sp>
        <p:nvSpPr>
          <p:cNvPr id="33" name="Rectángulo 32"/>
          <p:cNvSpPr/>
          <p:nvPr/>
        </p:nvSpPr>
        <p:spPr>
          <a:xfrm>
            <a:off x="2698308" y="1250770"/>
            <a:ext cx="1695972" cy="870224"/>
          </a:xfrm>
          <a:prstGeom prst="rect">
            <a:avLst/>
          </a:prstGeom>
          <a:solidFill>
            <a:schemeClr val="bg2">
              <a:lumMod val="90000"/>
            </a:schemeClr>
          </a:solidFill>
          <a:ln w="3175">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r>
              <a:rPr lang="en-GB" sz="1100" b="1" dirty="0">
                <a:solidFill>
                  <a:schemeClr val="tx1"/>
                </a:solidFill>
                <a:latin typeface="Calibri" panose="020F0502020204030204" pitchFamily="34" charset="0"/>
                <a:cs typeface="Calibri" panose="020F0502020204030204" pitchFamily="34" charset="0"/>
              </a:rPr>
              <a:t>ROD3</a:t>
            </a:r>
          </a:p>
        </p:txBody>
      </p:sp>
      <p:sp>
        <p:nvSpPr>
          <p:cNvPr id="34" name="Rectángulo 33"/>
          <p:cNvSpPr/>
          <p:nvPr/>
        </p:nvSpPr>
        <p:spPr>
          <a:xfrm>
            <a:off x="2828415" y="1559863"/>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ROD Integration Layer</a:t>
            </a:r>
            <a:endParaRPr lang="en-GB" sz="950" dirty="0">
              <a:solidFill>
                <a:schemeClr val="tx1"/>
              </a:solidFill>
              <a:latin typeface="Calibri" panose="020F0502020204030204" pitchFamily="34" charset="0"/>
              <a:cs typeface="Calibri" panose="020F0502020204030204" pitchFamily="34" charset="0"/>
            </a:endParaRPr>
          </a:p>
        </p:txBody>
      </p:sp>
      <p:pic>
        <p:nvPicPr>
          <p:cNvPr id="35" name="Imagen 3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09736" y="1616769"/>
            <a:ext cx="249814" cy="241200"/>
          </a:xfrm>
          <a:prstGeom prst="rect">
            <a:avLst/>
          </a:prstGeom>
        </p:spPr>
      </p:pic>
      <p:grpSp>
        <p:nvGrpSpPr>
          <p:cNvPr id="36" name="Grupo 35"/>
          <p:cNvGrpSpPr/>
          <p:nvPr/>
        </p:nvGrpSpPr>
        <p:grpSpPr>
          <a:xfrm>
            <a:off x="6334777" y="1545349"/>
            <a:ext cx="1377950" cy="355012"/>
            <a:chOff x="6092840" y="1604952"/>
            <a:chExt cx="1377950" cy="355012"/>
          </a:xfrm>
        </p:grpSpPr>
        <p:sp>
          <p:nvSpPr>
            <p:cNvPr id="37" name="Rectángulo 36"/>
            <p:cNvSpPr/>
            <p:nvPr/>
          </p:nvSpPr>
          <p:spPr>
            <a:xfrm>
              <a:off x="6092840" y="1604952"/>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HTTPS </a:t>
              </a:r>
            </a:p>
            <a:p>
              <a:r>
                <a:rPr lang="en-GB" sz="950" dirty="0" smtClean="0">
                  <a:solidFill>
                    <a:schemeClr val="tx1"/>
                  </a:solidFill>
                  <a:latin typeface="Calibri" panose="020F0502020204030204" pitchFamily="34" charset="0"/>
                  <a:cs typeface="Calibri" panose="020F0502020204030204" pitchFamily="34" charset="0"/>
                </a:rPr>
                <a:t>Load Balancer</a:t>
              </a:r>
              <a:endParaRPr lang="en-GB" sz="950" dirty="0">
                <a:solidFill>
                  <a:schemeClr val="tx1"/>
                </a:solidFill>
                <a:latin typeface="Calibri" panose="020F0502020204030204" pitchFamily="34" charset="0"/>
                <a:cs typeface="Calibri" panose="020F0502020204030204" pitchFamily="34" charset="0"/>
              </a:endParaRPr>
            </a:p>
          </p:txBody>
        </p:sp>
        <p:pic>
          <p:nvPicPr>
            <p:cNvPr id="38" name="Imagen 3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4161" y="1647458"/>
              <a:ext cx="278438" cy="270000"/>
            </a:xfrm>
            <a:prstGeom prst="rect">
              <a:avLst/>
            </a:prstGeom>
            <a:ln w="3175">
              <a:noFill/>
            </a:ln>
          </p:spPr>
        </p:pic>
      </p:grpSp>
      <p:sp>
        <p:nvSpPr>
          <p:cNvPr id="39" name="Rectángulo 38"/>
          <p:cNvSpPr/>
          <p:nvPr/>
        </p:nvSpPr>
        <p:spPr>
          <a:xfrm>
            <a:off x="3048823" y="4168406"/>
            <a:ext cx="1377950" cy="355012"/>
          </a:xfrm>
          <a:prstGeom prst="rect">
            <a:avLst/>
          </a:prstGeom>
          <a:solidFill>
            <a:schemeClr val="bg1"/>
          </a:solidFill>
          <a:ln w="3175">
            <a:solidFill>
              <a:schemeClr val="accent3">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Document Repository Service</a:t>
            </a:r>
          </a:p>
        </p:txBody>
      </p:sp>
      <p:pic>
        <p:nvPicPr>
          <p:cNvPr id="40" name="Imagen 3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30144" y="4225312"/>
            <a:ext cx="249814" cy="241200"/>
          </a:xfrm>
          <a:prstGeom prst="rect">
            <a:avLst/>
          </a:prstGeom>
        </p:spPr>
      </p:pic>
      <p:sp>
        <p:nvSpPr>
          <p:cNvPr id="41" name="Rectángulo 40"/>
          <p:cNvSpPr/>
          <p:nvPr/>
        </p:nvSpPr>
        <p:spPr>
          <a:xfrm>
            <a:off x="4691800" y="4168406"/>
            <a:ext cx="1377950" cy="355012"/>
          </a:xfrm>
          <a:prstGeom prst="rect">
            <a:avLst/>
          </a:prstGeom>
          <a:solidFill>
            <a:schemeClr val="bg1"/>
          </a:solidFill>
          <a:ln w="3175">
            <a:solidFill>
              <a:schemeClr val="accent3">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Collaboration Service</a:t>
            </a:r>
          </a:p>
        </p:txBody>
      </p:sp>
      <p:pic>
        <p:nvPicPr>
          <p:cNvPr id="42" name="Imagen 4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3121" y="4225312"/>
            <a:ext cx="249814" cy="241200"/>
          </a:xfrm>
          <a:prstGeom prst="rect">
            <a:avLst/>
          </a:prstGeom>
        </p:spPr>
      </p:pic>
      <p:sp>
        <p:nvSpPr>
          <p:cNvPr id="43" name="Rectángulo 42"/>
          <p:cNvSpPr/>
          <p:nvPr/>
        </p:nvSpPr>
        <p:spPr>
          <a:xfrm>
            <a:off x="3582591" y="5474790"/>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Bus</a:t>
            </a:r>
          </a:p>
        </p:txBody>
      </p:sp>
      <p:pic>
        <p:nvPicPr>
          <p:cNvPr id="44" name="Imagen 4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45726" y="5531696"/>
            <a:ext cx="268000" cy="241200"/>
          </a:xfrm>
          <a:prstGeom prst="rect">
            <a:avLst/>
          </a:prstGeom>
        </p:spPr>
      </p:pic>
      <p:sp>
        <p:nvSpPr>
          <p:cNvPr id="45" name="Rectángulo 44"/>
          <p:cNvSpPr/>
          <p:nvPr/>
        </p:nvSpPr>
        <p:spPr>
          <a:xfrm>
            <a:off x="5237865" y="5474790"/>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Topics</a:t>
            </a:r>
          </a:p>
        </p:txBody>
      </p:sp>
      <p:pic>
        <p:nvPicPr>
          <p:cNvPr id="46" name="Imagen 4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19186" y="5531696"/>
            <a:ext cx="268000" cy="241200"/>
          </a:xfrm>
          <a:prstGeom prst="rect">
            <a:avLst/>
          </a:prstGeom>
        </p:spPr>
      </p:pic>
      <p:sp>
        <p:nvSpPr>
          <p:cNvPr id="47" name="Rectángulo 46"/>
          <p:cNvSpPr/>
          <p:nvPr/>
        </p:nvSpPr>
        <p:spPr>
          <a:xfrm>
            <a:off x="4691375" y="2499121"/>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a:solidFill>
                  <a:schemeClr val="tx1"/>
                </a:solidFill>
                <a:latin typeface="Calibri" panose="020F0502020204030204" pitchFamily="34" charset="0"/>
                <a:cs typeface="Calibri" panose="020F0502020204030204" pitchFamily="34" charset="0"/>
              </a:rPr>
              <a:t>API Gateway</a:t>
            </a:r>
          </a:p>
        </p:txBody>
      </p:sp>
      <p:pic>
        <p:nvPicPr>
          <p:cNvPr id="48" name="Imagen 4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72696" y="2541627"/>
            <a:ext cx="270000" cy="270000"/>
          </a:xfrm>
          <a:prstGeom prst="rect">
            <a:avLst/>
          </a:prstGeom>
        </p:spPr>
      </p:pic>
      <p:sp>
        <p:nvSpPr>
          <p:cNvPr id="49" name="Rectángulo 48"/>
          <p:cNvSpPr/>
          <p:nvPr/>
        </p:nvSpPr>
        <p:spPr>
          <a:xfrm>
            <a:off x="6334777" y="2499121"/>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a:solidFill>
                  <a:schemeClr val="tx1"/>
                </a:solidFill>
                <a:latin typeface="Calibri" panose="020F0502020204030204" pitchFamily="34" charset="0"/>
                <a:cs typeface="Calibri" panose="020F0502020204030204" pitchFamily="34" charset="0"/>
              </a:rPr>
              <a:t>Service Registry</a:t>
            </a:r>
          </a:p>
        </p:txBody>
      </p:sp>
      <p:pic>
        <p:nvPicPr>
          <p:cNvPr id="50" name="Imagen 49"/>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16098" y="2556027"/>
            <a:ext cx="258429" cy="241200"/>
          </a:xfrm>
          <a:prstGeom prst="rect">
            <a:avLst/>
          </a:prstGeom>
        </p:spPr>
      </p:pic>
      <p:sp>
        <p:nvSpPr>
          <p:cNvPr id="51" name="Rectángulo 50"/>
          <p:cNvSpPr/>
          <p:nvPr/>
        </p:nvSpPr>
        <p:spPr>
          <a:xfrm>
            <a:off x="9952512" y="3805641"/>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Postrgres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Primary</a:t>
            </a:r>
          </a:p>
        </p:txBody>
      </p:sp>
      <p:pic>
        <p:nvPicPr>
          <p:cNvPr id="52" name="Imagen 5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3833" y="3862547"/>
            <a:ext cx="268000" cy="241200"/>
          </a:xfrm>
          <a:prstGeom prst="rect">
            <a:avLst/>
          </a:prstGeom>
        </p:spPr>
      </p:pic>
      <p:sp>
        <p:nvSpPr>
          <p:cNvPr id="53" name="Rectángulo 52"/>
          <p:cNvSpPr/>
          <p:nvPr/>
        </p:nvSpPr>
        <p:spPr>
          <a:xfrm>
            <a:off x="8366972" y="5543550"/>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Primary</a:t>
            </a:r>
          </a:p>
        </p:txBody>
      </p:sp>
      <p:pic>
        <p:nvPicPr>
          <p:cNvPr id="54" name="Imagen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8293" y="5600456"/>
            <a:ext cx="268000" cy="241200"/>
          </a:xfrm>
          <a:prstGeom prst="rect">
            <a:avLst/>
          </a:prstGeom>
        </p:spPr>
      </p:pic>
      <p:sp>
        <p:nvSpPr>
          <p:cNvPr id="55" name="Rectángulo 54"/>
          <p:cNvSpPr/>
          <p:nvPr/>
        </p:nvSpPr>
        <p:spPr>
          <a:xfrm>
            <a:off x="4690950" y="1545349"/>
            <a:ext cx="137880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Reportnet Frontend</a:t>
            </a:r>
          </a:p>
        </p:txBody>
      </p:sp>
      <p:pic>
        <p:nvPicPr>
          <p:cNvPr id="56" name="Imagen 5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772271" y="1587855"/>
            <a:ext cx="278182" cy="270000"/>
          </a:xfrm>
          <a:prstGeom prst="rect">
            <a:avLst/>
          </a:prstGeom>
        </p:spPr>
      </p:pic>
      <p:sp>
        <p:nvSpPr>
          <p:cNvPr id="57" name="Rectángulo 56"/>
          <p:cNvSpPr/>
          <p:nvPr/>
        </p:nvSpPr>
        <p:spPr>
          <a:xfrm>
            <a:off x="3048823" y="3517512"/>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Validation</a:t>
            </a:r>
          </a:p>
          <a:p>
            <a:r>
              <a:rPr lang="en-GB" sz="950" dirty="0">
                <a:solidFill>
                  <a:schemeClr val="tx1"/>
                </a:solidFill>
                <a:latin typeface="Calibri" panose="020F0502020204030204" pitchFamily="34" charset="0"/>
                <a:cs typeface="Calibri" panose="020F0502020204030204" pitchFamily="34" charset="0"/>
              </a:rPr>
              <a:t>Service</a:t>
            </a:r>
          </a:p>
        </p:txBody>
      </p:sp>
      <p:pic>
        <p:nvPicPr>
          <p:cNvPr id="58" name="Imagen 5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30144" y="3574418"/>
            <a:ext cx="249814" cy="241200"/>
          </a:xfrm>
          <a:prstGeom prst="rect">
            <a:avLst/>
          </a:prstGeom>
        </p:spPr>
      </p:pic>
      <p:sp>
        <p:nvSpPr>
          <p:cNvPr id="59" name="Rectángulo 58"/>
          <p:cNvSpPr/>
          <p:nvPr/>
        </p:nvSpPr>
        <p:spPr>
          <a:xfrm>
            <a:off x="4691375" y="3517512"/>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Dataset Service</a:t>
            </a:r>
          </a:p>
        </p:txBody>
      </p:sp>
      <p:pic>
        <p:nvPicPr>
          <p:cNvPr id="60" name="Imagen 5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2696" y="3574418"/>
            <a:ext cx="249814" cy="241200"/>
          </a:xfrm>
          <a:prstGeom prst="rect">
            <a:avLst/>
          </a:prstGeom>
        </p:spPr>
      </p:pic>
      <p:sp>
        <p:nvSpPr>
          <p:cNvPr id="61" name="Rectángulo 60"/>
          <p:cNvSpPr/>
          <p:nvPr/>
        </p:nvSpPr>
        <p:spPr>
          <a:xfrm>
            <a:off x="6334777" y="3517512"/>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Dataflow Service</a:t>
            </a:r>
          </a:p>
        </p:txBody>
      </p:sp>
      <p:pic>
        <p:nvPicPr>
          <p:cNvPr id="62" name="Imagen 6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16098" y="3574418"/>
            <a:ext cx="249814" cy="241200"/>
          </a:xfrm>
          <a:prstGeom prst="rect">
            <a:avLst/>
          </a:prstGeom>
        </p:spPr>
      </p:pic>
      <p:sp>
        <p:nvSpPr>
          <p:cNvPr id="63" name="Rectángulo 62"/>
          <p:cNvSpPr/>
          <p:nvPr/>
        </p:nvSpPr>
        <p:spPr>
          <a:xfrm>
            <a:off x="6334777" y="4168406"/>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Recordstore Service</a:t>
            </a:r>
          </a:p>
        </p:txBody>
      </p:sp>
      <p:pic>
        <p:nvPicPr>
          <p:cNvPr id="64" name="Imagen 6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16098" y="4225312"/>
            <a:ext cx="249814" cy="241200"/>
          </a:xfrm>
          <a:prstGeom prst="rect">
            <a:avLst/>
          </a:prstGeom>
        </p:spPr>
      </p:pic>
      <p:grpSp>
        <p:nvGrpSpPr>
          <p:cNvPr id="65" name="Grupo 64"/>
          <p:cNvGrpSpPr/>
          <p:nvPr/>
        </p:nvGrpSpPr>
        <p:grpSpPr>
          <a:xfrm>
            <a:off x="8267358" y="1348205"/>
            <a:ext cx="607162" cy="749301"/>
            <a:chOff x="8784294" y="1405355"/>
            <a:chExt cx="607162" cy="749301"/>
          </a:xfrm>
          <a:solidFill>
            <a:schemeClr val="accent3">
              <a:lumMod val="20000"/>
              <a:lumOff val="80000"/>
            </a:schemeClr>
          </a:solidFill>
        </p:grpSpPr>
        <p:sp>
          <p:nvSpPr>
            <p:cNvPr id="66" name="Rectángulo 65"/>
            <p:cNvSpPr/>
            <p:nvPr/>
          </p:nvSpPr>
          <p:spPr>
            <a:xfrm>
              <a:off x="8784294" y="1405355"/>
              <a:ext cx="607162" cy="749301"/>
            </a:xfrm>
            <a:prstGeom prst="rect">
              <a:avLst/>
            </a:prstGeom>
            <a:solidFill>
              <a:schemeClr val="bg2">
                <a:lumMod val="90000"/>
              </a:schemeClr>
            </a:solidFill>
            <a:ln w="3175">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108000" rtlCol="0" anchor="b" anchorCtr="0"/>
            <a:lstStyle/>
            <a:p>
              <a:pPr algn="ctr"/>
              <a:r>
                <a:rPr lang="en-GB" sz="950" dirty="0" smtClean="0">
                  <a:solidFill>
                    <a:schemeClr val="tx1"/>
                  </a:solidFill>
                  <a:latin typeface="Calibri" panose="020F0502020204030204" pitchFamily="34" charset="0"/>
                  <a:cs typeface="Calibri" panose="020F0502020204030204" pitchFamily="34" charset="0"/>
                </a:rPr>
                <a:t>Users</a:t>
              </a:r>
              <a:endParaRPr lang="en-GB" sz="950" dirty="0">
                <a:solidFill>
                  <a:schemeClr val="tx1"/>
                </a:solidFill>
                <a:latin typeface="Calibri" panose="020F0502020204030204" pitchFamily="34" charset="0"/>
                <a:cs typeface="Calibri" panose="020F0502020204030204" pitchFamily="34" charset="0"/>
              </a:endParaRPr>
            </a:p>
          </p:txBody>
        </p:sp>
        <p:pic>
          <p:nvPicPr>
            <p:cNvPr id="67" name="Imagen 66"/>
            <p:cNvPicPr>
              <a:picLocks noChangeAspect="1"/>
            </p:cNvPicPr>
            <p:nvPr/>
          </p:nvPicPr>
          <p:blipFill>
            <a:blip r:embed="rId14">
              <a:grayscl/>
              <a:extLst>
                <a:ext uri="{BEBA8EAE-BF5A-486C-A8C5-ECC9F3942E4B}">
                  <a14:imgProps xmlns:a14="http://schemas.microsoft.com/office/drawing/2010/main">
                    <a14:imgLayer r:embed="rId15">
                      <a14:imgEffect>
                        <a14:sharpenSoften amount="50000"/>
                      </a14:imgEffect>
                    </a14:imgLayer>
                  </a14:imgProps>
                </a:ext>
                <a:ext uri="{28A0092B-C50C-407E-A947-70E740481C1C}">
                  <a14:useLocalDpi xmlns:a14="http://schemas.microsoft.com/office/drawing/2010/main" val="0"/>
                </a:ext>
              </a:extLst>
            </a:blip>
            <a:stretch>
              <a:fillRect/>
            </a:stretch>
          </p:blipFill>
          <p:spPr>
            <a:xfrm>
              <a:off x="8869927" y="1586640"/>
              <a:ext cx="435897" cy="290598"/>
            </a:xfrm>
            <a:prstGeom prst="rect">
              <a:avLst/>
            </a:prstGeom>
            <a:noFill/>
            <a:ln w="3175">
              <a:noFill/>
            </a:ln>
          </p:spPr>
        </p:pic>
      </p:grpSp>
      <p:cxnSp>
        <p:nvCxnSpPr>
          <p:cNvPr id="68" name="Conector recto de flecha 67"/>
          <p:cNvCxnSpPr>
            <a:stCxn id="47" idx="0"/>
            <a:endCxn id="55" idx="2"/>
          </p:cNvCxnSpPr>
          <p:nvPr/>
        </p:nvCxnSpPr>
        <p:spPr>
          <a:xfrm flipV="1">
            <a:off x="5380350" y="1900361"/>
            <a:ext cx="0" cy="59876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69" name="Conector angular 68"/>
          <p:cNvCxnSpPr>
            <a:stCxn id="11" idx="1"/>
            <a:endCxn id="7" idx="2"/>
          </p:cNvCxnSpPr>
          <p:nvPr/>
        </p:nvCxnSpPr>
        <p:spPr>
          <a:xfrm rot="10800000">
            <a:off x="7391790" y="4826363"/>
            <a:ext cx="875569" cy="824539"/>
          </a:xfrm>
          <a:prstGeom prst="bentConnector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0" name="Conector angular 69"/>
          <p:cNvCxnSpPr>
            <a:stCxn id="34" idx="2"/>
            <a:endCxn id="47" idx="1"/>
          </p:cNvCxnSpPr>
          <p:nvPr/>
        </p:nvCxnSpPr>
        <p:spPr>
          <a:xfrm rot="16200000" flipH="1">
            <a:off x="3723506" y="1708758"/>
            <a:ext cx="761752" cy="1173985"/>
          </a:xfrm>
          <a:prstGeom prst="bentConnector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1" name="Conector recto de flecha 70"/>
          <p:cNvCxnSpPr>
            <a:endCxn id="66" idx="1"/>
          </p:cNvCxnSpPr>
          <p:nvPr/>
        </p:nvCxnSpPr>
        <p:spPr>
          <a:xfrm>
            <a:off x="7712727" y="1722855"/>
            <a:ext cx="554631" cy="1"/>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2" name="Conector recto de flecha 71"/>
          <p:cNvCxnSpPr>
            <a:stCxn id="49" idx="2"/>
            <a:endCxn id="6" idx="0"/>
          </p:cNvCxnSpPr>
          <p:nvPr/>
        </p:nvCxnSpPr>
        <p:spPr>
          <a:xfrm>
            <a:off x="7023752" y="2854133"/>
            <a:ext cx="0" cy="299472"/>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3" name="Conector recto de flecha 72"/>
          <p:cNvCxnSpPr>
            <a:stCxn id="8" idx="0"/>
            <a:endCxn id="47" idx="2"/>
          </p:cNvCxnSpPr>
          <p:nvPr/>
        </p:nvCxnSpPr>
        <p:spPr>
          <a:xfrm flipV="1">
            <a:off x="5380350" y="2854133"/>
            <a:ext cx="0" cy="302839"/>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4" name="Conector angular 73"/>
          <p:cNvCxnSpPr>
            <a:stCxn id="19" idx="1"/>
            <a:endCxn id="63" idx="3"/>
          </p:cNvCxnSpPr>
          <p:nvPr/>
        </p:nvCxnSpPr>
        <p:spPr>
          <a:xfrm rot="10800000">
            <a:off x="7712728" y="4345912"/>
            <a:ext cx="1454891" cy="542410"/>
          </a:xfrm>
          <a:prstGeom prst="bentConnector3">
            <a:avLst>
              <a:gd name="adj1" fmla="val 66367"/>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5" name="Conector recto de flecha 74"/>
          <p:cNvCxnSpPr>
            <a:stCxn id="51" idx="1"/>
            <a:endCxn id="17" idx="3"/>
          </p:cNvCxnSpPr>
          <p:nvPr/>
        </p:nvCxnSpPr>
        <p:spPr>
          <a:xfrm flipH="1">
            <a:off x="9763972" y="3983147"/>
            <a:ext cx="188540" cy="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6" name="Conector recto de flecha 75"/>
          <p:cNvCxnSpPr>
            <a:stCxn id="15" idx="2"/>
            <a:endCxn id="51" idx="0"/>
          </p:cNvCxnSpPr>
          <p:nvPr/>
        </p:nvCxnSpPr>
        <p:spPr>
          <a:xfrm>
            <a:off x="10641487" y="3667419"/>
            <a:ext cx="0" cy="138222"/>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7" name="Conector recto de flecha 76"/>
          <p:cNvCxnSpPr/>
          <p:nvPr/>
        </p:nvCxnSpPr>
        <p:spPr>
          <a:xfrm>
            <a:off x="6069750" y="1722855"/>
            <a:ext cx="265027" cy="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8" name="Conector recto de flecha 77"/>
          <p:cNvCxnSpPr>
            <a:endCxn id="13" idx="3"/>
          </p:cNvCxnSpPr>
          <p:nvPr/>
        </p:nvCxnSpPr>
        <p:spPr>
          <a:xfrm flipH="1">
            <a:off x="7929815" y="3983147"/>
            <a:ext cx="337543" cy="721"/>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9" name="Conector angular 78"/>
          <p:cNvCxnSpPr>
            <a:stCxn id="43" idx="0"/>
            <a:endCxn id="13" idx="2"/>
          </p:cNvCxnSpPr>
          <p:nvPr/>
        </p:nvCxnSpPr>
        <p:spPr>
          <a:xfrm rot="5400000" flipH="1" flipV="1">
            <a:off x="4499915" y="4593931"/>
            <a:ext cx="652510" cy="1109209"/>
          </a:xfrm>
          <a:prstGeom prst="bentConnector3">
            <a:avLst>
              <a:gd name="adj1" fmla="val 7530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0" name="Conector recto de flecha 79"/>
          <p:cNvCxnSpPr>
            <a:stCxn id="10" idx="2"/>
            <a:endCxn id="19" idx="0"/>
          </p:cNvCxnSpPr>
          <p:nvPr/>
        </p:nvCxnSpPr>
        <p:spPr>
          <a:xfrm>
            <a:off x="9856280" y="4549516"/>
            <a:ext cx="313" cy="16130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81" name="Rectángulo 80"/>
          <p:cNvSpPr/>
          <p:nvPr/>
        </p:nvSpPr>
        <p:spPr>
          <a:xfrm>
            <a:off x="9780440" y="1542963"/>
            <a:ext cx="1476000" cy="234000"/>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GB" sz="950" b="1" dirty="0" smtClean="0">
                <a:solidFill>
                  <a:schemeClr val="tx1"/>
                </a:solidFill>
                <a:latin typeface="Calibri" panose="020F0502020204030204" pitchFamily="34" charset="0"/>
                <a:cs typeface="Calibri" panose="020F0502020204030204" pitchFamily="34" charset="0"/>
              </a:rPr>
              <a:t>Pending Implementation</a:t>
            </a:r>
            <a:endParaRPr lang="en-GB" sz="950" b="1" dirty="0">
              <a:solidFill>
                <a:schemeClr val="tx1"/>
              </a:solidFill>
              <a:latin typeface="Calibri" panose="020F0502020204030204" pitchFamily="34" charset="0"/>
              <a:cs typeface="Calibri" panose="020F0502020204030204" pitchFamily="34" charset="0"/>
            </a:endParaRPr>
          </a:p>
        </p:txBody>
      </p:sp>
      <p:grpSp>
        <p:nvGrpSpPr>
          <p:cNvPr id="82" name="Grupo 81"/>
          <p:cNvGrpSpPr/>
          <p:nvPr/>
        </p:nvGrpSpPr>
        <p:grpSpPr>
          <a:xfrm>
            <a:off x="350962" y="256166"/>
            <a:ext cx="1515294" cy="893110"/>
            <a:chOff x="9825038" y="1780006"/>
            <a:chExt cx="2153052" cy="1291446"/>
          </a:xfrm>
        </p:grpSpPr>
        <p:sp>
          <p:nvSpPr>
            <p:cNvPr id="83" name="Rectangle 1"/>
            <p:cNvSpPr/>
            <p:nvPr/>
          </p:nvSpPr>
          <p:spPr>
            <a:xfrm>
              <a:off x="9825038" y="1780006"/>
              <a:ext cx="2153052" cy="1291446"/>
            </a:xfrm>
            <a:prstGeom prst="rect">
              <a:avLst/>
            </a:prstGeom>
            <a:solidFill>
              <a:schemeClr val="bg1"/>
            </a:solidFill>
            <a:ln w="57150">
              <a:noFill/>
            </a:ln>
            <a:effectLst/>
          </p:spPr>
          <p:txBody>
            <a:bodyPr wrap="square" lIns="91440" tIns="45720" rIns="91440" bIns="45720">
              <a:noAutofit/>
            </a:bodyPr>
            <a:lstStyle/>
            <a:p>
              <a:pPr algn="ctr"/>
              <a:endParaRPr lang="en-US" sz="5400" b="1" cap="none" spc="0" dirty="0">
                <a:ln w="0"/>
                <a:solidFill>
                  <a:srgbClr val="C00000"/>
                </a:solidFill>
                <a:effectLst>
                  <a:outerShdw blurRad="38100" dist="25400" dir="5400000" algn="ctr" rotWithShape="0">
                    <a:srgbClr val="6E747A">
                      <a:alpha val="43000"/>
                    </a:srgbClr>
                  </a:outerShdw>
                </a:effectLst>
              </a:endParaRPr>
            </a:p>
          </p:txBody>
        </p:sp>
        <p:sp>
          <p:nvSpPr>
            <p:cNvPr id="84" name="Rectángulo 83"/>
            <p:cNvSpPr/>
            <p:nvPr/>
          </p:nvSpPr>
          <p:spPr>
            <a:xfrm>
              <a:off x="9933670" y="2096235"/>
              <a:ext cx="1935794" cy="845591"/>
            </a:xfrm>
            <a:prstGeom prst="rect">
              <a:avLst/>
            </a:prstGeom>
            <a:solidFill>
              <a:schemeClr val="bg1"/>
            </a:solidFill>
            <a:ln w="57150">
              <a:solidFill>
                <a:schemeClr val="accent6">
                  <a:lumMod val="75000"/>
                </a:schemeClr>
              </a:solidFill>
            </a:ln>
            <a:effectLst>
              <a:outerShdw blurRad="50800" dist="38100" dir="2700000" algn="tl" rotWithShape="0">
                <a:prstClr val="black">
                  <a:alpha val="40000"/>
                </a:prstClr>
              </a:outerShdw>
            </a:effectLst>
          </p:spPr>
          <p:txBody>
            <a:bodyPr wrap="square" lIns="91440" tIns="45720" rIns="91440" bIns="45720">
              <a:spAutoFit/>
            </a:bodyPr>
            <a:lstStyle/>
            <a:p>
              <a:pPr algn="ctr"/>
              <a:r>
                <a:rPr lang="es-ES" sz="3200" b="1" dirty="0" smtClean="0">
                  <a:ln w="0"/>
                  <a:solidFill>
                    <a:schemeClr val="accent6">
                      <a:lumMod val="75000"/>
                    </a:schemeClr>
                  </a:solidFill>
                  <a:effectLst>
                    <a:outerShdw blurRad="38100" dist="25400" dir="5400000" algn="ctr" rotWithShape="0">
                      <a:srgbClr val="6E747A">
                        <a:alpha val="43000"/>
                      </a:srgbClr>
                    </a:outerShdw>
                  </a:effectLst>
                </a:rPr>
                <a:t>27/06</a:t>
              </a:r>
              <a:endParaRPr lang="es-ES" sz="3200" b="1" dirty="0">
                <a:ln w="0"/>
                <a:solidFill>
                  <a:schemeClr val="accent6">
                    <a:lumMod val="75000"/>
                  </a:schemeClr>
                </a:solidFill>
                <a:effectLst>
                  <a:outerShdw blurRad="38100" dist="25400" dir="5400000" algn="ctr" rotWithShape="0">
                    <a:srgbClr val="6E747A">
                      <a:alpha val="43000"/>
                    </a:srgbClr>
                  </a:outerShdw>
                </a:effectLst>
              </a:endParaRPr>
            </a:p>
          </p:txBody>
        </p:sp>
        <p:sp>
          <p:nvSpPr>
            <p:cNvPr id="85" name="Rectángulo 84"/>
            <p:cNvSpPr/>
            <p:nvPr/>
          </p:nvSpPr>
          <p:spPr>
            <a:xfrm>
              <a:off x="10042166" y="1917832"/>
              <a:ext cx="1718804" cy="311534"/>
            </a:xfrm>
            <a:prstGeom prst="rect">
              <a:avLst/>
            </a:prstGeom>
            <a:solidFill>
              <a:schemeClr val="bg1"/>
            </a:solidFill>
            <a:ln w="57150">
              <a:noFill/>
            </a:ln>
            <a:effectLst/>
          </p:spPr>
          <p:txBody>
            <a:bodyPr wrap="square" lIns="36000" tIns="0" rIns="36000" bIns="0">
              <a:spAutoFit/>
            </a:bodyPr>
            <a:lstStyle/>
            <a:p>
              <a:pPr algn="ctr"/>
              <a:r>
                <a:rPr lang="en-US" sz="1400" b="1" dirty="0">
                  <a:ln w="0"/>
                  <a:solidFill>
                    <a:schemeClr val="accent6">
                      <a:lumMod val="75000"/>
                    </a:schemeClr>
                  </a:solidFill>
                  <a:effectLst>
                    <a:outerShdw blurRad="38100" dist="25400" dir="5400000" algn="ctr" rotWithShape="0">
                      <a:srgbClr val="6E747A">
                        <a:alpha val="43000"/>
                      </a:srgbClr>
                    </a:outerShdw>
                  </a:effectLst>
                  <a:latin typeface="Calibri" panose="020F0502020204030204" pitchFamily="34" charset="0"/>
                  <a:cs typeface="Calibri" panose="020F0502020204030204" pitchFamily="34" charset="0"/>
                </a:rPr>
                <a:t>DEMO Version</a:t>
              </a:r>
            </a:p>
          </p:txBody>
        </p:sp>
      </p:grpSp>
      <p:sp>
        <p:nvSpPr>
          <p:cNvPr id="86" name="Paralelogramo 85"/>
          <p:cNvSpPr/>
          <p:nvPr/>
        </p:nvSpPr>
        <p:spPr>
          <a:xfrm>
            <a:off x="2104447" y="66259"/>
            <a:ext cx="2584528"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Architecture Implementation</a:t>
            </a:r>
            <a:endParaRPr lang="en-GB" sz="1600" b="1" dirty="0">
              <a:solidFill>
                <a:srgbClr val="016357"/>
              </a:solidFill>
            </a:endParaRPr>
          </a:p>
        </p:txBody>
      </p:sp>
      <p:grpSp>
        <p:nvGrpSpPr>
          <p:cNvPr id="87" name="Grupo 86"/>
          <p:cNvGrpSpPr/>
          <p:nvPr/>
        </p:nvGrpSpPr>
        <p:grpSpPr>
          <a:xfrm>
            <a:off x="3046848" y="1543374"/>
            <a:ext cx="8281639" cy="4353213"/>
            <a:chOff x="3046848" y="1543374"/>
            <a:chExt cx="8281639" cy="4353213"/>
          </a:xfrm>
        </p:grpSpPr>
        <p:sp>
          <p:nvSpPr>
            <p:cNvPr id="88" name="Rectángulo 87"/>
            <p:cNvSpPr/>
            <p:nvPr/>
          </p:nvSpPr>
          <p:spPr>
            <a:xfrm>
              <a:off x="9780440" y="1860487"/>
              <a:ext cx="1476000" cy="234000"/>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8000" tIns="36000" rIns="36000" bIns="36000" numCol="1" spcCol="0" rtlCol="0" fromWordArt="0" anchor="ctr" anchorCtr="0" forceAA="0" compatLnSpc="1">
              <a:prstTxWarp prst="textNoShape">
                <a:avLst/>
              </a:prstTxWarp>
              <a:noAutofit/>
            </a:bodyPr>
            <a:lstStyle/>
            <a:p>
              <a:r>
                <a:rPr lang="en-GB" sz="950" b="1" dirty="0">
                  <a:solidFill>
                    <a:schemeClr val="tx1"/>
                  </a:solidFill>
                  <a:latin typeface="Calibri" panose="020F0502020204030204" pitchFamily="34" charset="0"/>
                  <a:cs typeface="Calibri" panose="020F0502020204030204" pitchFamily="34" charset="0"/>
                </a:rPr>
                <a:t>Initial Implementation</a:t>
              </a:r>
            </a:p>
          </p:txBody>
        </p:sp>
        <p:sp>
          <p:nvSpPr>
            <p:cNvPr id="89" name="Rectángulo 88"/>
            <p:cNvSpPr/>
            <p:nvPr/>
          </p:nvSpPr>
          <p:spPr>
            <a:xfrm>
              <a:off x="3580616" y="5472815"/>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Bus</a:t>
              </a:r>
            </a:p>
          </p:txBody>
        </p:sp>
        <p:pic>
          <p:nvPicPr>
            <p:cNvPr id="90" name="Imagen 8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43751" y="5529721"/>
              <a:ext cx="268000" cy="241200"/>
            </a:xfrm>
            <a:prstGeom prst="rect">
              <a:avLst/>
            </a:prstGeom>
            <a:noFill/>
            <a:ln w="6350">
              <a:noFill/>
            </a:ln>
            <a:effectLst/>
          </p:spPr>
        </p:pic>
        <p:sp>
          <p:nvSpPr>
            <p:cNvPr id="91" name="Rectángulo 90"/>
            <p:cNvSpPr/>
            <p:nvPr/>
          </p:nvSpPr>
          <p:spPr>
            <a:xfrm>
              <a:off x="5235890" y="5472815"/>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Topics</a:t>
              </a:r>
            </a:p>
          </p:txBody>
        </p:sp>
        <p:pic>
          <p:nvPicPr>
            <p:cNvPr id="92" name="Imagen 91"/>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17211" y="5529721"/>
              <a:ext cx="268000" cy="241200"/>
            </a:xfrm>
            <a:prstGeom prst="rect">
              <a:avLst/>
            </a:prstGeom>
            <a:noFill/>
            <a:ln w="6350">
              <a:noFill/>
            </a:ln>
            <a:effectLst/>
          </p:spPr>
        </p:pic>
        <p:sp>
          <p:nvSpPr>
            <p:cNvPr id="93" name="Rectángulo 92"/>
            <p:cNvSpPr/>
            <p:nvPr/>
          </p:nvSpPr>
          <p:spPr>
            <a:xfrm>
              <a:off x="4689400" y="2497146"/>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a:solidFill>
                    <a:schemeClr val="tx1"/>
                  </a:solidFill>
                  <a:latin typeface="Calibri" panose="020F0502020204030204" pitchFamily="34" charset="0"/>
                  <a:cs typeface="Calibri" panose="020F0502020204030204" pitchFamily="34" charset="0"/>
                </a:rPr>
                <a:t>API Gateway</a:t>
              </a:r>
            </a:p>
          </p:txBody>
        </p:sp>
        <p:pic>
          <p:nvPicPr>
            <p:cNvPr id="94" name="Imagen 9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70721" y="2539652"/>
              <a:ext cx="270000" cy="270000"/>
            </a:xfrm>
            <a:prstGeom prst="rect">
              <a:avLst/>
            </a:prstGeom>
            <a:noFill/>
            <a:ln w="6350">
              <a:noFill/>
            </a:ln>
            <a:effectLst/>
          </p:spPr>
        </p:pic>
        <p:sp>
          <p:nvSpPr>
            <p:cNvPr id="95" name="Rectángulo 94"/>
            <p:cNvSpPr/>
            <p:nvPr/>
          </p:nvSpPr>
          <p:spPr>
            <a:xfrm>
              <a:off x="6332802" y="2497146"/>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a:solidFill>
                    <a:schemeClr val="tx1"/>
                  </a:solidFill>
                  <a:latin typeface="Calibri" panose="020F0502020204030204" pitchFamily="34" charset="0"/>
                  <a:cs typeface="Calibri" panose="020F0502020204030204" pitchFamily="34" charset="0"/>
                </a:rPr>
                <a:t>Service Registry</a:t>
              </a:r>
            </a:p>
          </p:txBody>
        </p:sp>
        <p:pic>
          <p:nvPicPr>
            <p:cNvPr id="96" name="Imagen 95"/>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14123" y="2554052"/>
              <a:ext cx="258429" cy="241200"/>
            </a:xfrm>
            <a:prstGeom prst="rect">
              <a:avLst/>
            </a:prstGeom>
            <a:noFill/>
            <a:ln w="6350">
              <a:noFill/>
            </a:ln>
            <a:effectLst/>
          </p:spPr>
        </p:pic>
        <p:sp>
          <p:nvSpPr>
            <p:cNvPr id="97" name="Rectángulo 96"/>
            <p:cNvSpPr/>
            <p:nvPr/>
          </p:nvSpPr>
          <p:spPr>
            <a:xfrm>
              <a:off x="9950537" y="3803666"/>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Postrgres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Primary</a:t>
              </a:r>
            </a:p>
          </p:txBody>
        </p:sp>
        <p:pic>
          <p:nvPicPr>
            <p:cNvPr id="98" name="Imagen 9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1858" y="3860572"/>
              <a:ext cx="268000" cy="241200"/>
            </a:xfrm>
            <a:prstGeom prst="rect">
              <a:avLst/>
            </a:prstGeom>
            <a:noFill/>
            <a:ln w="6350">
              <a:noFill/>
            </a:ln>
            <a:effectLst/>
          </p:spPr>
        </p:pic>
        <p:sp>
          <p:nvSpPr>
            <p:cNvPr id="99" name="Rectángulo 98"/>
            <p:cNvSpPr/>
            <p:nvPr/>
          </p:nvSpPr>
          <p:spPr>
            <a:xfrm>
              <a:off x="8364997" y="5541575"/>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Primary</a:t>
              </a:r>
            </a:p>
          </p:txBody>
        </p:sp>
        <p:pic>
          <p:nvPicPr>
            <p:cNvPr id="100" name="Imagen 9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6318" y="5598481"/>
              <a:ext cx="268000" cy="241200"/>
            </a:xfrm>
            <a:prstGeom prst="rect">
              <a:avLst/>
            </a:prstGeom>
            <a:noFill/>
            <a:ln w="6350">
              <a:noFill/>
            </a:ln>
            <a:effectLst/>
          </p:spPr>
        </p:pic>
        <p:sp>
          <p:nvSpPr>
            <p:cNvPr id="101" name="Rectángulo 100"/>
            <p:cNvSpPr/>
            <p:nvPr/>
          </p:nvSpPr>
          <p:spPr>
            <a:xfrm>
              <a:off x="4688975" y="1543374"/>
              <a:ext cx="137880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Reportnet Frontend</a:t>
              </a:r>
            </a:p>
          </p:txBody>
        </p:sp>
        <p:pic>
          <p:nvPicPr>
            <p:cNvPr id="102" name="Imagen 10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770296" y="1585880"/>
              <a:ext cx="278182" cy="270000"/>
            </a:xfrm>
            <a:prstGeom prst="rect">
              <a:avLst/>
            </a:prstGeom>
            <a:noFill/>
            <a:ln w="6350">
              <a:noFill/>
            </a:ln>
            <a:effectLst/>
          </p:spPr>
        </p:pic>
        <p:sp>
          <p:nvSpPr>
            <p:cNvPr id="103" name="Rectángulo 102"/>
            <p:cNvSpPr/>
            <p:nvPr/>
          </p:nvSpPr>
          <p:spPr>
            <a:xfrm>
              <a:off x="3046848" y="3515537"/>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Validation</a:t>
              </a:r>
            </a:p>
            <a:p>
              <a:r>
                <a:rPr lang="en-GB" sz="950" dirty="0">
                  <a:solidFill>
                    <a:schemeClr val="tx1"/>
                  </a:solidFill>
                  <a:latin typeface="Calibri" panose="020F0502020204030204" pitchFamily="34" charset="0"/>
                  <a:cs typeface="Calibri" panose="020F0502020204030204" pitchFamily="34" charset="0"/>
                </a:rPr>
                <a:t>Service</a:t>
              </a:r>
            </a:p>
          </p:txBody>
        </p:sp>
        <p:pic>
          <p:nvPicPr>
            <p:cNvPr id="104" name="Imagen 10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28169" y="3572443"/>
              <a:ext cx="249814" cy="241200"/>
            </a:xfrm>
            <a:prstGeom prst="rect">
              <a:avLst/>
            </a:prstGeom>
            <a:noFill/>
            <a:ln w="6350">
              <a:noFill/>
            </a:ln>
            <a:effectLst/>
          </p:spPr>
        </p:pic>
        <p:sp>
          <p:nvSpPr>
            <p:cNvPr id="105" name="Rectángulo 104"/>
            <p:cNvSpPr/>
            <p:nvPr/>
          </p:nvSpPr>
          <p:spPr>
            <a:xfrm>
              <a:off x="4689400" y="3515537"/>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Dataset Service</a:t>
              </a:r>
            </a:p>
          </p:txBody>
        </p:sp>
        <p:pic>
          <p:nvPicPr>
            <p:cNvPr id="106" name="Imagen 10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0721" y="3572443"/>
              <a:ext cx="249814" cy="241200"/>
            </a:xfrm>
            <a:prstGeom prst="rect">
              <a:avLst/>
            </a:prstGeom>
            <a:noFill/>
            <a:ln w="6350">
              <a:noFill/>
            </a:ln>
            <a:effectLst/>
          </p:spPr>
        </p:pic>
        <p:sp>
          <p:nvSpPr>
            <p:cNvPr id="107" name="Rectángulo 106"/>
            <p:cNvSpPr/>
            <p:nvPr/>
          </p:nvSpPr>
          <p:spPr>
            <a:xfrm>
              <a:off x="6332802" y="3515537"/>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Dataflow Service</a:t>
              </a:r>
            </a:p>
          </p:txBody>
        </p:sp>
        <p:pic>
          <p:nvPicPr>
            <p:cNvPr id="108" name="Imagen 10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14123" y="3572443"/>
              <a:ext cx="249814" cy="241200"/>
            </a:xfrm>
            <a:prstGeom prst="rect">
              <a:avLst/>
            </a:prstGeom>
            <a:noFill/>
            <a:ln w="6350">
              <a:noFill/>
            </a:ln>
            <a:effectLst/>
          </p:spPr>
        </p:pic>
        <p:sp>
          <p:nvSpPr>
            <p:cNvPr id="109" name="Rectángulo 108"/>
            <p:cNvSpPr/>
            <p:nvPr/>
          </p:nvSpPr>
          <p:spPr>
            <a:xfrm>
              <a:off x="6332802" y="4166431"/>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Recordstore Service</a:t>
              </a:r>
            </a:p>
          </p:txBody>
        </p:sp>
        <p:pic>
          <p:nvPicPr>
            <p:cNvPr id="110" name="Imagen 10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14123" y="4223337"/>
              <a:ext cx="249814" cy="241200"/>
            </a:xfrm>
            <a:prstGeom prst="rect">
              <a:avLst/>
            </a:prstGeom>
            <a:noFill/>
            <a:ln w="6350">
              <a:noFill/>
            </a:ln>
            <a:effectLst/>
          </p:spPr>
        </p:pic>
        <p:sp>
          <p:nvSpPr>
            <p:cNvPr id="111" name="Anillo 110"/>
            <p:cNvSpPr/>
            <p:nvPr/>
          </p:nvSpPr>
          <p:spPr>
            <a:xfrm>
              <a:off x="9878537" y="1909938"/>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12" name="Anillo 111"/>
            <p:cNvSpPr/>
            <p:nvPr/>
          </p:nvSpPr>
          <p:spPr>
            <a:xfrm>
              <a:off x="11157680" y="3835943"/>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13" name="Anillo 112"/>
            <p:cNvSpPr/>
            <p:nvPr/>
          </p:nvSpPr>
          <p:spPr>
            <a:xfrm>
              <a:off x="9563147" y="5575381"/>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14" name="Anillo 113"/>
            <p:cNvSpPr/>
            <p:nvPr/>
          </p:nvSpPr>
          <p:spPr>
            <a:xfrm>
              <a:off x="7552466" y="4180717"/>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15" name="Anillo 114"/>
            <p:cNvSpPr/>
            <p:nvPr/>
          </p:nvSpPr>
          <p:spPr>
            <a:xfrm>
              <a:off x="7552466" y="3529823"/>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16" name="Anillo 115"/>
            <p:cNvSpPr/>
            <p:nvPr/>
          </p:nvSpPr>
          <p:spPr>
            <a:xfrm>
              <a:off x="5901050" y="3537837"/>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17" name="Anillo 116"/>
            <p:cNvSpPr/>
            <p:nvPr/>
          </p:nvSpPr>
          <p:spPr>
            <a:xfrm>
              <a:off x="6444730" y="5497817"/>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18" name="Anillo 117"/>
            <p:cNvSpPr/>
            <p:nvPr/>
          </p:nvSpPr>
          <p:spPr>
            <a:xfrm>
              <a:off x="4792266" y="5496335"/>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19" name="Anillo 118"/>
            <p:cNvSpPr/>
            <p:nvPr/>
          </p:nvSpPr>
          <p:spPr>
            <a:xfrm>
              <a:off x="4257648" y="3542297"/>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20" name="Anillo 119"/>
            <p:cNvSpPr/>
            <p:nvPr/>
          </p:nvSpPr>
          <p:spPr>
            <a:xfrm>
              <a:off x="7552466" y="2511432"/>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21" name="Anillo 120"/>
            <p:cNvSpPr/>
            <p:nvPr/>
          </p:nvSpPr>
          <p:spPr>
            <a:xfrm>
              <a:off x="5908730" y="2511432"/>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22" name="Anillo 121"/>
            <p:cNvSpPr/>
            <p:nvPr/>
          </p:nvSpPr>
          <p:spPr>
            <a:xfrm>
              <a:off x="5908730" y="1557660"/>
              <a:ext cx="144000" cy="144000"/>
            </a:xfrm>
            <a:prstGeom prst="donut">
              <a:avLst>
                <a:gd name="adj" fmla="val 30104"/>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sp>
        <p:nvSpPr>
          <p:cNvPr id="123" name="Rectángulo 122"/>
          <p:cNvSpPr/>
          <p:nvPr/>
        </p:nvSpPr>
        <p:spPr>
          <a:xfrm>
            <a:off x="1265215" y="126269"/>
            <a:ext cx="10858642" cy="523220"/>
          </a:xfrm>
          <a:prstGeom prst="rect">
            <a:avLst/>
          </a:prstGeom>
        </p:spPr>
        <p:txBody>
          <a:bodyPr wrap="square">
            <a:spAutoFit/>
          </a:bodyPr>
          <a:lstStyle/>
          <a:p>
            <a:pPr algn="r">
              <a:spcBef>
                <a:spcPts val="300"/>
              </a:spcBef>
              <a:spcAft>
                <a:spcPts val="300"/>
              </a:spcAft>
            </a:pPr>
            <a:r>
              <a:rPr lang="en-US" sz="2800" dirty="0">
                <a:solidFill>
                  <a:schemeClr val="bg1"/>
                </a:solidFill>
                <a:latin typeface="Calibri" panose="020F0502020204030204" pitchFamily="34" charset="0"/>
              </a:rPr>
              <a:t>Update on the </a:t>
            </a:r>
            <a:r>
              <a:rPr lang="en-US" sz="2800" dirty="0" smtClean="0">
                <a:solidFill>
                  <a:schemeClr val="bg1"/>
                </a:solidFill>
                <a:latin typeface="Calibri" panose="020F0502020204030204" pitchFamily="34" charset="0"/>
              </a:rPr>
              <a:t>Architecture and SW </a:t>
            </a:r>
            <a:r>
              <a:rPr lang="en-US" sz="2800" dirty="0">
                <a:solidFill>
                  <a:schemeClr val="bg1"/>
                </a:solidFill>
                <a:latin typeface="Calibri" panose="020F0502020204030204" pitchFamily="34" charset="0"/>
              </a:rPr>
              <a:t>D</a:t>
            </a:r>
            <a:r>
              <a:rPr lang="en-US" sz="2800" dirty="0" smtClean="0">
                <a:solidFill>
                  <a:schemeClr val="bg1"/>
                </a:solidFill>
                <a:latin typeface="Calibri" panose="020F0502020204030204" pitchFamily="34" charset="0"/>
              </a:rPr>
              <a:t>evelopment</a:t>
            </a:r>
            <a:endParaRPr lang="es-ES" sz="2800" kern="50" dirty="0">
              <a:solidFill>
                <a:schemeClr val="bg1"/>
              </a:solidFill>
              <a:latin typeface="Verdana" panose="020B0604030504040204" pitchFamily="34" charset="0"/>
              <a:ea typeface="Times New Roman" panose="02020603050405020304" pitchFamily="18" charset="0"/>
              <a:cs typeface="CG Times (W1)"/>
            </a:endParaRPr>
          </a:p>
        </p:txBody>
      </p:sp>
    </p:spTree>
    <p:extLst>
      <p:ext uri="{BB962C8B-B14F-4D97-AF65-F5344CB8AC3E}">
        <p14:creationId xmlns:p14="http://schemas.microsoft.com/office/powerpoint/2010/main" val="18551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p:cTn id="7" dur="3000" fill="hold"/>
                                        <p:tgtEl>
                                          <p:spTgt spid="82"/>
                                        </p:tgtEl>
                                        <p:attrNameLst>
                                          <p:attrName>ppt_w</p:attrName>
                                        </p:attrNameLst>
                                      </p:cBhvr>
                                      <p:tavLst>
                                        <p:tav tm="0">
                                          <p:val>
                                            <p:fltVal val="0"/>
                                          </p:val>
                                        </p:tav>
                                        <p:tav tm="100000">
                                          <p:val>
                                            <p:strVal val="#ppt_w"/>
                                          </p:val>
                                        </p:tav>
                                      </p:tavLst>
                                    </p:anim>
                                    <p:anim calcmode="lin" valueType="num">
                                      <p:cBhvr>
                                        <p:cTn id="8" dur="3000" fill="hold"/>
                                        <p:tgtEl>
                                          <p:spTgt spid="82"/>
                                        </p:tgtEl>
                                        <p:attrNameLst>
                                          <p:attrName>ppt_h</p:attrName>
                                        </p:attrNameLst>
                                      </p:cBhvr>
                                      <p:tavLst>
                                        <p:tav tm="0">
                                          <p:val>
                                            <p:fltVal val="0"/>
                                          </p:val>
                                        </p:tav>
                                        <p:tav tm="100000">
                                          <p:val>
                                            <p:strVal val="#ppt_h"/>
                                          </p:val>
                                        </p:tav>
                                      </p:tavLst>
                                    </p:anim>
                                    <p:anim calcmode="lin" valueType="num">
                                      <p:cBhvr>
                                        <p:cTn id="9" dur="3000" fill="hold"/>
                                        <p:tgtEl>
                                          <p:spTgt spid="82"/>
                                        </p:tgtEl>
                                        <p:attrNameLst>
                                          <p:attrName>style.rotation</p:attrName>
                                        </p:attrNameLst>
                                      </p:cBhvr>
                                      <p:tavLst>
                                        <p:tav tm="0">
                                          <p:val>
                                            <p:fltVal val="90"/>
                                          </p:val>
                                        </p:tav>
                                        <p:tav tm="100000">
                                          <p:val>
                                            <p:fltVal val="0"/>
                                          </p:val>
                                        </p:tav>
                                      </p:tavLst>
                                    </p:anim>
                                    <p:animEffect transition="in" filter="fade">
                                      <p:cBhvr>
                                        <p:cTn id="10" dur="3000"/>
                                        <p:tgtEl>
                                          <p:spTgt spid="8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87"/>
                                        </p:tgtEl>
                                        <p:attrNameLst>
                                          <p:attrName>style.visibility</p:attrName>
                                        </p:attrNameLst>
                                      </p:cBhvr>
                                      <p:to>
                                        <p:strVal val="visible"/>
                                      </p:to>
                                    </p:set>
                                    <p:animEffect transition="in" filter="barn(inVertical)">
                                      <p:cBhvr>
                                        <p:cTn id="15" dur="5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11</a:t>
            </a:fld>
            <a:endParaRPr lang="en-US" dirty="0">
              <a:solidFill>
                <a:schemeClr val="bg1"/>
              </a:solidFill>
            </a:endParaRPr>
          </a:p>
        </p:txBody>
      </p:sp>
      <p:sp>
        <p:nvSpPr>
          <p:cNvPr id="4" name="Rectángulo 3"/>
          <p:cNvSpPr/>
          <p:nvPr/>
        </p:nvSpPr>
        <p:spPr>
          <a:xfrm>
            <a:off x="415636" y="1178304"/>
            <a:ext cx="11222845" cy="5057670"/>
          </a:xfrm>
          <a:prstGeom prst="rect">
            <a:avLst/>
          </a:prstGeom>
          <a:solidFill>
            <a:schemeClr val="bg1"/>
          </a:solidFill>
          <a:ln w="3175">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36000" bIns="36000" numCol="1" spcCol="0" rtlCol="0" fromWordArt="0" anchor="t" anchorCtr="0" forceAA="0" compatLnSpc="1">
            <a:prstTxWarp prst="textNoShape">
              <a:avLst/>
            </a:prstTxWarp>
            <a:noAutofit/>
          </a:bodyPr>
          <a:lstStyle/>
          <a:p>
            <a:endParaRPr lang="en-GB" sz="950" b="1" dirty="0">
              <a:solidFill>
                <a:schemeClr val="tx1"/>
              </a:solidFill>
              <a:latin typeface="Calibri" panose="020F0502020204030204" pitchFamily="34" charset="0"/>
              <a:cs typeface="Calibri" panose="020F0502020204030204" pitchFamily="34" charset="0"/>
            </a:endParaRPr>
          </a:p>
        </p:txBody>
      </p:sp>
      <p:sp>
        <p:nvSpPr>
          <p:cNvPr id="5" name="Rectángulo 4"/>
          <p:cNvSpPr/>
          <p:nvPr/>
        </p:nvSpPr>
        <p:spPr>
          <a:xfrm>
            <a:off x="6942946" y="3153605"/>
            <a:ext cx="161612" cy="99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p:cNvSpPr/>
          <p:nvPr/>
        </p:nvSpPr>
        <p:spPr>
          <a:xfrm>
            <a:off x="7310983" y="4726584"/>
            <a:ext cx="161612" cy="99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p:cNvSpPr/>
          <p:nvPr/>
        </p:nvSpPr>
        <p:spPr>
          <a:xfrm>
            <a:off x="5299544" y="3156972"/>
            <a:ext cx="161612" cy="99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p:cNvSpPr/>
          <p:nvPr/>
        </p:nvSpPr>
        <p:spPr>
          <a:xfrm>
            <a:off x="709845" y="2304360"/>
            <a:ext cx="7358386" cy="3766088"/>
          </a:xfrm>
          <a:prstGeom prst="rect">
            <a:avLst/>
          </a:prstGeom>
          <a:solidFill>
            <a:schemeClr val="bg2"/>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tlCol="0" anchor="t" anchorCtr="0"/>
          <a:lstStyle/>
          <a:p>
            <a:r>
              <a:rPr lang="en-GB" sz="1200" b="1" dirty="0">
                <a:solidFill>
                  <a:schemeClr val="tx1"/>
                </a:solidFill>
              </a:rPr>
              <a:t>Reportnet Integration Layer</a:t>
            </a:r>
          </a:p>
        </p:txBody>
      </p:sp>
      <p:sp>
        <p:nvSpPr>
          <p:cNvPr id="9" name="Rectángulo 8"/>
          <p:cNvSpPr/>
          <p:nvPr/>
        </p:nvSpPr>
        <p:spPr>
          <a:xfrm>
            <a:off x="8267358" y="3145456"/>
            <a:ext cx="3177844" cy="1404060"/>
          </a:xfrm>
          <a:prstGeom prst="rect">
            <a:avLst/>
          </a:prstGeom>
          <a:solidFill>
            <a:srgbClr val="DCE6F2"/>
          </a:solidFill>
          <a:ln w="31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a:solidFill>
                  <a:schemeClr val="tx1"/>
                </a:solidFill>
                <a:latin typeface="Calibri" panose="020F0502020204030204" pitchFamily="34" charset="0"/>
                <a:cs typeface="Calibri" panose="020F0502020204030204" pitchFamily="34" charset="0"/>
              </a:rPr>
              <a:t>PostgreSQL HA</a:t>
            </a:r>
          </a:p>
        </p:txBody>
      </p:sp>
      <p:sp>
        <p:nvSpPr>
          <p:cNvPr id="10" name="Rectángulo 9"/>
          <p:cNvSpPr/>
          <p:nvPr/>
        </p:nvSpPr>
        <p:spPr>
          <a:xfrm>
            <a:off x="8267358" y="5231353"/>
            <a:ext cx="3177844" cy="839096"/>
          </a:xfrm>
          <a:prstGeom prst="rect">
            <a:avLst/>
          </a:prstGeom>
          <a:solidFill>
            <a:srgbClr val="DCE6F2"/>
          </a:solidFill>
          <a:ln w="31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a:solidFill>
                  <a:schemeClr val="tx1"/>
                </a:solidFill>
                <a:latin typeface="Calibri" panose="020F0502020204030204" pitchFamily="34" charset="0"/>
                <a:cs typeface="Calibri" panose="020F0502020204030204" pitchFamily="34" charset="0"/>
              </a:rPr>
              <a:t>MongoDB Cluster</a:t>
            </a:r>
          </a:p>
        </p:txBody>
      </p:sp>
      <p:sp>
        <p:nvSpPr>
          <p:cNvPr id="11" name="Rectángulo 10"/>
          <p:cNvSpPr/>
          <p:nvPr/>
        </p:nvSpPr>
        <p:spPr>
          <a:xfrm>
            <a:off x="2831736" y="5157788"/>
            <a:ext cx="4045872" cy="782104"/>
          </a:xfrm>
          <a:prstGeom prst="rect">
            <a:avLst/>
          </a:prstGeom>
          <a:solidFill>
            <a:schemeClr val="bg1">
              <a:lumMod val="85000"/>
            </a:schemeClr>
          </a:solidFill>
          <a:ln w="31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smtClean="0">
                <a:solidFill>
                  <a:schemeClr val="tx1"/>
                </a:solidFill>
                <a:latin typeface="Calibri" panose="020F0502020204030204" pitchFamily="34" charset="0"/>
                <a:cs typeface="Calibri" panose="020F0502020204030204" pitchFamily="34" charset="0"/>
              </a:rPr>
              <a:t>Event Bus Cluster</a:t>
            </a:r>
            <a:endParaRPr lang="en-GB" sz="1200" b="1" dirty="0">
              <a:solidFill>
                <a:schemeClr val="tx1"/>
              </a:solidFill>
              <a:latin typeface="Calibri" panose="020F0502020204030204" pitchFamily="34" charset="0"/>
              <a:cs typeface="Calibri" panose="020F0502020204030204" pitchFamily="34" charset="0"/>
            </a:endParaRPr>
          </a:p>
        </p:txBody>
      </p:sp>
      <p:sp>
        <p:nvSpPr>
          <p:cNvPr id="12" name="Rectángulo 11"/>
          <p:cNvSpPr/>
          <p:nvPr/>
        </p:nvSpPr>
        <p:spPr>
          <a:xfrm>
            <a:off x="2831735" y="3145456"/>
            <a:ext cx="5098080" cy="1676824"/>
          </a:xfrm>
          <a:prstGeom prst="rect">
            <a:avLst/>
          </a:prstGeom>
          <a:solidFill>
            <a:srgbClr val="F9F1D3"/>
          </a:solidFill>
          <a:ln w="3175">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r>
              <a:rPr lang="en-GB" sz="1200" b="1" dirty="0" err="1">
                <a:solidFill>
                  <a:schemeClr val="tx1"/>
                </a:solidFill>
                <a:latin typeface="Calibri" panose="020F0502020204030204" pitchFamily="34" charset="0"/>
                <a:cs typeface="Calibri" panose="020F0502020204030204" pitchFamily="34" charset="0"/>
              </a:rPr>
              <a:t>RecordNet</a:t>
            </a:r>
            <a:r>
              <a:rPr lang="en-GB" sz="1200" b="1" dirty="0">
                <a:solidFill>
                  <a:schemeClr val="tx1"/>
                </a:solidFill>
                <a:latin typeface="Calibri" panose="020F0502020204030204" pitchFamily="34" charset="0"/>
                <a:cs typeface="Calibri" panose="020F0502020204030204" pitchFamily="34" charset="0"/>
              </a:rPr>
              <a:t> Core Platform</a:t>
            </a:r>
          </a:p>
        </p:txBody>
      </p:sp>
      <p:sp>
        <p:nvSpPr>
          <p:cNvPr id="13" name="Rectángulo 12"/>
          <p:cNvSpPr/>
          <p:nvPr/>
        </p:nvSpPr>
        <p:spPr>
          <a:xfrm>
            <a:off x="4526612" y="1250770"/>
            <a:ext cx="3541619" cy="870224"/>
          </a:xfrm>
          <a:prstGeom prst="rect">
            <a:avLst/>
          </a:prstGeom>
          <a:solidFill>
            <a:srgbClr val="DCE6F2"/>
          </a:solidFill>
          <a:ln w="31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a:solidFill>
                  <a:schemeClr val="tx1"/>
                </a:solidFill>
                <a:latin typeface="Calibri" panose="020F0502020204030204" pitchFamily="34" charset="0"/>
                <a:cs typeface="Calibri" panose="020F0502020204030204" pitchFamily="34" charset="0"/>
              </a:rPr>
              <a:t>Reportnet Frontend Layer</a:t>
            </a:r>
          </a:p>
        </p:txBody>
      </p:sp>
      <p:sp>
        <p:nvSpPr>
          <p:cNvPr id="14" name="Rectángulo 13"/>
          <p:cNvSpPr/>
          <p:nvPr/>
        </p:nvSpPr>
        <p:spPr>
          <a:xfrm>
            <a:off x="9952512" y="3312407"/>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Replica(s)</a:t>
            </a:r>
          </a:p>
        </p:txBody>
      </p:sp>
      <p:pic>
        <p:nvPicPr>
          <p:cNvPr id="15" name="Imagen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8522" y="3373367"/>
            <a:ext cx="268000" cy="241200"/>
          </a:xfrm>
          <a:prstGeom prst="rect">
            <a:avLst/>
          </a:prstGeom>
        </p:spPr>
      </p:pic>
      <p:sp>
        <p:nvSpPr>
          <p:cNvPr id="16" name="Rectángulo 15"/>
          <p:cNvSpPr/>
          <p:nvPr/>
        </p:nvSpPr>
        <p:spPr>
          <a:xfrm>
            <a:off x="8386022" y="3805641"/>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PostgresSQL</a:t>
            </a:r>
            <a:r>
              <a:rPr lang="en-GB" sz="950" dirty="0">
                <a:solidFill>
                  <a:schemeClr val="tx1"/>
                </a:solidFill>
                <a:latin typeface="Calibri" panose="020F0502020204030204" pitchFamily="34" charset="0"/>
                <a:cs typeface="Calibri" panose="020F0502020204030204" pitchFamily="34" charset="0"/>
              </a:rPr>
              <a:t> Connection Pool</a:t>
            </a:r>
          </a:p>
        </p:txBody>
      </p:sp>
      <p:pic>
        <p:nvPicPr>
          <p:cNvPr id="17" name="Imagen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7343" y="3848147"/>
            <a:ext cx="278438" cy="270000"/>
          </a:xfrm>
          <a:prstGeom prst="rect">
            <a:avLst/>
          </a:prstGeom>
        </p:spPr>
      </p:pic>
      <p:sp>
        <p:nvSpPr>
          <p:cNvPr id="18" name="Rectángulo 17"/>
          <p:cNvSpPr/>
          <p:nvPr/>
        </p:nvSpPr>
        <p:spPr>
          <a:xfrm>
            <a:off x="9167618" y="4710816"/>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bg1">
                    <a:lumMod val="65000"/>
                  </a:schemeClr>
                </a:solidFill>
                <a:latin typeface="Calibri" panose="020F0502020204030204" pitchFamily="34" charset="0"/>
                <a:cs typeface="Calibri" panose="020F0502020204030204" pitchFamily="34" charset="0"/>
              </a:rPr>
              <a:t>Postrgres</a:t>
            </a:r>
            <a:endParaRPr lang="en-GB" sz="950" dirty="0">
              <a:solidFill>
                <a:schemeClr val="bg1">
                  <a:lumMod val="65000"/>
                </a:schemeClr>
              </a:solidFill>
              <a:latin typeface="Calibri" panose="020F0502020204030204" pitchFamily="34" charset="0"/>
              <a:cs typeface="Calibri" panose="020F0502020204030204" pitchFamily="34" charset="0"/>
            </a:endParaRPr>
          </a:p>
          <a:p>
            <a:r>
              <a:rPr lang="en-GB" sz="950" dirty="0">
                <a:solidFill>
                  <a:schemeClr val="bg1">
                    <a:lumMod val="65000"/>
                  </a:schemeClr>
                </a:solidFill>
                <a:latin typeface="Calibri" panose="020F0502020204030204" pitchFamily="34" charset="0"/>
                <a:cs typeface="Calibri" panose="020F0502020204030204" pitchFamily="34" charset="0"/>
              </a:rPr>
              <a:t>Operator</a:t>
            </a:r>
          </a:p>
        </p:txBody>
      </p:sp>
      <p:pic>
        <p:nvPicPr>
          <p:cNvPr id="19" name="Imagen 18"/>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248939" y="4767722"/>
            <a:ext cx="249814" cy="241200"/>
          </a:xfrm>
          <a:prstGeom prst="rect">
            <a:avLst/>
          </a:prstGeom>
        </p:spPr>
      </p:pic>
      <p:sp>
        <p:nvSpPr>
          <p:cNvPr id="20" name="Rectángulo 19"/>
          <p:cNvSpPr/>
          <p:nvPr/>
        </p:nvSpPr>
        <p:spPr>
          <a:xfrm>
            <a:off x="9933462" y="5543550"/>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Replica</a:t>
            </a:r>
          </a:p>
        </p:txBody>
      </p:sp>
      <p:pic>
        <p:nvPicPr>
          <p:cNvPr id="21" name="Imagen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4237" y="5600700"/>
            <a:ext cx="268000" cy="241200"/>
          </a:xfrm>
          <a:prstGeom prst="rect">
            <a:avLst/>
          </a:prstGeom>
        </p:spPr>
      </p:pic>
      <p:sp>
        <p:nvSpPr>
          <p:cNvPr id="22" name="Rectángulo 21"/>
          <p:cNvSpPr/>
          <p:nvPr/>
        </p:nvSpPr>
        <p:spPr>
          <a:xfrm>
            <a:off x="1027867" y="3517468"/>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User</a:t>
            </a:r>
          </a:p>
          <a:p>
            <a:r>
              <a:rPr lang="en-GB" sz="950" dirty="0" smtClean="0">
                <a:solidFill>
                  <a:schemeClr val="tx1"/>
                </a:solidFill>
                <a:latin typeface="Calibri" panose="020F0502020204030204" pitchFamily="34" charset="0"/>
                <a:cs typeface="Calibri" panose="020F0502020204030204" pitchFamily="34" charset="0"/>
              </a:rPr>
              <a:t>Management</a:t>
            </a:r>
            <a:endParaRPr lang="en-GB" sz="950" dirty="0">
              <a:solidFill>
                <a:schemeClr val="tx1"/>
              </a:solidFill>
              <a:latin typeface="Calibri" panose="020F0502020204030204" pitchFamily="34" charset="0"/>
              <a:cs typeface="Calibri" panose="020F0502020204030204" pitchFamily="34" charset="0"/>
            </a:endParaRPr>
          </a:p>
        </p:txBody>
      </p:sp>
      <p:pic>
        <p:nvPicPr>
          <p:cNvPr id="23" name="Imagen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9188" y="3574374"/>
            <a:ext cx="249814" cy="241200"/>
          </a:xfrm>
          <a:prstGeom prst="rect">
            <a:avLst/>
          </a:prstGeom>
        </p:spPr>
      </p:pic>
      <p:sp>
        <p:nvSpPr>
          <p:cNvPr id="24" name="Rectángulo 23"/>
          <p:cNvSpPr/>
          <p:nvPr/>
        </p:nvSpPr>
        <p:spPr>
          <a:xfrm>
            <a:off x="1027867" y="4648661"/>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Harvester</a:t>
            </a:r>
          </a:p>
          <a:p>
            <a:r>
              <a:rPr lang="en-GB" sz="950" dirty="0" smtClean="0">
                <a:solidFill>
                  <a:schemeClr val="tx1"/>
                </a:solidFill>
                <a:latin typeface="Calibri" panose="020F0502020204030204" pitchFamily="34" charset="0"/>
                <a:cs typeface="Calibri" panose="020F0502020204030204" pitchFamily="34" charset="0"/>
              </a:rPr>
              <a:t>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25" name="Imagen 2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9188" y="4709678"/>
            <a:ext cx="249814" cy="241200"/>
          </a:xfrm>
          <a:prstGeom prst="rect">
            <a:avLst/>
          </a:prstGeom>
        </p:spPr>
      </p:pic>
      <p:sp>
        <p:nvSpPr>
          <p:cNvPr id="26" name="Rectángulo 25"/>
          <p:cNvSpPr/>
          <p:nvPr/>
        </p:nvSpPr>
        <p:spPr>
          <a:xfrm>
            <a:off x="1027867" y="5116770"/>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err="1" smtClean="0">
                <a:solidFill>
                  <a:schemeClr val="tx1"/>
                </a:solidFill>
                <a:latin typeface="Calibri" panose="020F0502020204030204" pitchFamily="34" charset="0"/>
                <a:cs typeface="Calibri" panose="020F0502020204030204" pitchFamily="34" charset="0"/>
              </a:rPr>
              <a:t>IndexSearch</a:t>
            </a:r>
            <a:endParaRPr lang="en-GB" sz="950" dirty="0" smtClean="0">
              <a:solidFill>
                <a:schemeClr val="tx1"/>
              </a:solidFill>
              <a:latin typeface="Calibri" panose="020F0502020204030204" pitchFamily="34" charset="0"/>
              <a:cs typeface="Calibri" panose="020F0502020204030204" pitchFamily="34" charset="0"/>
            </a:endParaRPr>
          </a:p>
          <a:p>
            <a:r>
              <a:rPr lang="en-GB" sz="950" dirty="0" smtClean="0">
                <a:solidFill>
                  <a:schemeClr val="tx1"/>
                </a:solidFill>
                <a:latin typeface="Calibri" panose="020F0502020204030204" pitchFamily="34" charset="0"/>
                <a:cs typeface="Calibri" panose="020F0502020204030204" pitchFamily="34" charset="0"/>
              </a:rPr>
              <a:t>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27" name="Imagen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9188" y="5182989"/>
            <a:ext cx="249814" cy="241200"/>
          </a:xfrm>
          <a:prstGeom prst="rect">
            <a:avLst/>
          </a:prstGeom>
        </p:spPr>
      </p:pic>
      <p:sp>
        <p:nvSpPr>
          <p:cNvPr id="28" name="Rectángulo 27"/>
          <p:cNvSpPr/>
          <p:nvPr/>
        </p:nvSpPr>
        <p:spPr>
          <a:xfrm>
            <a:off x="1027867" y="5584879"/>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Log Aggregator</a:t>
            </a:r>
            <a:endParaRPr lang="en-GB" sz="950" dirty="0">
              <a:solidFill>
                <a:schemeClr val="tx1"/>
              </a:solidFill>
              <a:latin typeface="Calibri" panose="020F0502020204030204" pitchFamily="34" charset="0"/>
              <a:cs typeface="Calibri" panose="020F0502020204030204" pitchFamily="34" charset="0"/>
            </a:endParaRPr>
          </a:p>
        </p:txBody>
      </p:sp>
      <p:pic>
        <p:nvPicPr>
          <p:cNvPr id="29" name="Imagen 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9188" y="5641785"/>
            <a:ext cx="259067" cy="241200"/>
          </a:xfrm>
          <a:prstGeom prst="rect">
            <a:avLst/>
          </a:prstGeom>
        </p:spPr>
      </p:pic>
      <p:sp>
        <p:nvSpPr>
          <p:cNvPr id="30" name="Rectángulo 29"/>
          <p:cNvSpPr/>
          <p:nvPr/>
        </p:nvSpPr>
        <p:spPr>
          <a:xfrm>
            <a:off x="2582189" y="1250770"/>
            <a:ext cx="1695972" cy="870224"/>
          </a:xfrm>
          <a:prstGeom prst="rect">
            <a:avLst/>
          </a:prstGeom>
          <a:solidFill>
            <a:schemeClr val="bg2">
              <a:lumMod val="90000"/>
            </a:schemeClr>
          </a:solidFill>
          <a:ln w="3175">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r>
              <a:rPr lang="en-GB" sz="1200" b="1" dirty="0">
                <a:solidFill>
                  <a:schemeClr val="tx1"/>
                </a:solidFill>
                <a:latin typeface="Calibri" panose="020F0502020204030204" pitchFamily="34" charset="0"/>
                <a:cs typeface="Calibri" panose="020F0502020204030204" pitchFamily="34" charset="0"/>
              </a:rPr>
              <a:t>ROD3</a:t>
            </a:r>
          </a:p>
        </p:txBody>
      </p:sp>
      <p:sp>
        <p:nvSpPr>
          <p:cNvPr id="31" name="Rectángulo 30"/>
          <p:cNvSpPr/>
          <p:nvPr/>
        </p:nvSpPr>
        <p:spPr>
          <a:xfrm>
            <a:off x="2712296" y="1545349"/>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ROD Integration Layer</a:t>
            </a:r>
            <a:endParaRPr lang="en-GB" sz="950" dirty="0">
              <a:solidFill>
                <a:schemeClr val="tx1"/>
              </a:solidFill>
              <a:latin typeface="Calibri" panose="020F0502020204030204" pitchFamily="34" charset="0"/>
              <a:cs typeface="Calibri" panose="020F0502020204030204" pitchFamily="34" charset="0"/>
            </a:endParaRPr>
          </a:p>
        </p:txBody>
      </p:sp>
      <p:pic>
        <p:nvPicPr>
          <p:cNvPr id="32" name="Imagen 3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93617" y="1602255"/>
            <a:ext cx="249814" cy="241200"/>
          </a:xfrm>
          <a:prstGeom prst="rect">
            <a:avLst/>
          </a:prstGeom>
        </p:spPr>
      </p:pic>
      <p:grpSp>
        <p:nvGrpSpPr>
          <p:cNvPr id="33" name="Grupo 32"/>
          <p:cNvGrpSpPr/>
          <p:nvPr/>
        </p:nvGrpSpPr>
        <p:grpSpPr>
          <a:xfrm>
            <a:off x="6334777" y="1545349"/>
            <a:ext cx="1377950" cy="355012"/>
            <a:chOff x="6092840" y="1604952"/>
            <a:chExt cx="1377950" cy="355012"/>
          </a:xfrm>
        </p:grpSpPr>
        <p:sp>
          <p:nvSpPr>
            <p:cNvPr id="34" name="Rectángulo 33"/>
            <p:cNvSpPr/>
            <p:nvPr/>
          </p:nvSpPr>
          <p:spPr>
            <a:xfrm>
              <a:off x="6092840" y="1604952"/>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HTTPS </a:t>
              </a:r>
            </a:p>
            <a:p>
              <a:r>
                <a:rPr lang="en-GB" sz="950" dirty="0" smtClean="0">
                  <a:solidFill>
                    <a:schemeClr val="tx1"/>
                  </a:solidFill>
                  <a:latin typeface="Calibri" panose="020F0502020204030204" pitchFamily="34" charset="0"/>
                  <a:cs typeface="Calibri" panose="020F0502020204030204" pitchFamily="34" charset="0"/>
                </a:rPr>
                <a:t>Load Balancer</a:t>
              </a:r>
              <a:endParaRPr lang="en-GB" sz="950" dirty="0">
                <a:solidFill>
                  <a:schemeClr val="tx1"/>
                </a:solidFill>
                <a:latin typeface="Calibri" panose="020F0502020204030204" pitchFamily="34" charset="0"/>
                <a:cs typeface="Calibri" panose="020F0502020204030204" pitchFamily="34" charset="0"/>
              </a:endParaRPr>
            </a:p>
          </p:txBody>
        </p:sp>
        <p:pic>
          <p:nvPicPr>
            <p:cNvPr id="35" name="Imagen 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4161" y="1647458"/>
              <a:ext cx="278438" cy="270000"/>
            </a:xfrm>
            <a:prstGeom prst="rect">
              <a:avLst/>
            </a:prstGeom>
            <a:ln w="3175">
              <a:noFill/>
            </a:ln>
          </p:spPr>
        </p:pic>
      </p:grpSp>
      <p:sp>
        <p:nvSpPr>
          <p:cNvPr id="36" name="Rectángulo 35"/>
          <p:cNvSpPr/>
          <p:nvPr/>
        </p:nvSpPr>
        <p:spPr>
          <a:xfrm>
            <a:off x="3048823" y="4168406"/>
            <a:ext cx="1377950" cy="355012"/>
          </a:xfrm>
          <a:prstGeom prst="rect">
            <a:avLst/>
          </a:prstGeom>
          <a:solidFill>
            <a:schemeClr val="bg1"/>
          </a:solidFill>
          <a:ln w="3175">
            <a:solidFill>
              <a:schemeClr val="accent3">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Document Repository Service</a:t>
            </a:r>
          </a:p>
        </p:txBody>
      </p:sp>
      <p:pic>
        <p:nvPicPr>
          <p:cNvPr id="37" name="Imagen 3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30144" y="4225312"/>
            <a:ext cx="249814" cy="241200"/>
          </a:xfrm>
          <a:prstGeom prst="rect">
            <a:avLst/>
          </a:prstGeom>
        </p:spPr>
      </p:pic>
      <p:sp>
        <p:nvSpPr>
          <p:cNvPr id="38" name="Rectángulo 37"/>
          <p:cNvSpPr/>
          <p:nvPr/>
        </p:nvSpPr>
        <p:spPr>
          <a:xfrm>
            <a:off x="4691800" y="4168406"/>
            <a:ext cx="1377950" cy="355012"/>
          </a:xfrm>
          <a:prstGeom prst="rect">
            <a:avLst/>
          </a:prstGeom>
          <a:solidFill>
            <a:schemeClr val="bg1"/>
          </a:solidFill>
          <a:ln w="3175">
            <a:solidFill>
              <a:schemeClr val="accent3">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Collaboration Service</a:t>
            </a:r>
          </a:p>
        </p:txBody>
      </p:sp>
      <p:pic>
        <p:nvPicPr>
          <p:cNvPr id="39" name="Imagen 3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3121" y="4225312"/>
            <a:ext cx="249814" cy="241200"/>
          </a:xfrm>
          <a:prstGeom prst="rect">
            <a:avLst/>
          </a:prstGeom>
        </p:spPr>
      </p:pic>
      <p:sp>
        <p:nvSpPr>
          <p:cNvPr id="40" name="Rectángulo 39"/>
          <p:cNvSpPr/>
          <p:nvPr/>
        </p:nvSpPr>
        <p:spPr>
          <a:xfrm>
            <a:off x="3582591" y="5474790"/>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Bus</a:t>
            </a:r>
          </a:p>
        </p:txBody>
      </p:sp>
      <p:pic>
        <p:nvPicPr>
          <p:cNvPr id="41" name="Imagen 4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45726" y="5531696"/>
            <a:ext cx="268000" cy="241200"/>
          </a:xfrm>
          <a:prstGeom prst="rect">
            <a:avLst/>
          </a:prstGeom>
        </p:spPr>
      </p:pic>
      <p:sp>
        <p:nvSpPr>
          <p:cNvPr id="42" name="Rectángulo 41"/>
          <p:cNvSpPr/>
          <p:nvPr/>
        </p:nvSpPr>
        <p:spPr>
          <a:xfrm>
            <a:off x="5237865" y="5474790"/>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Topics</a:t>
            </a:r>
          </a:p>
        </p:txBody>
      </p:sp>
      <p:pic>
        <p:nvPicPr>
          <p:cNvPr id="43" name="Imagen 4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319186" y="5531696"/>
            <a:ext cx="268000" cy="241200"/>
          </a:xfrm>
          <a:prstGeom prst="rect">
            <a:avLst/>
          </a:prstGeom>
        </p:spPr>
      </p:pic>
      <p:sp>
        <p:nvSpPr>
          <p:cNvPr id="44" name="Rectángulo 43"/>
          <p:cNvSpPr/>
          <p:nvPr/>
        </p:nvSpPr>
        <p:spPr>
          <a:xfrm>
            <a:off x="4691375" y="2499121"/>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a:solidFill>
                  <a:schemeClr val="tx1"/>
                </a:solidFill>
                <a:latin typeface="Calibri" panose="020F0502020204030204" pitchFamily="34" charset="0"/>
                <a:cs typeface="Calibri" panose="020F0502020204030204" pitchFamily="34" charset="0"/>
              </a:rPr>
              <a:t>API Gateway</a:t>
            </a:r>
          </a:p>
        </p:txBody>
      </p:sp>
      <p:pic>
        <p:nvPicPr>
          <p:cNvPr id="45" name="Imagen 4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72696" y="2541627"/>
            <a:ext cx="270000" cy="270000"/>
          </a:xfrm>
          <a:prstGeom prst="rect">
            <a:avLst/>
          </a:prstGeom>
        </p:spPr>
      </p:pic>
      <p:sp>
        <p:nvSpPr>
          <p:cNvPr id="46" name="Rectángulo 45"/>
          <p:cNvSpPr/>
          <p:nvPr/>
        </p:nvSpPr>
        <p:spPr>
          <a:xfrm>
            <a:off x="6334777" y="2499121"/>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Service Registry</a:t>
            </a:r>
          </a:p>
        </p:txBody>
      </p:sp>
      <p:pic>
        <p:nvPicPr>
          <p:cNvPr id="47" name="Imagen 46"/>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416098" y="2556027"/>
            <a:ext cx="258429" cy="241200"/>
          </a:xfrm>
          <a:prstGeom prst="rect">
            <a:avLst/>
          </a:prstGeom>
        </p:spPr>
      </p:pic>
      <p:sp>
        <p:nvSpPr>
          <p:cNvPr id="48" name="Rectángulo 47"/>
          <p:cNvSpPr/>
          <p:nvPr/>
        </p:nvSpPr>
        <p:spPr>
          <a:xfrm>
            <a:off x="9952512" y="3805641"/>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Postrgres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Primary</a:t>
            </a:r>
          </a:p>
        </p:txBody>
      </p:sp>
      <p:pic>
        <p:nvPicPr>
          <p:cNvPr id="49" name="Imagen 4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3833" y="3862547"/>
            <a:ext cx="268000" cy="241200"/>
          </a:xfrm>
          <a:prstGeom prst="rect">
            <a:avLst/>
          </a:prstGeom>
        </p:spPr>
      </p:pic>
      <p:sp>
        <p:nvSpPr>
          <p:cNvPr id="50" name="Rectángulo 49"/>
          <p:cNvSpPr/>
          <p:nvPr/>
        </p:nvSpPr>
        <p:spPr>
          <a:xfrm>
            <a:off x="8366972" y="5543550"/>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Primary</a:t>
            </a:r>
          </a:p>
        </p:txBody>
      </p:sp>
      <p:pic>
        <p:nvPicPr>
          <p:cNvPr id="51" name="Imagen 5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8293" y="5600456"/>
            <a:ext cx="268000" cy="241200"/>
          </a:xfrm>
          <a:prstGeom prst="rect">
            <a:avLst/>
          </a:prstGeom>
        </p:spPr>
      </p:pic>
      <p:sp>
        <p:nvSpPr>
          <p:cNvPr id="52" name="Rectángulo 51"/>
          <p:cNvSpPr/>
          <p:nvPr/>
        </p:nvSpPr>
        <p:spPr>
          <a:xfrm>
            <a:off x="4690950" y="1545349"/>
            <a:ext cx="137880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Reportnet Frontend</a:t>
            </a:r>
          </a:p>
        </p:txBody>
      </p:sp>
      <p:pic>
        <p:nvPicPr>
          <p:cNvPr id="53" name="Imagen 5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772271" y="1587855"/>
            <a:ext cx="278182" cy="270000"/>
          </a:xfrm>
          <a:prstGeom prst="rect">
            <a:avLst/>
          </a:prstGeom>
        </p:spPr>
      </p:pic>
      <p:sp>
        <p:nvSpPr>
          <p:cNvPr id="54" name="Rectángulo 53"/>
          <p:cNvSpPr/>
          <p:nvPr/>
        </p:nvSpPr>
        <p:spPr>
          <a:xfrm>
            <a:off x="3048823" y="3517512"/>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Validation</a:t>
            </a:r>
          </a:p>
          <a:p>
            <a:r>
              <a:rPr lang="en-GB" sz="950" dirty="0">
                <a:solidFill>
                  <a:schemeClr val="tx1"/>
                </a:solidFill>
                <a:latin typeface="Calibri" panose="020F0502020204030204" pitchFamily="34" charset="0"/>
                <a:cs typeface="Calibri" panose="020F0502020204030204" pitchFamily="34" charset="0"/>
              </a:rPr>
              <a:t>Service</a:t>
            </a:r>
          </a:p>
        </p:txBody>
      </p:sp>
      <p:pic>
        <p:nvPicPr>
          <p:cNvPr id="55" name="Imagen 5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30144" y="3574418"/>
            <a:ext cx="249814" cy="241200"/>
          </a:xfrm>
          <a:prstGeom prst="rect">
            <a:avLst/>
          </a:prstGeom>
        </p:spPr>
      </p:pic>
      <p:sp>
        <p:nvSpPr>
          <p:cNvPr id="56" name="Rectángulo 55"/>
          <p:cNvSpPr/>
          <p:nvPr/>
        </p:nvSpPr>
        <p:spPr>
          <a:xfrm>
            <a:off x="4691375" y="3517512"/>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Dataset Service</a:t>
            </a:r>
          </a:p>
        </p:txBody>
      </p:sp>
      <p:pic>
        <p:nvPicPr>
          <p:cNvPr id="57" name="Imagen 5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2696" y="3574418"/>
            <a:ext cx="249814" cy="241200"/>
          </a:xfrm>
          <a:prstGeom prst="rect">
            <a:avLst/>
          </a:prstGeom>
        </p:spPr>
      </p:pic>
      <p:sp>
        <p:nvSpPr>
          <p:cNvPr id="58" name="Rectángulo 57"/>
          <p:cNvSpPr/>
          <p:nvPr/>
        </p:nvSpPr>
        <p:spPr>
          <a:xfrm>
            <a:off x="6334777" y="3517512"/>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Dataflow Service</a:t>
            </a:r>
          </a:p>
        </p:txBody>
      </p:sp>
      <p:pic>
        <p:nvPicPr>
          <p:cNvPr id="59" name="Imagen 5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16098" y="3574418"/>
            <a:ext cx="249814" cy="241200"/>
          </a:xfrm>
          <a:prstGeom prst="rect">
            <a:avLst/>
          </a:prstGeom>
        </p:spPr>
      </p:pic>
      <p:sp>
        <p:nvSpPr>
          <p:cNvPr id="60" name="Rectángulo 59"/>
          <p:cNvSpPr/>
          <p:nvPr/>
        </p:nvSpPr>
        <p:spPr>
          <a:xfrm>
            <a:off x="6334777" y="4168406"/>
            <a:ext cx="1377950" cy="355012"/>
          </a:xfrm>
          <a:prstGeom prst="rect">
            <a:avLst/>
          </a:prstGeom>
          <a:solidFill>
            <a:srgbClr val="FFAE5D"/>
          </a:solidFill>
          <a:ln w="3175">
            <a:solidFill>
              <a:srgbClr val="FFAE5D"/>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Recordstore Service</a:t>
            </a:r>
          </a:p>
        </p:txBody>
      </p:sp>
      <p:pic>
        <p:nvPicPr>
          <p:cNvPr id="61" name="Imagen 6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16098" y="4225312"/>
            <a:ext cx="249814" cy="241200"/>
          </a:xfrm>
          <a:prstGeom prst="rect">
            <a:avLst/>
          </a:prstGeom>
        </p:spPr>
      </p:pic>
      <p:grpSp>
        <p:nvGrpSpPr>
          <p:cNvPr id="62" name="Grupo 61"/>
          <p:cNvGrpSpPr/>
          <p:nvPr/>
        </p:nvGrpSpPr>
        <p:grpSpPr>
          <a:xfrm>
            <a:off x="8267358" y="1348205"/>
            <a:ext cx="607162" cy="749301"/>
            <a:chOff x="8784294" y="1405355"/>
            <a:chExt cx="607162" cy="749301"/>
          </a:xfrm>
          <a:solidFill>
            <a:schemeClr val="accent3">
              <a:lumMod val="20000"/>
              <a:lumOff val="80000"/>
            </a:schemeClr>
          </a:solidFill>
        </p:grpSpPr>
        <p:sp>
          <p:nvSpPr>
            <p:cNvPr id="63" name="Rectángulo 62"/>
            <p:cNvSpPr/>
            <p:nvPr/>
          </p:nvSpPr>
          <p:spPr>
            <a:xfrm>
              <a:off x="8784294" y="1405355"/>
              <a:ext cx="607162" cy="749301"/>
            </a:xfrm>
            <a:prstGeom prst="rect">
              <a:avLst/>
            </a:prstGeom>
            <a:solidFill>
              <a:schemeClr val="bg2">
                <a:lumMod val="90000"/>
              </a:schemeClr>
            </a:solidFill>
            <a:ln w="3175">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108000" rtlCol="0" anchor="b" anchorCtr="0"/>
            <a:lstStyle/>
            <a:p>
              <a:pPr algn="ctr"/>
              <a:r>
                <a:rPr lang="en-GB" sz="950" dirty="0" smtClean="0">
                  <a:solidFill>
                    <a:schemeClr val="tx1"/>
                  </a:solidFill>
                  <a:latin typeface="Calibri" panose="020F0502020204030204" pitchFamily="34" charset="0"/>
                  <a:cs typeface="Calibri" panose="020F0502020204030204" pitchFamily="34" charset="0"/>
                </a:rPr>
                <a:t>Users</a:t>
              </a:r>
              <a:endParaRPr lang="en-GB" sz="950" dirty="0">
                <a:solidFill>
                  <a:schemeClr val="tx1"/>
                </a:solidFill>
                <a:latin typeface="Calibri" panose="020F0502020204030204" pitchFamily="34" charset="0"/>
                <a:cs typeface="Calibri" panose="020F0502020204030204" pitchFamily="34" charset="0"/>
              </a:endParaRPr>
            </a:p>
          </p:txBody>
        </p:sp>
        <p:pic>
          <p:nvPicPr>
            <p:cNvPr id="64" name="Imagen 63"/>
            <p:cNvPicPr>
              <a:picLocks noChangeAspect="1"/>
            </p:cNvPicPr>
            <p:nvPr/>
          </p:nvPicPr>
          <p:blipFill>
            <a:blip r:embed="rId13">
              <a:grayscl/>
              <a:extLst>
                <a:ext uri="{BEBA8EAE-BF5A-486C-A8C5-ECC9F3942E4B}">
                  <a14:imgProps xmlns:a14="http://schemas.microsoft.com/office/drawing/2010/main">
                    <a14:imgLayer r:embed="rId14">
                      <a14:imgEffect>
                        <a14:sharpenSoften amount="50000"/>
                      </a14:imgEffect>
                    </a14:imgLayer>
                  </a14:imgProps>
                </a:ext>
                <a:ext uri="{28A0092B-C50C-407E-A947-70E740481C1C}">
                  <a14:useLocalDpi xmlns:a14="http://schemas.microsoft.com/office/drawing/2010/main" val="0"/>
                </a:ext>
              </a:extLst>
            </a:blip>
            <a:stretch>
              <a:fillRect/>
            </a:stretch>
          </p:blipFill>
          <p:spPr>
            <a:xfrm>
              <a:off x="8869927" y="1586640"/>
              <a:ext cx="435897" cy="290598"/>
            </a:xfrm>
            <a:prstGeom prst="rect">
              <a:avLst/>
            </a:prstGeom>
            <a:noFill/>
            <a:ln w="3175">
              <a:noFill/>
            </a:ln>
          </p:spPr>
        </p:pic>
      </p:grpSp>
      <p:cxnSp>
        <p:nvCxnSpPr>
          <p:cNvPr id="65" name="Conector recto de flecha 64"/>
          <p:cNvCxnSpPr>
            <a:stCxn id="44" idx="0"/>
            <a:endCxn id="52" idx="2"/>
          </p:cNvCxnSpPr>
          <p:nvPr/>
        </p:nvCxnSpPr>
        <p:spPr>
          <a:xfrm flipV="1">
            <a:off x="5380350" y="1900361"/>
            <a:ext cx="0" cy="59876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66" name="Conector angular 65"/>
          <p:cNvCxnSpPr>
            <a:stCxn id="10" idx="1"/>
            <a:endCxn id="6" idx="2"/>
          </p:cNvCxnSpPr>
          <p:nvPr/>
        </p:nvCxnSpPr>
        <p:spPr>
          <a:xfrm rot="10800000">
            <a:off x="7391790" y="4826363"/>
            <a:ext cx="875569" cy="824539"/>
          </a:xfrm>
          <a:prstGeom prst="bentConnector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67" name="Conector angular 66"/>
          <p:cNvCxnSpPr>
            <a:stCxn id="31" idx="2"/>
            <a:endCxn id="44" idx="1"/>
          </p:cNvCxnSpPr>
          <p:nvPr/>
        </p:nvCxnSpPr>
        <p:spPr>
          <a:xfrm rot="16200000" flipH="1">
            <a:off x="3658190" y="1643442"/>
            <a:ext cx="776266" cy="1290104"/>
          </a:xfrm>
          <a:prstGeom prst="bentConnector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68" name="Conector recto de flecha 67"/>
          <p:cNvCxnSpPr>
            <a:endCxn id="63" idx="1"/>
          </p:cNvCxnSpPr>
          <p:nvPr/>
        </p:nvCxnSpPr>
        <p:spPr>
          <a:xfrm>
            <a:off x="7712727" y="1722855"/>
            <a:ext cx="554631" cy="1"/>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69" name="Conector recto de flecha 68"/>
          <p:cNvCxnSpPr>
            <a:stCxn id="46" idx="2"/>
            <a:endCxn id="5" idx="0"/>
          </p:cNvCxnSpPr>
          <p:nvPr/>
        </p:nvCxnSpPr>
        <p:spPr>
          <a:xfrm>
            <a:off x="7023752" y="2854133"/>
            <a:ext cx="0" cy="299472"/>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0" name="Conector recto de flecha 69"/>
          <p:cNvCxnSpPr>
            <a:stCxn id="7" idx="0"/>
            <a:endCxn id="44" idx="2"/>
          </p:cNvCxnSpPr>
          <p:nvPr/>
        </p:nvCxnSpPr>
        <p:spPr>
          <a:xfrm flipV="1">
            <a:off x="5380350" y="2854133"/>
            <a:ext cx="0" cy="302839"/>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1" name="Conector angular 70"/>
          <p:cNvCxnSpPr>
            <a:endCxn id="60" idx="3"/>
          </p:cNvCxnSpPr>
          <p:nvPr/>
        </p:nvCxnSpPr>
        <p:spPr>
          <a:xfrm rot="5400000">
            <a:off x="8301233" y="3572147"/>
            <a:ext cx="185259" cy="1362270"/>
          </a:xfrm>
          <a:prstGeom prst="bentConnector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2" name="Conector recto de flecha 71"/>
          <p:cNvCxnSpPr>
            <a:stCxn id="48" idx="1"/>
            <a:endCxn id="16" idx="3"/>
          </p:cNvCxnSpPr>
          <p:nvPr/>
        </p:nvCxnSpPr>
        <p:spPr>
          <a:xfrm flipH="1">
            <a:off x="9763972" y="3983147"/>
            <a:ext cx="188540" cy="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3" name="Conector recto de flecha 72"/>
          <p:cNvCxnSpPr/>
          <p:nvPr/>
        </p:nvCxnSpPr>
        <p:spPr>
          <a:xfrm>
            <a:off x="6069750" y="1722855"/>
            <a:ext cx="265027" cy="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4" name="Conector recto de flecha 73"/>
          <p:cNvCxnSpPr>
            <a:endCxn id="12" idx="3"/>
          </p:cNvCxnSpPr>
          <p:nvPr/>
        </p:nvCxnSpPr>
        <p:spPr>
          <a:xfrm flipH="1">
            <a:off x="7929815" y="3983147"/>
            <a:ext cx="456207" cy="721"/>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5" name="Conector angular 74"/>
          <p:cNvCxnSpPr>
            <a:stCxn id="40" idx="0"/>
            <a:endCxn id="12" idx="2"/>
          </p:cNvCxnSpPr>
          <p:nvPr/>
        </p:nvCxnSpPr>
        <p:spPr>
          <a:xfrm rot="5400000" flipH="1" flipV="1">
            <a:off x="4499915" y="4593931"/>
            <a:ext cx="652510" cy="1109209"/>
          </a:xfrm>
          <a:prstGeom prst="bentConnector3">
            <a:avLst>
              <a:gd name="adj1" fmla="val 69463"/>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76" name="Conector recto de flecha 75"/>
          <p:cNvCxnSpPr/>
          <p:nvPr/>
        </p:nvCxnSpPr>
        <p:spPr>
          <a:xfrm>
            <a:off x="10641487" y="3667419"/>
            <a:ext cx="0" cy="138222"/>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grpSp>
        <p:nvGrpSpPr>
          <p:cNvPr id="77" name="Grupo 76"/>
          <p:cNvGrpSpPr/>
          <p:nvPr/>
        </p:nvGrpSpPr>
        <p:grpSpPr>
          <a:xfrm>
            <a:off x="1027867" y="4180552"/>
            <a:ext cx="1377950" cy="355012"/>
            <a:chOff x="984772" y="4180552"/>
            <a:chExt cx="1377950" cy="355012"/>
          </a:xfrm>
        </p:grpSpPr>
        <p:sp>
          <p:nvSpPr>
            <p:cNvPr id="78" name="Rectángulo 77"/>
            <p:cNvSpPr/>
            <p:nvPr/>
          </p:nvSpPr>
          <p:spPr>
            <a:xfrm>
              <a:off x="984772" y="4180552"/>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Communication 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79" name="Imagen 7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093" y="4237458"/>
              <a:ext cx="249814" cy="241200"/>
            </a:xfrm>
            <a:prstGeom prst="rect">
              <a:avLst/>
            </a:prstGeom>
          </p:spPr>
        </p:pic>
      </p:grpSp>
      <p:sp>
        <p:nvSpPr>
          <p:cNvPr id="82" name="Rectángulo 81"/>
          <p:cNvSpPr/>
          <p:nvPr/>
        </p:nvSpPr>
        <p:spPr>
          <a:xfrm>
            <a:off x="9682930" y="1254509"/>
            <a:ext cx="1756595" cy="1287118"/>
          </a:xfrm>
          <a:prstGeom prst="rect">
            <a:avLst/>
          </a:prstGeom>
          <a:solidFill>
            <a:schemeClr val="bg1"/>
          </a:solidFill>
          <a:ln w="3175">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36000" bIns="36000" numCol="1" spcCol="0" rtlCol="0" fromWordArt="0" anchor="t" anchorCtr="0" forceAA="0" compatLnSpc="1">
            <a:prstTxWarp prst="textNoShape">
              <a:avLst/>
            </a:prstTxWarp>
            <a:noAutofit/>
          </a:bodyPr>
          <a:lstStyle/>
          <a:p>
            <a:pPr algn="ctr"/>
            <a:r>
              <a:rPr lang="en-GB" sz="1200" b="1" dirty="0" smtClean="0">
                <a:solidFill>
                  <a:schemeClr val="tx1"/>
                </a:solidFill>
                <a:latin typeface="Calibri" panose="020F0502020204030204" pitchFamily="34" charset="0"/>
                <a:cs typeface="Calibri" panose="020F0502020204030204" pitchFamily="34" charset="0"/>
              </a:rPr>
              <a:t>Legend</a:t>
            </a:r>
            <a:endParaRPr lang="en-GB" sz="1200" b="1" dirty="0">
              <a:solidFill>
                <a:schemeClr val="tx1"/>
              </a:solidFill>
              <a:latin typeface="Calibri" panose="020F0502020204030204" pitchFamily="34" charset="0"/>
              <a:cs typeface="Calibri" panose="020F0502020204030204" pitchFamily="34" charset="0"/>
            </a:endParaRPr>
          </a:p>
        </p:txBody>
      </p:sp>
      <p:sp>
        <p:nvSpPr>
          <p:cNvPr id="83" name="Rectángulo 82"/>
          <p:cNvSpPr/>
          <p:nvPr/>
        </p:nvSpPr>
        <p:spPr>
          <a:xfrm>
            <a:off x="9780440" y="1542963"/>
            <a:ext cx="1476000" cy="234000"/>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GB" sz="950" b="1" dirty="0" smtClean="0">
                <a:solidFill>
                  <a:schemeClr val="tx1"/>
                </a:solidFill>
                <a:latin typeface="Calibri" panose="020F0502020204030204" pitchFamily="34" charset="0"/>
                <a:cs typeface="Calibri" panose="020F0502020204030204" pitchFamily="34" charset="0"/>
              </a:rPr>
              <a:t>Pending Implementation</a:t>
            </a:r>
            <a:endParaRPr lang="en-GB" sz="950" b="1" dirty="0">
              <a:solidFill>
                <a:schemeClr val="tx1"/>
              </a:solidFill>
              <a:latin typeface="Calibri" panose="020F0502020204030204" pitchFamily="34" charset="0"/>
              <a:cs typeface="Calibri" panose="020F0502020204030204" pitchFamily="34" charset="0"/>
            </a:endParaRPr>
          </a:p>
        </p:txBody>
      </p:sp>
      <p:grpSp>
        <p:nvGrpSpPr>
          <p:cNvPr id="84" name="Grupo 83"/>
          <p:cNvGrpSpPr/>
          <p:nvPr/>
        </p:nvGrpSpPr>
        <p:grpSpPr>
          <a:xfrm>
            <a:off x="3048823" y="1545349"/>
            <a:ext cx="8281639" cy="4353213"/>
            <a:chOff x="3048823" y="1545349"/>
            <a:chExt cx="8281639" cy="4353213"/>
          </a:xfrm>
        </p:grpSpPr>
        <p:grpSp>
          <p:nvGrpSpPr>
            <p:cNvPr id="85" name="Grupo 84"/>
            <p:cNvGrpSpPr/>
            <p:nvPr/>
          </p:nvGrpSpPr>
          <p:grpSpPr>
            <a:xfrm>
              <a:off x="3048823" y="1545349"/>
              <a:ext cx="8281639" cy="2978069"/>
              <a:chOff x="3048823" y="1545349"/>
              <a:chExt cx="8281639" cy="2978069"/>
            </a:xfrm>
          </p:grpSpPr>
          <p:grpSp>
            <p:nvGrpSpPr>
              <p:cNvPr id="102" name="Grupo 101"/>
              <p:cNvGrpSpPr/>
              <p:nvPr/>
            </p:nvGrpSpPr>
            <p:grpSpPr>
              <a:xfrm>
                <a:off x="9952512" y="3805641"/>
                <a:ext cx="1377950" cy="355012"/>
                <a:chOff x="9952512" y="3805641"/>
                <a:chExt cx="1377950" cy="355012"/>
              </a:xfrm>
            </p:grpSpPr>
            <p:grpSp>
              <p:nvGrpSpPr>
                <p:cNvPr id="131" name="Grupo 130"/>
                <p:cNvGrpSpPr/>
                <p:nvPr/>
              </p:nvGrpSpPr>
              <p:grpSpPr>
                <a:xfrm>
                  <a:off x="9952512" y="3805641"/>
                  <a:ext cx="1377950" cy="355012"/>
                  <a:chOff x="9880842" y="3862791"/>
                  <a:chExt cx="1377950" cy="355012"/>
                </a:xfrm>
              </p:grpSpPr>
              <p:sp>
                <p:nvSpPr>
                  <p:cNvPr id="133" name="Rectángulo 132"/>
                  <p:cNvSpPr/>
                  <p:nvPr/>
                </p:nvSpPr>
                <p:spPr>
                  <a:xfrm>
                    <a:off x="9880842" y="3862791"/>
                    <a:ext cx="1377950" cy="355012"/>
                  </a:xfrm>
                  <a:prstGeom prst="rect">
                    <a:avLst/>
                  </a:prstGeom>
                  <a:solidFill>
                    <a:schemeClr val="accent3">
                      <a:lumMod val="60000"/>
                      <a:lumOff val="40000"/>
                    </a:schemeClr>
                  </a:solidFill>
                  <a:ln w="3175">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smtClean="0">
                        <a:solidFill>
                          <a:schemeClr val="tx1"/>
                        </a:solidFill>
                        <a:latin typeface="Calibri" panose="020F0502020204030204" pitchFamily="34" charset="0"/>
                        <a:cs typeface="Calibri" panose="020F0502020204030204" pitchFamily="34" charset="0"/>
                      </a:rPr>
                      <a:t>Postrgres</a:t>
                    </a:r>
                    <a:endParaRPr lang="en-GB" sz="950" dirty="0" smtClean="0">
                      <a:solidFill>
                        <a:schemeClr val="tx1"/>
                      </a:solidFill>
                      <a:latin typeface="Calibri" panose="020F0502020204030204" pitchFamily="34" charset="0"/>
                      <a:cs typeface="Calibri" panose="020F0502020204030204" pitchFamily="34" charset="0"/>
                    </a:endParaRPr>
                  </a:p>
                  <a:p>
                    <a:r>
                      <a:rPr lang="en-GB" sz="950" dirty="0" smtClean="0">
                        <a:solidFill>
                          <a:schemeClr val="tx1"/>
                        </a:solidFill>
                        <a:latin typeface="Calibri" panose="020F0502020204030204" pitchFamily="34" charset="0"/>
                        <a:cs typeface="Calibri" panose="020F0502020204030204" pitchFamily="34" charset="0"/>
                      </a:rPr>
                      <a:t>Primary</a:t>
                    </a:r>
                    <a:endParaRPr lang="en-GB" sz="950" dirty="0">
                      <a:solidFill>
                        <a:schemeClr val="tx1"/>
                      </a:solidFill>
                      <a:latin typeface="Calibri" panose="020F0502020204030204" pitchFamily="34" charset="0"/>
                      <a:cs typeface="Calibri" panose="020F0502020204030204" pitchFamily="34" charset="0"/>
                    </a:endParaRPr>
                  </a:p>
                </p:txBody>
              </p:sp>
              <p:pic>
                <p:nvPicPr>
                  <p:cNvPr id="134" name="Imagen 1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2163" y="3919697"/>
                    <a:ext cx="268000" cy="241200"/>
                  </a:xfrm>
                  <a:prstGeom prst="rect">
                    <a:avLst/>
                  </a:prstGeom>
                </p:spPr>
              </p:pic>
            </p:grpSp>
            <p:sp>
              <p:nvSpPr>
                <p:cNvPr id="132" name="Forma libre 131"/>
                <p:cNvSpPr/>
                <p:nvPr/>
              </p:nvSpPr>
              <p:spPr>
                <a:xfrm>
                  <a:off x="11162137" y="3835403"/>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016357"/>
                </a:solidFill>
                <a:ln>
                  <a:solidFill>
                    <a:srgbClr val="016357"/>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grpSp>
            <p:nvGrpSpPr>
              <p:cNvPr id="103" name="Grupo 102"/>
              <p:cNvGrpSpPr/>
              <p:nvPr/>
            </p:nvGrpSpPr>
            <p:grpSpPr>
              <a:xfrm>
                <a:off x="6334777" y="4168406"/>
                <a:ext cx="1377950" cy="355012"/>
                <a:chOff x="6334777" y="4168406"/>
                <a:chExt cx="1377950" cy="355012"/>
              </a:xfrm>
            </p:grpSpPr>
            <p:grpSp>
              <p:nvGrpSpPr>
                <p:cNvPr id="127" name="Grupo 126"/>
                <p:cNvGrpSpPr/>
                <p:nvPr/>
              </p:nvGrpSpPr>
              <p:grpSpPr>
                <a:xfrm>
                  <a:off x="6334777" y="4168406"/>
                  <a:ext cx="1377950" cy="355012"/>
                  <a:chOff x="6263107" y="4225556"/>
                  <a:chExt cx="1377950" cy="355012"/>
                </a:xfrm>
              </p:grpSpPr>
              <p:sp>
                <p:nvSpPr>
                  <p:cNvPr id="129" name="Rectángulo 128"/>
                  <p:cNvSpPr/>
                  <p:nvPr/>
                </p:nvSpPr>
                <p:spPr>
                  <a:xfrm>
                    <a:off x="6263107" y="4225556"/>
                    <a:ext cx="1377950" cy="355012"/>
                  </a:xfrm>
                  <a:prstGeom prst="rect">
                    <a:avLst/>
                  </a:prstGeom>
                  <a:solidFill>
                    <a:schemeClr val="accent3">
                      <a:lumMod val="60000"/>
                      <a:lumOff val="40000"/>
                    </a:schemeClr>
                  </a:solidFill>
                  <a:ln w="3175">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Recordstore Service</a:t>
                    </a:r>
                  </a:p>
                </p:txBody>
              </p:sp>
              <p:pic>
                <p:nvPicPr>
                  <p:cNvPr id="130" name="Imagen 12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4428" y="4282462"/>
                    <a:ext cx="249814" cy="241200"/>
                  </a:xfrm>
                  <a:prstGeom prst="rect">
                    <a:avLst/>
                  </a:prstGeom>
                </p:spPr>
              </p:pic>
            </p:grpSp>
            <p:sp>
              <p:nvSpPr>
                <p:cNvPr id="128" name="Forma libre 127"/>
                <p:cNvSpPr/>
                <p:nvPr/>
              </p:nvSpPr>
              <p:spPr>
                <a:xfrm>
                  <a:off x="7547218" y="4194356"/>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016357"/>
                </a:solidFill>
                <a:ln>
                  <a:solidFill>
                    <a:srgbClr val="016357"/>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grpSp>
            <p:nvGrpSpPr>
              <p:cNvPr id="104" name="Grupo 103"/>
              <p:cNvGrpSpPr/>
              <p:nvPr/>
            </p:nvGrpSpPr>
            <p:grpSpPr>
              <a:xfrm>
                <a:off x="6334777" y="3517512"/>
                <a:ext cx="1377950" cy="355012"/>
                <a:chOff x="6334777" y="3517512"/>
                <a:chExt cx="1377950" cy="355012"/>
              </a:xfrm>
            </p:grpSpPr>
            <p:grpSp>
              <p:nvGrpSpPr>
                <p:cNvPr id="123" name="Grupo 122"/>
                <p:cNvGrpSpPr/>
                <p:nvPr/>
              </p:nvGrpSpPr>
              <p:grpSpPr>
                <a:xfrm>
                  <a:off x="6334777" y="3517512"/>
                  <a:ext cx="1377950" cy="355012"/>
                  <a:chOff x="6263107" y="3574662"/>
                  <a:chExt cx="1377950" cy="355012"/>
                </a:xfrm>
              </p:grpSpPr>
              <p:sp>
                <p:nvSpPr>
                  <p:cNvPr id="125" name="Rectángulo 124"/>
                  <p:cNvSpPr/>
                  <p:nvPr/>
                </p:nvSpPr>
                <p:spPr>
                  <a:xfrm>
                    <a:off x="6263107" y="3574662"/>
                    <a:ext cx="1377950" cy="355012"/>
                  </a:xfrm>
                  <a:prstGeom prst="rect">
                    <a:avLst/>
                  </a:prstGeom>
                  <a:solidFill>
                    <a:schemeClr val="accent3">
                      <a:lumMod val="60000"/>
                      <a:lumOff val="40000"/>
                    </a:schemeClr>
                  </a:solidFill>
                  <a:ln w="3175">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Dataflow Service</a:t>
                    </a:r>
                  </a:p>
                </p:txBody>
              </p:sp>
              <p:pic>
                <p:nvPicPr>
                  <p:cNvPr id="126" name="Imagen 12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4428" y="3631568"/>
                    <a:ext cx="249814" cy="241200"/>
                  </a:xfrm>
                  <a:prstGeom prst="rect">
                    <a:avLst/>
                  </a:prstGeom>
                </p:spPr>
              </p:pic>
            </p:grpSp>
            <p:sp>
              <p:nvSpPr>
                <p:cNvPr id="124" name="Forma libre 123"/>
                <p:cNvSpPr/>
                <p:nvPr/>
              </p:nvSpPr>
              <p:spPr>
                <a:xfrm>
                  <a:off x="7544839" y="3544166"/>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016357"/>
                </a:solidFill>
                <a:ln>
                  <a:solidFill>
                    <a:srgbClr val="016357"/>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grpSp>
            <p:nvGrpSpPr>
              <p:cNvPr id="105" name="Grupo 104"/>
              <p:cNvGrpSpPr/>
              <p:nvPr/>
            </p:nvGrpSpPr>
            <p:grpSpPr>
              <a:xfrm>
                <a:off x="4691375" y="3517512"/>
                <a:ext cx="1377950" cy="355012"/>
                <a:chOff x="4691375" y="3517512"/>
                <a:chExt cx="1377950" cy="355012"/>
              </a:xfrm>
            </p:grpSpPr>
            <p:grpSp>
              <p:nvGrpSpPr>
                <p:cNvPr id="119" name="Grupo 118"/>
                <p:cNvGrpSpPr/>
                <p:nvPr/>
              </p:nvGrpSpPr>
              <p:grpSpPr>
                <a:xfrm>
                  <a:off x="4691375" y="3517512"/>
                  <a:ext cx="1377950" cy="355012"/>
                  <a:chOff x="4619705" y="3574662"/>
                  <a:chExt cx="1377950" cy="355012"/>
                </a:xfrm>
              </p:grpSpPr>
              <p:sp>
                <p:nvSpPr>
                  <p:cNvPr id="121" name="Rectángulo 120"/>
                  <p:cNvSpPr/>
                  <p:nvPr/>
                </p:nvSpPr>
                <p:spPr>
                  <a:xfrm>
                    <a:off x="4619705" y="3574662"/>
                    <a:ext cx="1377950" cy="355012"/>
                  </a:xfrm>
                  <a:prstGeom prst="rect">
                    <a:avLst/>
                  </a:prstGeom>
                  <a:solidFill>
                    <a:schemeClr val="accent3">
                      <a:lumMod val="60000"/>
                      <a:lumOff val="40000"/>
                    </a:schemeClr>
                  </a:solidFill>
                  <a:ln w="3175">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Dataset Service</a:t>
                    </a:r>
                  </a:p>
                </p:txBody>
              </p:sp>
              <p:pic>
                <p:nvPicPr>
                  <p:cNvPr id="122" name="Imagen 12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01026" y="3631568"/>
                    <a:ext cx="249814" cy="241200"/>
                  </a:xfrm>
                  <a:prstGeom prst="rect">
                    <a:avLst/>
                  </a:prstGeom>
                </p:spPr>
              </p:pic>
            </p:grpSp>
            <p:sp>
              <p:nvSpPr>
                <p:cNvPr id="120" name="Forma libre 119"/>
                <p:cNvSpPr/>
                <p:nvPr/>
              </p:nvSpPr>
              <p:spPr>
                <a:xfrm>
                  <a:off x="5900979" y="3540991"/>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016357"/>
                </a:solidFill>
                <a:ln>
                  <a:solidFill>
                    <a:srgbClr val="016357"/>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grpSp>
            <p:nvGrpSpPr>
              <p:cNvPr id="106" name="Grupo 105"/>
              <p:cNvGrpSpPr/>
              <p:nvPr/>
            </p:nvGrpSpPr>
            <p:grpSpPr>
              <a:xfrm>
                <a:off x="3048823" y="3517512"/>
                <a:ext cx="1377950" cy="355012"/>
                <a:chOff x="3048823" y="3517512"/>
                <a:chExt cx="1377950" cy="355012"/>
              </a:xfrm>
            </p:grpSpPr>
            <p:grpSp>
              <p:nvGrpSpPr>
                <p:cNvPr id="115" name="Grupo 114"/>
                <p:cNvGrpSpPr/>
                <p:nvPr/>
              </p:nvGrpSpPr>
              <p:grpSpPr>
                <a:xfrm>
                  <a:off x="3048823" y="3517512"/>
                  <a:ext cx="1377950" cy="355012"/>
                  <a:chOff x="2977153" y="3574662"/>
                  <a:chExt cx="1377950" cy="355012"/>
                </a:xfrm>
              </p:grpSpPr>
              <p:sp>
                <p:nvSpPr>
                  <p:cNvPr id="117" name="Rectángulo 116"/>
                  <p:cNvSpPr/>
                  <p:nvPr/>
                </p:nvSpPr>
                <p:spPr>
                  <a:xfrm>
                    <a:off x="2977153" y="3574662"/>
                    <a:ext cx="1377950" cy="355012"/>
                  </a:xfrm>
                  <a:prstGeom prst="rect">
                    <a:avLst/>
                  </a:prstGeom>
                  <a:solidFill>
                    <a:schemeClr val="accent3">
                      <a:lumMod val="60000"/>
                      <a:lumOff val="40000"/>
                    </a:schemeClr>
                  </a:solidFill>
                  <a:ln w="3175">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smtClean="0">
                        <a:solidFill>
                          <a:schemeClr val="tx1"/>
                        </a:solidFill>
                        <a:latin typeface="Calibri" panose="020F0502020204030204" pitchFamily="34" charset="0"/>
                        <a:cs typeface="Calibri" panose="020F0502020204030204" pitchFamily="34" charset="0"/>
                      </a:rPr>
                      <a:t>Validation</a:t>
                    </a:r>
                  </a:p>
                  <a:p>
                    <a:r>
                      <a:rPr lang="en-GB" sz="950" dirty="0" smtClean="0">
                        <a:solidFill>
                          <a:schemeClr val="tx1"/>
                        </a:solidFill>
                        <a:latin typeface="Calibri" panose="020F0502020204030204" pitchFamily="34" charset="0"/>
                        <a:cs typeface="Calibri" panose="020F0502020204030204" pitchFamily="34" charset="0"/>
                      </a:rPr>
                      <a:t>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118" name="Imagen 1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58474" y="3631568"/>
                    <a:ext cx="249814" cy="241200"/>
                  </a:xfrm>
                  <a:prstGeom prst="rect">
                    <a:avLst/>
                  </a:prstGeom>
                </p:spPr>
              </p:pic>
            </p:grpSp>
            <p:sp>
              <p:nvSpPr>
                <p:cNvPr id="116" name="Forma libre 115"/>
                <p:cNvSpPr/>
                <p:nvPr/>
              </p:nvSpPr>
              <p:spPr>
                <a:xfrm>
                  <a:off x="4253936" y="3545245"/>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016357"/>
                </a:solidFill>
                <a:ln>
                  <a:solidFill>
                    <a:srgbClr val="016357"/>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grpSp>
            <p:nvGrpSpPr>
              <p:cNvPr id="107" name="Grupo 106"/>
              <p:cNvGrpSpPr/>
              <p:nvPr/>
            </p:nvGrpSpPr>
            <p:grpSpPr>
              <a:xfrm>
                <a:off x="9793140" y="1854792"/>
                <a:ext cx="1476000" cy="234000"/>
                <a:chOff x="9793140" y="1852906"/>
                <a:chExt cx="1476000" cy="234000"/>
              </a:xfrm>
            </p:grpSpPr>
            <p:sp>
              <p:nvSpPr>
                <p:cNvPr id="113" name="Rectángulo 112"/>
                <p:cNvSpPr/>
                <p:nvPr/>
              </p:nvSpPr>
              <p:spPr>
                <a:xfrm>
                  <a:off x="9793140" y="1852906"/>
                  <a:ext cx="1476000" cy="234000"/>
                </a:xfrm>
                <a:prstGeom prst="rect">
                  <a:avLst/>
                </a:prstGeom>
                <a:solidFill>
                  <a:schemeClr val="accent3">
                    <a:lumMod val="60000"/>
                    <a:lumOff val="40000"/>
                  </a:schemeClr>
                </a:solidFill>
                <a:ln w="3175">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4000" tIns="36000" rIns="36000" bIns="36000" numCol="1" spcCol="0" rtlCol="0" fromWordArt="0" anchor="ctr" anchorCtr="0" forceAA="0" compatLnSpc="1">
                  <a:prstTxWarp prst="textNoShape">
                    <a:avLst/>
                  </a:prstTxWarp>
                  <a:noAutofit/>
                </a:bodyPr>
                <a:lstStyle/>
                <a:p>
                  <a:r>
                    <a:rPr lang="en-GB" sz="950" b="1" dirty="0" smtClean="0">
                      <a:solidFill>
                        <a:schemeClr val="tx1"/>
                      </a:solidFill>
                      <a:latin typeface="Calibri" panose="020F0502020204030204" pitchFamily="34" charset="0"/>
                      <a:cs typeface="Calibri" panose="020F0502020204030204" pitchFamily="34" charset="0"/>
                    </a:rPr>
                    <a:t>Evolved</a:t>
                  </a:r>
                  <a:endParaRPr lang="en-GB" sz="950" b="1" dirty="0">
                    <a:solidFill>
                      <a:schemeClr val="tx1"/>
                    </a:solidFill>
                    <a:latin typeface="Calibri" panose="020F0502020204030204" pitchFamily="34" charset="0"/>
                    <a:cs typeface="Calibri" panose="020F0502020204030204" pitchFamily="34" charset="0"/>
                  </a:endParaRPr>
                </a:p>
              </p:txBody>
            </p:sp>
            <p:sp>
              <p:nvSpPr>
                <p:cNvPr id="114" name="Forma libre 113"/>
                <p:cNvSpPr/>
                <p:nvPr/>
              </p:nvSpPr>
              <p:spPr>
                <a:xfrm>
                  <a:off x="9919014" y="1899204"/>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016357"/>
                </a:solidFill>
                <a:ln>
                  <a:solidFill>
                    <a:srgbClr val="016357"/>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grpSp>
            <p:nvGrpSpPr>
              <p:cNvPr id="108" name="Grupo 107"/>
              <p:cNvGrpSpPr/>
              <p:nvPr/>
            </p:nvGrpSpPr>
            <p:grpSpPr>
              <a:xfrm>
                <a:off x="4690950" y="1545349"/>
                <a:ext cx="1378800" cy="355012"/>
                <a:chOff x="4690950" y="1545349"/>
                <a:chExt cx="1378800" cy="355012"/>
              </a:xfrm>
            </p:grpSpPr>
            <p:grpSp>
              <p:nvGrpSpPr>
                <p:cNvPr id="109" name="Grupo 108"/>
                <p:cNvGrpSpPr/>
                <p:nvPr/>
              </p:nvGrpSpPr>
              <p:grpSpPr>
                <a:xfrm>
                  <a:off x="4690950" y="1545349"/>
                  <a:ext cx="1378800" cy="355012"/>
                  <a:chOff x="4500260" y="1626367"/>
                  <a:chExt cx="1378800" cy="355012"/>
                </a:xfrm>
                <a:solidFill>
                  <a:srgbClr val="D7E4BD"/>
                </a:solidFill>
              </p:grpSpPr>
              <p:sp>
                <p:nvSpPr>
                  <p:cNvPr id="111" name="Rectángulo 110"/>
                  <p:cNvSpPr/>
                  <p:nvPr/>
                </p:nvSpPr>
                <p:spPr>
                  <a:xfrm>
                    <a:off x="4500260" y="1626367"/>
                    <a:ext cx="1378800" cy="355012"/>
                  </a:xfrm>
                  <a:prstGeom prst="rect">
                    <a:avLst/>
                  </a:prstGeom>
                  <a:solidFill>
                    <a:schemeClr val="accent3">
                      <a:lumMod val="60000"/>
                      <a:lumOff val="40000"/>
                    </a:schemeClr>
                  </a:solidFill>
                  <a:ln w="3175">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smtClean="0">
                        <a:solidFill>
                          <a:schemeClr val="tx1"/>
                        </a:solidFill>
                        <a:latin typeface="Calibri" panose="020F0502020204030204" pitchFamily="34" charset="0"/>
                        <a:cs typeface="Calibri" panose="020F0502020204030204" pitchFamily="34" charset="0"/>
                      </a:rPr>
                      <a:t>Reportnet Frontend</a:t>
                    </a:r>
                    <a:endParaRPr lang="en-GB" sz="950" dirty="0">
                      <a:solidFill>
                        <a:schemeClr val="tx1"/>
                      </a:solidFill>
                      <a:latin typeface="Calibri" panose="020F0502020204030204" pitchFamily="34" charset="0"/>
                      <a:cs typeface="Calibri" panose="020F0502020204030204" pitchFamily="34" charset="0"/>
                    </a:endParaRPr>
                  </a:p>
                </p:txBody>
              </p:sp>
              <p:pic>
                <p:nvPicPr>
                  <p:cNvPr id="112" name="Imagen 11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581581" y="1668873"/>
                    <a:ext cx="278182" cy="270000"/>
                  </a:xfrm>
                  <a:prstGeom prst="rect">
                    <a:avLst/>
                  </a:prstGeom>
                  <a:noFill/>
                </p:spPr>
              </p:pic>
            </p:grpSp>
            <p:sp>
              <p:nvSpPr>
                <p:cNvPr id="110" name="Forma libre 109"/>
                <p:cNvSpPr/>
                <p:nvPr/>
              </p:nvSpPr>
              <p:spPr>
                <a:xfrm>
                  <a:off x="5900979" y="1569331"/>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016357"/>
                </a:solidFill>
                <a:ln>
                  <a:solidFill>
                    <a:srgbClr val="016357"/>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grpSp>
        <p:grpSp>
          <p:nvGrpSpPr>
            <p:cNvPr id="86" name="Grupo 85"/>
            <p:cNvGrpSpPr/>
            <p:nvPr/>
          </p:nvGrpSpPr>
          <p:grpSpPr>
            <a:xfrm>
              <a:off x="3582591" y="2499121"/>
              <a:ext cx="6162331" cy="3399441"/>
              <a:chOff x="3582591" y="2499121"/>
              <a:chExt cx="6162331" cy="3399441"/>
            </a:xfrm>
          </p:grpSpPr>
          <p:grpSp>
            <p:nvGrpSpPr>
              <p:cNvPr id="87" name="Grupo 86"/>
              <p:cNvGrpSpPr/>
              <p:nvPr/>
            </p:nvGrpSpPr>
            <p:grpSpPr>
              <a:xfrm>
                <a:off x="3582591" y="5474790"/>
                <a:ext cx="1377950" cy="355012"/>
                <a:chOff x="3582591" y="5474790"/>
                <a:chExt cx="1377950" cy="355012"/>
              </a:xfrm>
            </p:grpSpPr>
            <p:sp>
              <p:nvSpPr>
                <p:cNvPr id="100" name="Rectángulo 99"/>
                <p:cNvSpPr/>
                <p:nvPr/>
              </p:nvSpPr>
              <p:spPr>
                <a:xfrm>
                  <a:off x="3582591" y="5474790"/>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Bus</a:t>
                  </a:r>
                </a:p>
              </p:txBody>
            </p:sp>
            <p:pic>
              <p:nvPicPr>
                <p:cNvPr id="101" name="Imagen 10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45726" y="5531696"/>
                  <a:ext cx="268000" cy="241200"/>
                </a:xfrm>
                <a:prstGeom prst="rect">
                  <a:avLst/>
                </a:prstGeom>
              </p:spPr>
            </p:pic>
          </p:grpSp>
          <p:grpSp>
            <p:nvGrpSpPr>
              <p:cNvPr id="88" name="Grupo 87"/>
              <p:cNvGrpSpPr/>
              <p:nvPr/>
            </p:nvGrpSpPr>
            <p:grpSpPr>
              <a:xfrm>
                <a:off x="5237865" y="5474790"/>
                <a:ext cx="1377950" cy="355012"/>
                <a:chOff x="5237865" y="5474790"/>
                <a:chExt cx="1377950" cy="355012"/>
              </a:xfrm>
            </p:grpSpPr>
            <p:sp>
              <p:nvSpPr>
                <p:cNvPr id="98" name="Rectángulo 97"/>
                <p:cNvSpPr/>
                <p:nvPr/>
              </p:nvSpPr>
              <p:spPr>
                <a:xfrm>
                  <a:off x="5237865" y="5474790"/>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Topics</a:t>
                  </a:r>
                </a:p>
              </p:txBody>
            </p:sp>
            <p:pic>
              <p:nvPicPr>
                <p:cNvPr id="99" name="Imagen 9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319186" y="5531696"/>
                  <a:ext cx="268000" cy="241200"/>
                </a:xfrm>
                <a:prstGeom prst="rect">
                  <a:avLst/>
                </a:prstGeom>
              </p:spPr>
            </p:pic>
          </p:grpSp>
          <p:grpSp>
            <p:nvGrpSpPr>
              <p:cNvPr id="89" name="Grupo 88"/>
              <p:cNvGrpSpPr/>
              <p:nvPr/>
            </p:nvGrpSpPr>
            <p:grpSpPr>
              <a:xfrm>
                <a:off x="4691375" y="2499121"/>
                <a:ext cx="1377950" cy="355012"/>
                <a:chOff x="4691375" y="2499121"/>
                <a:chExt cx="1377950" cy="355012"/>
              </a:xfrm>
            </p:grpSpPr>
            <p:sp>
              <p:nvSpPr>
                <p:cNvPr id="96" name="Rectángulo 95"/>
                <p:cNvSpPr/>
                <p:nvPr/>
              </p:nvSpPr>
              <p:spPr>
                <a:xfrm>
                  <a:off x="4691375" y="2499121"/>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a:solidFill>
                        <a:schemeClr val="tx1"/>
                      </a:solidFill>
                      <a:latin typeface="Calibri" panose="020F0502020204030204" pitchFamily="34" charset="0"/>
                      <a:cs typeface="Calibri" panose="020F0502020204030204" pitchFamily="34" charset="0"/>
                    </a:rPr>
                    <a:t>API Gateway</a:t>
                  </a:r>
                </a:p>
              </p:txBody>
            </p:sp>
            <p:pic>
              <p:nvPicPr>
                <p:cNvPr id="97" name="Imagen 9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72696" y="2541627"/>
                  <a:ext cx="270000" cy="270000"/>
                </a:xfrm>
                <a:prstGeom prst="rect">
                  <a:avLst/>
                </a:prstGeom>
              </p:spPr>
            </p:pic>
          </p:grpSp>
          <p:grpSp>
            <p:nvGrpSpPr>
              <p:cNvPr id="90" name="Grupo 89"/>
              <p:cNvGrpSpPr/>
              <p:nvPr/>
            </p:nvGrpSpPr>
            <p:grpSpPr>
              <a:xfrm>
                <a:off x="6334777" y="2499121"/>
                <a:ext cx="1377950" cy="355012"/>
                <a:chOff x="6334777" y="2499121"/>
                <a:chExt cx="1377950" cy="355012"/>
              </a:xfrm>
            </p:grpSpPr>
            <p:sp>
              <p:nvSpPr>
                <p:cNvPr id="94" name="Rectángulo 93"/>
                <p:cNvSpPr/>
                <p:nvPr/>
              </p:nvSpPr>
              <p:spPr>
                <a:xfrm>
                  <a:off x="6334777" y="2499121"/>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Service Registry</a:t>
                  </a:r>
                </a:p>
              </p:txBody>
            </p:sp>
            <p:pic>
              <p:nvPicPr>
                <p:cNvPr id="95" name="Imagen 9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416098" y="2556027"/>
                  <a:ext cx="258429" cy="241200"/>
                </a:xfrm>
                <a:prstGeom prst="rect">
                  <a:avLst/>
                </a:prstGeom>
              </p:spPr>
            </p:pic>
          </p:grpSp>
          <p:grpSp>
            <p:nvGrpSpPr>
              <p:cNvPr id="91" name="Grupo 90"/>
              <p:cNvGrpSpPr/>
              <p:nvPr/>
            </p:nvGrpSpPr>
            <p:grpSpPr>
              <a:xfrm>
                <a:off x="8366972" y="5543550"/>
                <a:ext cx="1377950" cy="355012"/>
                <a:chOff x="8366972" y="5543550"/>
                <a:chExt cx="1377950" cy="355012"/>
              </a:xfrm>
            </p:grpSpPr>
            <p:sp>
              <p:nvSpPr>
                <p:cNvPr id="92" name="Rectángulo 91"/>
                <p:cNvSpPr/>
                <p:nvPr/>
              </p:nvSpPr>
              <p:spPr>
                <a:xfrm>
                  <a:off x="8366972" y="5543550"/>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Primary</a:t>
                  </a:r>
                </a:p>
              </p:txBody>
            </p:sp>
            <p:pic>
              <p:nvPicPr>
                <p:cNvPr id="93" name="Imagen 9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8293" y="5600456"/>
                  <a:ext cx="268000" cy="241200"/>
                </a:xfrm>
                <a:prstGeom prst="rect">
                  <a:avLst/>
                </a:prstGeom>
              </p:spPr>
            </p:pic>
          </p:grpSp>
        </p:grpSp>
      </p:grpSp>
      <p:grpSp>
        <p:nvGrpSpPr>
          <p:cNvPr id="135" name="Grupo 134"/>
          <p:cNvGrpSpPr/>
          <p:nvPr/>
        </p:nvGrpSpPr>
        <p:grpSpPr>
          <a:xfrm>
            <a:off x="782373" y="1256940"/>
            <a:ext cx="10548089" cy="4641622"/>
            <a:chOff x="782373" y="1256940"/>
            <a:chExt cx="10548089" cy="4641622"/>
          </a:xfrm>
        </p:grpSpPr>
        <p:grpSp>
          <p:nvGrpSpPr>
            <p:cNvPr id="136" name="Grupo 135"/>
            <p:cNvGrpSpPr/>
            <p:nvPr/>
          </p:nvGrpSpPr>
          <p:grpSpPr>
            <a:xfrm>
              <a:off x="782373" y="1256940"/>
              <a:ext cx="10548089" cy="4641622"/>
              <a:chOff x="782373" y="1256940"/>
              <a:chExt cx="10548089" cy="4641622"/>
            </a:xfrm>
          </p:grpSpPr>
          <p:sp>
            <p:nvSpPr>
              <p:cNvPr id="142" name="Rectángulo 141"/>
              <p:cNvSpPr/>
              <p:nvPr/>
            </p:nvSpPr>
            <p:spPr>
              <a:xfrm>
                <a:off x="800099" y="2750442"/>
                <a:ext cx="1843096" cy="1354869"/>
              </a:xfrm>
              <a:prstGeom prst="rect">
                <a:avLst/>
              </a:prstGeom>
              <a:solidFill>
                <a:schemeClr val="bg1"/>
              </a:solidFill>
              <a:ln w="3175">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100" b="1" dirty="0" smtClean="0">
                    <a:solidFill>
                      <a:schemeClr val="tx1"/>
                    </a:solidFill>
                    <a:latin typeface="Calibri" panose="020F0502020204030204" pitchFamily="34" charset="0"/>
                    <a:cs typeface="Calibri" panose="020F0502020204030204" pitchFamily="34" charset="0"/>
                  </a:rPr>
                  <a:t>Identity Access Management</a:t>
                </a:r>
                <a:endParaRPr lang="en-GB" sz="1100" b="1" dirty="0">
                  <a:solidFill>
                    <a:schemeClr val="tx1"/>
                  </a:solidFill>
                  <a:latin typeface="Calibri" panose="020F0502020204030204" pitchFamily="34" charset="0"/>
                  <a:cs typeface="Calibri" panose="020F0502020204030204" pitchFamily="34" charset="0"/>
                </a:endParaRPr>
              </a:p>
            </p:txBody>
          </p:sp>
          <p:sp>
            <p:nvSpPr>
              <p:cNvPr id="143" name="Rectángulo 142"/>
              <p:cNvSpPr/>
              <p:nvPr/>
            </p:nvSpPr>
            <p:spPr>
              <a:xfrm>
                <a:off x="782374" y="1256940"/>
                <a:ext cx="1624012" cy="870224"/>
              </a:xfrm>
              <a:prstGeom prst="rect">
                <a:avLst/>
              </a:prstGeom>
              <a:solidFill>
                <a:schemeClr val="bg2">
                  <a:lumMod val="90000"/>
                </a:schemeClr>
              </a:solidFill>
              <a:ln w="6350">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r>
                  <a:rPr lang="en-GB" sz="1100" b="1" dirty="0">
                    <a:solidFill>
                      <a:schemeClr val="tx1"/>
                    </a:solidFill>
                    <a:latin typeface="Calibri" panose="020F0502020204030204" pitchFamily="34" charset="0"/>
                    <a:cs typeface="Calibri" panose="020F0502020204030204" pitchFamily="34" charset="0"/>
                  </a:rPr>
                  <a:t>EU Login</a:t>
                </a:r>
              </a:p>
            </p:txBody>
          </p:sp>
          <p:cxnSp>
            <p:nvCxnSpPr>
              <p:cNvPr id="144" name="Conector angular 143"/>
              <p:cNvCxnSpPr>
                <a:stCxn id="143" idx="1"/>
                <a:endCxn id="161" idx="1"/>
              </p:cNvCxnSpPr>
              <p:nvPr/>
            </p:nvCxnSpPr>
            <p:spPr>
              <a:xfrm rot="10800000" flipH="1" flipV="1">
                <a:off x="782373" y="1692051"/>
                <a:ext cx="250023" cy="1572847"/>
              </a:xfrm>
              <a:prstGeom prst="bentConnector3">
                <a:avLst>
                  <a:gd name="adj1" fmla="val -9143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45" name="Conector recto de flecha 144"/>
              <p:cNvCxnSpPr>
                <a:stCxn id="165" idx="3"/>
              </p:cNvCxnSpPr>
              <p:nvPr/>
            </p:nvCxnSpPr>
            <p:spPr>
              <a:xfrm>
                <a:off x="2410347" y="3709429"/>
                <a:ext cx="430577" cy="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grpSp>
            <p:nvGrpSpPr>
              <p:cNvPr id="146" name="Grupo 145"/>
              <p:cNvGrpSpPr/>
              <p:nvPr/>
            </p:nvGrpSpPr>
            <p:grpSpPr>
              <a:xfrm>
                <a:off x="8386022" y="3805641"/>
                <a:ext cx="1377950" cy="355012"/>
                <a:chOff x="8386022" y="3805641"/>
                <a:chExt cx="1377950" cy="355012"/>
              </a:xfrm>
            </p:grpSpPr>
            <p:sp>
              <p:nvSpPr>
                <p:cNvPr id="170" name="Rectángulo 169"/>
                <p:cNvSpPr/>
                <p:nvPr/>
              </p:nvSpPr>
              <p:spPr>
                <a:xfrm>
                  <a:off x="8386022" y="3805641"/>
                  <a:ext cx="1377950" cy="355012"/>
                </a:xfrm>
                <a:prstGeom prst="rect">
                  <a:avLst/>
                </a:prstGeom>
                <a:solidFill>
                  <a:schemeClr val="accent3">
                    <a:lumMod val="60000"/>
                    <a:lumOff val="40000"/>
                  </a:schemeClr>
                </a:solidFill>
                <a:ln w="38100">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PostgresSQL</a:t>
                  </a:r>
                  <a:r>
                    <a:rPr lang="en-GB" sz="950" dirty="0">
                      <a:solidFill>
                        <a:schemeClr val="tx1"/>
                      </a:solidFill>
                      <a:latin typeface="Calibri" panose="020F0502020204030204" pitchFamily="34" charset="0"/>
                      <a:cs typeface="Calibri" panose="020F0502020204030204" pitchFamily="34" charset="0"/>
                    </a:rPr>
                    <a:t> Connection Pool</a:t>
                  </a:r>
                </a:p>
              </p:txBody>
            </p:sp>
            <p:pic>
              <p:nvPicPr>
                <p:cNvPr id="171" name="Imagen 17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7343" y="3848147"/>
                  <a:ext cx="278438" cy="270000"/>
                </a:xfrm>
                <a:prstGeom prst="rect">
                  <a:avLst/>
                </a:prstGeom>
              </p:spPr>
            </p:pic>
            <p:sp>
              <p:nvSpPr>
                <p:cNvPr id="172" name="Anillo 171"/>
                <p:cNvSpPr/>
                <p:nvPr/>
              </p:nvSpPr>
              <p:spPr>
                <a:xfrm>
                  <a:off x="9607569" y="3818341"/>
                  <a:ext cx="144000" cy="144000"/>
                </a:xfrm>
                <a:prstGeom prst="donut">
                  <a:avLst>
                    <a:gd name="adj" fmla="val 30104"/>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147" name="Grupo 146"/>
              <p:cNvGrpSpPr/>
              <p:nvPr/>
            </p:nvGrpSpPr>
            <p:grpSpPr>
              <a:xfrm>
                <a:off x="9952512" y="3312407"/>
                <a:ext cx="1377950" cy="355012"/>
                <a:chOff x="9952512" y="3312407"/>
                <a:chExt cx="1377950" cy="355012"/>
              </a:xfrm>
            </p:grpSpPr>
            <p:sp>
              <p:nvSpPr>
                <p:cNvPr id="167" name="Rectángulo 166"/>
                <p:cNvSpPr/>
                <p:nvPr/>
              </p:nvSpPr>
              <p:spPr>
                <a:xfrm>
                  <a:off x="9952512" y="3312407"/>
                  <a:ext cx="1377950" cy="355012"/>
                </a:xfrm>
                <a:prstGeom prst="rect">
                  <a:avLst/>
                </a:prstGeom>
                <a:solidFill>
                  <a:schemeClr val="accent3">
                    <a:lumMod val="60000"/>
                    <a:lumOff val="40000"/>
                  </a:schemeClr>
                </a:solidFill>
                <a:ln w="38100">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Replica(s)</a:t>
                  </a:r>
                </a:p>
              </p:txBody>
            </p:sp>
            <p:pic>
              <p:nvPicPr>
                <p:cNvPr id="168" name="Imagen 16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3833" y="3369313"/>
                  <a:ext cx="268000" cy="241200"/>
                </a:xfrm>
                <a:prstGeom prst="rect">
                  <a:avLst/>
                </a:prstGeom>
              </p:spPr>
            </p:pic>
            <p:sp>
              <p:nvSpPr>
                <p:cNvPr id="169" name="Anillo 168"/>
                <p:cNvSpPr/>
                <p:nvPr/>
              </p:nvSpPr>
              <p:spPr>
                <a:xfrm>
                  <a:off x="11175950" y="3328282"/>
                  <a:ext cx="144000" cy="144000"/>
                </a:xfrm>
                <a:prstGeom prst="donut">
                  <a:avLst>
                    <a:gd name="adj" fmla="val 30104"/>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148" name="Grupo 147"/>
              <p:cNvGrpSpPr/>
              <p:nvPr/>
            </p:nvGrpSpPr>
            <p:grpSpPr>
              <a:xfrm>
                <a:off x="1032397" y="3523419"/>
                <a:ext cx="1377950" cy="363516"/>
                <a:chOff x="1032397" y="3523419"/>
                <a:chExt cx="1377950" cy="363516"/>
              </a:xfrm>
            </p:grpSpPr>
            <p:grpSp>
              <p:nvGrpSpPr>
                <p:cNvPr id="163" name="Grupo 162"/>
                <p:cNvGrpSpPr/>
                <p:nvPr/>
              </p:nvGrpSpPr>
              <p:grpSpPr>
                <a:xfrm>
                  <a:off x="1032397" y="3531923"/>
                  <a:ext cx="1377950" cy="355012"/>
                  <a:chOff x="1032397" y="3531923"/>
                  <a:chExt cx="1377950" cy="355012"/>
                </a:xfrm>
              </p:grpSpPr>
              <p:sp>
                <p:nvSpPr>
                  <p:cNvPr id="165" name="Rectángulo 164"/>
                  <p:cNvSpPr/>
                  <p:nvPr/>
                </p:nvSpPr>
                <p:spPr>
                  <a:xfrm>
                    <a:off x="1032397" y="3531923"/>
                    <a:ext cx="1377950" cy="355012"/>
                  </a:xfrm>
                  <a:prstGeom prst="rect">
                    <a:avLst/>
                  </a:prstGeom>
                  <a:solidFill>
                    <a:schemeClr val="accent3">
                      <a:lumMod val="60000"/>
                      <a:lumOff val="40000"/>
                    </a:schemeClr>
                  </a:solidFill>
                  <a:ln w="38100">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User</a:t>
                    </a:r>
                  </a:p>
                  <a:p>
                    <a:r>
                      <a:rPr lang="en-GB" sz="950" dirty="0" smtClean="0">
                        <a:solidFill>
                          <a:schemeClr val="tx1"/>
                        </a:solidFill>
                        <a:latin typeface="Calibri" panose="020F0502020204030204" pitchFamily="34" charset="0"/>
                        <a:cs typeface="Calibri" panose="020F0502020204030204" pitchFamily="34" charset="0"/>
                      </a:rPr>
                      <a:t>Management</a:t>
                    </a:r>
                    <a:endParaRPr lang="en-GB" sz="950" dirty="0">
                      <a:solidFill>
                        <a:schemeClr val="tx1"/>
                      </a:solidFill>
                      <a:latin typeface="Calibri" panose="020F0502020204030204" pitchFamily="34" charset="0"/>
                      <a:cs typeface="Calibri" panose="020F0502020204030204" pitchFamily="34" charset="0"/>
                    </a:endParaRPr>
                  </a:p>
                </p:txBody>
              </p:sp>
              <p:pic>
                <p:nvPicPr>
                  <p:cNvPr id="166" name="Imagen 165"/>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13718" y="3588829"/>
                    <a:ext cx="249814" cy="241200"/>
                  </a:xfrm>
                  <a:prstGeom prst="rect">
                    <a:avLst/>
                  </a:prstGeom>
                </p:spPr>
              </p:pic>
            </p:grpSp>
            <p:sp>
              <p:nvSpPr>
                <p:cNvPr id="164" name="Anillo 163"/>
                <p:cNvSpPr/>
                <p:nvPr/>
              </p:nvSpPr>
              <p:spPr>
                <a:xfrm>
                  <a:off x="2262386" y="3523419"/>
                  <a:ext cx="144000" cy="144000"/>
                </a:xfrm>
                <a:prstGeom prst="donut">
                  <a:avLst>
                    <a:gd name="adj" fmla="val 30104"/>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149" name="Grupo 148"/>
              <p:cNvGrpSpPr/>
              <p:nvPr/>
            </p:nvGrpSpPr>
            <p:grpSpPr>
              <a:xfrm>
                <a:off x="1032397" y="3087393"/>
                <a:ext cx="1377950" cy="355012"/>
                <a:chOff x="1032397" y="3087393"/>
                <a:chExt cx="1377950" cy="355012"/>
              </a:xfrm>
            </p:grpSpPr>
            <p:grpSp>
              <p:nvGrpSpPr>
                <p:cNvPr id="159" name="Grupo 158"/>
                <p:cNvGrpSpPr/>
                <p:nvPr/>
              </p:nvGrpSpPr>
              <p:grpSpPr>
                <a:xfrm>
                  <a:off x="1032397" y="3087393"/>
                  <a:ext cx="1377950" cy="355012"/>
                  <a:chOff x="1032397" y="3087393"/>
                  <a:chExt cx="1377950" cy="355012"/>
                </a:xfrm>
              </p:grpSpPr>
              <p:sp>
                <p:nvSpPr>
                  <p:cNvPr id="161" name="Rectángulo 160"/>
                  <p:cNvSpPr/>
                  <p:nvPr/>
                </p:nvSpPr>
                <p:spPr>
                  <a:xfrm>
                    <a:off x="1032397" y="3087393"/>
                    <a:ext cx="1377950" cy="355012"/>
                  </a:xfrm>
                  <a:prstGeom prst="rect">
                    <a:avLst/>
                  </a:prstGeom>
                  <a:solidFill>
                    <a:schemeClr val="accent3">
                      <a:lumMod val="60000"/>
                      <a:lumOff val="40000"/>
                    </a:schemeClr>
                  </a:solidFill>
                  <a:ln w="38100">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smtClean="0">
                        <a:solidFill>
                          <a:schemeClr val="tx1"/>
                        </a:solidFill>
                        <a:latin typeface="Calibri" panose="020F0502020204030204" pitchFamily="34" charset="0"/>
                        <a:cs typeface="Calibri" panose="020F0502020204030204" pitchFamily="34" charset="0"/>
                      </a:rPr>
                      <a:t>KeyCloak</a:t>
                    </a:r>
                    <a:endParaRPr lang="en-GB" sz="950" dirty="0">
                      <a:solidFill>
                        <a:schemeClr val="tx1"/>
                      </a:solidFill>
                      <a:latin typeface="Calibri" panose="020F0502020204030204" pitchFamily="34" charset="0"/>
                      <a:cs typeface="Calibri" panose="020F0502020204030204" pitchFamily="34" charset="0"/>
                    </a:endParaRPr>
                  </a:p>
                </p:txBody>
              </p:sp>
              <p:pic>
                <p:nvPicPr>
                  <p:cNvPr id="162" name="Imagen 161"/>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13718" y="3144299"/>
                    <a:ext cx="249814" cy="241200"/>
                  </a:xfrm>
                  <a:prstGeom prst="rect">
                    <a:avLst/>
                  </a:prstGeom>
                </p:spPr>
              </p:pic>
            </p:grpSp>
            <p:sp>
              <p:nvSpPr>
                <p:cNvPr id="160" name="Anillo 159"/>
                <p:cNvSpPr/>
                <p:nvPr/>
              </p:nvSpPr>
              <p:spPr>
                <a:xfrm>
                  <a:off x="2262386" y="3087393"/>
                  <a:ext cx="144000" cy="144000"/>
                </a:xfrm>
                <a:prstGeom prst="donut">
                  <a:avLst>
                    <a:gd name="adj" fmla="val 30104"/>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150" name="Grupo 149"/>
              <p:cNvGrpSpPr/>
              <p:nvPr/>
            </p:nvGrpSpPr>
            <p:grpSpPr>
              <a:xfrm>
                <a:off x="3048823" y="4168406"/>
                <a:ext cx="1377950" cy="355012"/>
                <a:chOff x="3048823" y="4168406"/>
                <a:chExt cx="1377950" cy="355012"/>
              </a:xfrm>
            </p:grpSpPr>
            <p:grpSp>
              <p:nvGrpSpPr>
                <p:cNvPr id="155" name="Grupo 154"/>
                <p:cNvGrpSpPr/>
                <p:nvPr/>
              </p:nvGrpSpPr>
              <p:grpSpPr>
                <a:xfrm>
                  <a:off x="3048823" y="4168406"/>
                  <a:ext cx="1377950" cy="355012"/>
                  <a:chOff x="3048823" y="4168406"/>
                  <a:chExt cx="1377950" cy="355012"/>
                </a:xfrm>
              </p:grpSpPr>
              <p:sp>
                <p:nvSpPr>
                  <p:cNvPr id="157" name="Rectángulo 156"/>
                  <p:cNvSpPr/>
                  <p:nvPr/>
                </p:nvSpPr>
                <p:spPr>
                  <a:xfrm>
                    <a:off x="3048823" y="4168406"/>
                    <a:ext cx="1377950" cy="355012"/>
                  </a:xfrm>
                  <a:prstGeom prst="rect">
                    <a:avLst/>
                  </a:prstGeom>
                  <a:solidFill>
                    <a:schemeClr val="accent3">
                      <a:lumMod val="60000"/>
                      <a:lumOff val="40000"/>
                    </a:schemeClr>
                  </a:solidFill>
                  <a:ln w="38100">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a:solidFill>
                          <a:schemeClr val="tx1"/>
                        </a:solidFill>
                        <a:latin typeface="Calibri" panose="020F0502020204030204" pitchFamily="34" charset="0"/>
                        <a:cs typeface="Calibri" panose="020F0502020204030204" pitchFamily="34" charset="0"/>
                      </a:rPr>
                      <a:t>Document Repository Service</a:t>
                    </a:r>
                  </a:p>
                </p:txBody>
              </p:sp>
              <p:pic>
                <p:nvPicPr>
                  <p:cNvPr id="158" name="Imagen 15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30144" y="4225312"/>
                    <a:ext cx="249814" cy="241200"/>
                  </a:xfrm>
                  <a:prstGeom prst="rect">
                    <a:avLst/>
                  </a:prstGeom>
                  <a:ln>
                    <a:noFill/>
                  </a:ln>
                </p:spPr>
              </p:pic>
            </p:grpSp>
            <p:sp>
              <p:nvSpPr>
                <p:cNvPr id="156" name="Anillo 155"/>
                <p:cNvSpPr/>
                <p:nvPr/>
              </p:nvSpPr>
              <p:spPr>
                <a:xfrm>
                  <a:off x="4273865" y="4176895"/>
                  <a:ext cx="144000" cy="144000"/>
                </a:xfrm>
                <a:prstGeom prst="donut">
                  <a:avLst>
                    <a:gd name="adj" fmla="val 30104"/>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151" name="Grupo 150"/>
              <p:cNvGrpSpPr/>
              <p:nvPr/>
            </p:nvGrpSpPr>
            <p:grpSpPr>
              <a:xfrm>
                <a:off x="9933462" y="5543550"/>
                <a:ext cx="1377950" cy="355012"/>
                <a:chOff x="9933462" y="5543550"/>
                <a:chExt cx="1377950" cy="355012"/>
              </a:xfrm>
            </p:grpSpPr>
            <p:sp>
              <p:nvSpPr>
                <p:cNvPr id="152" name="Rectángulo 151"/>
                <p:cNvSpPr/>
                <p:nvPr/>
              </p:nvSpPr>
              <p:spPr>
                <a:xfrm>
                  <a:off x="9933462" y="5543550"/>
                  <a:ext cx="1377950" cy="355012"/>
                </a:xfrm>
                <a:prstGeom prst="rect">
                  <a:avLst/>
                </a:prstGeom>
                <a:solidFill>
                  <a:schemeClr val="accent3">
                    <a:lumMod val="60000"/>
                    <a:lumOff val="40000"/>
                  </a:schemeClr>
                </a:solidFill>
                <a:ln w="38100">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Replica</a:t>
                  </a:r>
                </a:p>
              </p:txBody>
            </p:sp>
            <p:pic>
              <p:nvPicPr>
                <p:cNvPr id="153" name="Imagen 15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4783" y="5600456"/>
                  <a:ext cx="268000" cy="241200"/>
                </a:xfrm>
                <a:prstGeom prst="rect">
                  <a:avLst/>
                </a:prstGeom>
              </p:spPr>
            </p:pic>
            <p:sp>
              <p:nvSpPr>
                <p:cNvPr id="154" name="Anillo 153"/>
                <p:cNvSpPr/>
                <p:nvPr/>
              </p:nvSpPr>
              <p:spPr>
                <a:xfrm>
                  <a:off x="11152612" y="5556250"/>
                  <a:ext cx="144000" cy="144000"/>
                </a:xfrm>
                <a:prstGeom prst="donut">
                  <a:avLst>
                    <a:gd name="adj" fmla="val 30104"/>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grpSp>
          <p:nvGrpSpPr>
            <p:cNvPr id="137" name="Grupo 136"/>
            <p:cNvGrpSpPr/>
            <p:nvPr/>
          </p:nvGrpSpPr>
          <p:grpSpPr>
            <a:xfrm>
              <a:off x="9793140" y="2166620"/>
              <a:ext cx="1476000" cy="234000"/>
              <a:chOff x="9793140" y="2166620"/>
              <a:chExt cx="1476000" cy="234000"/>
            </a:xfrm>
          </p:grpSpPr>
          <p:sp>
            <p:nvSpPr>
              <p:cNvPr id="138" name="Forma libre 137"/>
              <p:cNvSpPr/>
              <p:nvPr/>
            </p:nvSpPr>
            <p:spPr>
              <a:xfrm>
                <a:off x="9919014" y="2226864"/>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rgbClr val="016357"/>
              </a:solidFill>
              <a:ln>
                <a:solidFill>
                  <a:srgbClr val="016357"/>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nvGrpSpPr>
              <p:cNvPr id="139" name="Grupo 138"/>
              <p:cNvGrpSpPr/>
              <p:nvPr/>
            </p:nvGrpSpPr>
            <p:grpSpPr>
              <a:xfrm>
                <a:off x="9793140" y="2166620"/>
                <a:ext cx="1476000" cy="234000"/>
                <a:chOff x="9793140" y="2166620"/>
                <a:chExt cx="1476000" cy="234000"/>
              </a:xfrm>
            </p:grpSpPr>
            <p:sp>
              <p:nvSpPr>
                <p:cNvPr id="140" name="Rectángulo 139"/>
                <p:cNvSpPr/>
                <p:nvPr/>
              </p:nvSpPr>
              <p:spPr>
                <a:xfrm>
                  <a:off x="9793140" y="2166620"/>
                  <a:ext cx="1476000" cy="234000"/>
                </a:xfrm>
                <a:prstGeom prst="rect">
                  <a:avLst/>
                </a:prstGeom>
                <a:solidFill>
                  <a:schemeClr val="accent3">
                    <a:lumMod val="60000"/>
                    <a:lumOff val="40000"/>
                  </a:schemeClr>
                </a:solidFill>
                <a:ln w="3175">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4000" tIns="36000" rIns="36000" bIns="36000" numCol="1" spcCol="0" rtlCol="0" fromWordArt="0" anchor="ctr" anchorCtr="0" forceAA="0" compatLnSpc="1">
                  <a:prstTxWarp prst="textNoShape">
                    <a:avLst/>
                  </a:prstTxWarp>
                  <a:noAutofit/>
                </a:bodyPr>
                <a:lstStyle/>
                <a:p>
                  <a:r>
                    <a:rPr lang="en-GB" sz="950" b="1" dirty="0">
                      <a:solidFill>
                        <a:schemeClr val="tx1"/>
                      </a:solidFill>
                      <a:latin typeface="Calibri" panose="020F0502020204030204" pitchFamily="34" charset="0"/>
                      <a:cs typeface="Calibri" panose="020F0502020204030204" pitchFamily="34" charset="0"/>
                    </a:rPr>
                    <a:t>New Implementation</a:t>
                  </a:r>
                </a:p>
              </p:txBody>
            </p:sp>
            <p:sp>
              <p:nvSpPr>
                <p:cNvPr id="141" name="Anillo 140"/>
                <p:cNvSpPr/>
                <p:nvPr/>
              </p:nvSpPr>
              <p:spPr>
                <a:xfrm>
                  <a:off x="9919014" y="2206205"/>
                  <a:ext cx="144000" cy="144000"/>
                </a:xfrm>
                <a:prstGeom prst="donut">
                  <a:avLst>
                    <a:gd name="adj" fmla="val 30104"/>
                  </a:avLst>
                </a:prstGeom>
                <a:solidFill>
                  <a:srgbClr val="016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grpSp>
      <p:grpSp>
        <p:nvGrpSpPr>
          <p:cNvPr id="173" name="Grupo 172"/>
          <p:cNvGrpSpPr/>
          <p:nvPr/>
        </p:nvGrpSpPr>
        <p:grpSpPr>
          <a:xfrm>
            <a:off x="350962" y="241652"/>
            <a:ext cx="1515294" cy="893110"/>
            <a:chOff x="9825038" y="1780006"/>
            <a:chExt cx="2153052" cy="1291446"/>
          </a:xfrm>
        </p:grpSpPr>
        <p:sp>
          <p:nvSpPr>
            <p:cNvPr id="174" name="Rectangle 1"/>
            <p:cNvSpPr/>
            <p:nvPr/>
          </p:nvSpPr>
          <p:spPr>
            <a:xfrm>
              <a:off x="9825038" y="1780006"/>
              <a:ext cx="2153052" cy="1291446"/>
            </a:xfrm>
            <a:prstGeom prst="rect">
              <a:avLst/>
            </a:prstGeom>
            <a:solidFill>
              <a:schemeClr val="bg1"/>
            </a:solidFill>
            <a:ln w="57150">
              <a:noFill/>
            </a:ln>
            <a:effectLst/>
          </p:spPr>
          <p:txBody>
            <a:bodyPr wrap="square" lIns="91440" tIns="45720" rIns="91440" bIns="45720">
              <a:noAutofit/>
            </a:bodyPr>
            <a:lstStyle/>
            <a:p>
              <a:pPr algn="ctr"/>
              <a:endParaRPr lang="en-US" sz="5400" b="1" cap="none" spc="0" dirty="0">
                <a:ln w="0"/>
                <a:solidFill>
                  <a:srgbClr val="C00000"/>
                </a:solidFill>
                <a:effectLst>
                  <a:outerShdw blurRad="38100" dist="25400" dir="5400000" algn="ctr" rotWithShape="0">
                    <a:srgbClr val="6E747A">
                      <a:alpha val="43000"/>
                    </a:srgbClr>
                  </a:outerShdw>
                </a:effectLst>
              </a:endParaRPr>
            </a:p>
          </p:txBody>
        </p:sp>
        <p:sp>
          <p:nvSpPr>
            <p:cNvPr id="175" name="Rectángulo 174"/>
            <p:cNvSpPr/>
            <p:nvPr/>
          </p:nvSpPr>
          <p:spPr>
            <a:xfrm>
              <a:off x="9933670" y="2096235"/>
              <a:ext cx="1935794" cy="845591"/>
            </a:xfrm>
            <a:prstGeom prst="rect">
              <a:avLst/>
            </a:prstGeom>
            <a:solidFill>
              <a:schemeClr val="bg1"/>
            </a:solidFill>
            <a:ln w="57150">
              <a:solidFill>
                <a:srgbClr val="016357"/>
              </a:solidFill>
            </a:ln>
            <a:effectLst>
              <a:outerShdw blurRad="50800" dist="38100" dir="2700000" algn="tl" rotWithShape="0">
                <a:prstClr val="black">
                  <a:alpha val="40000"/>
                </a:prstClr>
              </a:outerShdw>
            </a:effectLst>
          </p:spPr>
          <p:txBody>
            <a:bodyPr wrap="square" lIns="91440" tIns="45720" rIns="91440" bIns="45720">
              <a:spAutoFit/>
            </a:bodyPr>
            <a:lstStyle/>
            <a:p>
              <a:pPr algn="ctr"/>
              <a:r>
                <a:rPr lang="es-ES" sz="3200" b="1" dirty="0" smtClean="0">
                  <a:ln w="0"/>
                  <a:solidFill>
                    <a:srgbClr val="016357"/>
                  </a:solidFill>
                  <a:effectLst>
                    <a:outerShdw blurRad="38100" dist="25400" dir="5400000" algn="ctr" rotWithShape="0">
                      <a:srgbClr val="6E747A">
                        <a:alpha val="43000"/>
                      </a:srgbClr>
                    </a:outerShdw>
                  </a:effectLst>
                </a:rPr>
                <a:t>24/09</a:t>
              </a:r>
              <a:endParaRPr lang="es-ES" sz="3200" b="1" dirty="0">
                <a:ln w="0"/>
                <a:solidFill>
                  <a:srgbClr val="016357"/>
                </a:solidFill>
                <a:effectLst>
                  <a:outerShdw blurRad="38100" dist="25400" dir="5400000" algn="ctr" rotWithShape="0">
                    <a:srgbClr val="6E747A">
                      <a:alpha val="43000"/>
                    </a:srgbClr>
                  </a:outerShdw>
                </a:effectLst>
              </a:endParaRPr>
            </a:p>
          </p:txBody>
        </p:sp>
        <p:sp>
          <p:nvSpPr>
            <p:cNvPr id="176" name="Rectángulo 175"/>
            <p:cNvSpPr/>
            <p:nvPr/>
          </p:nvSpPr>
          <p:spPr>
            <a:xfrm>
              <a:off x="10042166" y="1917832"/>
              <a:ext cx="1718804" cy="311534"/>
            </a:xfrm>
            <a:prstGeom prst="rect">
              <a:avLst/>
            </a:prstGeom>
            <a:solidFill>
              <a:schemeClr val="bg1"/>
            </a:solidFill>
            <a:ln w="57150">
              <a:noFill/>
            </a:ln>
            <a:effectLst/>
          </p:spPr>
          <p:txBody>
            <a:bodyPr wrap="square" lIns="36000" tIns="0" rIns="36000" bIns="0">
              <a:spAutoFit/>
            </a:bodyPr>
            <a:lstStyle/>
            <a:p>
              <a:pPr algn="ctr"/>
              <a:r>
                <a:rPr lang="en-US" sz="1400" b="1" dirty="0" smtClean="0">
                  <a:ln w="0"/>
                  <a:solidFill>
                    <a:srgbClr val="016357"/>
                  </a:solidFill>
                  <a:effectLst>
                    <a:outerShdw blurRad="38100" dist="25400" dir="5400000" algn="ctr" rotWithShape="0">
                      <a:srgbClr val="6E747A">
                        <a:alpha val="43000"/>
                      </a:srgbClr>
                    </a:outerShdw>
                  </a:effectLst>
                  <a:latin typeface="Calibri" panose="020F0502020204030204" pitchFamily="34" charset="0"/>
                  <a:cs typeface="Calibri" panose="020F0502020204030204" pitchFamily="34" charset="0"/>
                </a:rPr>
                <a:t>BETA </a:t>
              </a:r>
              <a:r>
                <a:rPr lang="en-US" sz="1400" b="1" dirty="0">
                  <a:ln w="0"/>
                  <a:solidFill>
                    <a:srgbClr val="016357"/>
                  </a:solidFill>
                  <a:effectLst>
                    <a:outerShdw blurRad="38100" dist="25400" dir="5400000" algn="ctr" rotWithShape="0">
                      <a:srgbClr val="6E747A">
                        <a:alpha val="43000"/>
                      </a:srgbClr>
                    </a:outerShdw>
                  </a:effectLst>
                  <a:latin typeface="Calibri" panose="020F0502020204030204" pitchFamily="34" charset="0"/>
                  <a:cs typeface="Calibri" panose="020F0502020204030204" pitchFamily="34" charset="0"/>
                </a:rPr>
                <a:t>Version</a:t>
              </a:r>
            </a:p>
          </p:txBody>
        </p:sp>
      </p:grpSp>
      <p:sp>
        <p:nvSpPr>
          <p:cNvPr id="177" name="Paralelogramo 176"/>
          <p:cNvSpPr/>
          <p:nvPr/>
        </p:nvSpPr>
        <p:spPr>
          <a:xfrm>
            <a:off x="2104447" y="66259"/>
            <a:ext cx="2584528"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Architecture Implementation</a:t>
            </a:r>
            <a:endParaRPr lang="en-GB" sz="1600" b="1" dirty="0">
              <a:solidFill>
                <a:srgbClr val="016357"/>
              </a:solidFill>
            </a:endParaRPr>
          </a:p>
        </p:txBody>
      </p:sp>
      <p:sp>
        <p:nvSpPr>
          <p:cNvPr id="178" name="Rectángulo 177"/>
          <p:cNvSpPr/>
          <p:nvPr/>
        </p:nvSpPr>
        <p:spPr>
          <a:xfrm>
            <a:off x="1265215" y="126269"/>
            <a:ext cx="10858642" cy="523220"/>
          </a:xfrm>
          <a:prstGeom prst="rect">
            <a:avLst/>
          </a:prstGeom>
        </p:spPr>
        <p:txBody>
          <a:bodyPr wrap="square">
            <a:spAutoFit/>
          </a:bodyPr>
          <a:lstStyle/>
          <a:p>
            <a:pPr algn="r">
              <a:spcBef>
                <a:spcPts val="300"/>
              </a:spcBef>
              <a:spcAft>
                <a:spcPts val="300"/>
              </a:spcAft>
            </a:pPr>
            <a:r>
              <a:rPr lang="en-US" sz="2800" dirty="0">
                <a:solidFill>
                  <a:schemeClr val="bg1"/>
                </a:solidFill>
                <a:latin typeface="Calibri" panose="020F0502020204030204" pitchFamily="34" charset="0"/>
              </a:rPr>
              <a:t>Update on the </a:t>
            </a:r>
            <a:r>
              <a:rPr lang="en-US" sz="2800" dirty="0" smtClean="0">
                <a:solidFill>
                  <a:schemeClr val="bg1"/>
                </a:solidFill>
                <a:latin typeface="Calibri" panose="020F0502020204030204" pitchFamily="34" charset="0"/>
              </a:rPr>
              <a:t>Architecture and SW </a:t>
            </a:r>
            <a:r>
              <a:rPr lang="en-US" sz="2800" dirty="0">
                <a:solidFill>
                  <a:schemeClr val="bg1"/>
                </a:solidFill>
                <a:latin typeface="Calibri" panose="020F0502020204030204" pitchFamily="34" charset="0"/>
              </a:rPr>
              <a:t>D</a:t>
            </a:r>
            <a:r>
              <a:rPr lang="en-US" sz="2800" dirty="0" smtClean="0">
                <a:solidFill>
                  <a:schemeClr val="bg1"/>
                </a:solidFill>
                <a:latin typeface="Calibri" panose="020F0502020204030204" pitchFamily="34" charset="0"/>
              </a:rPr>
              <a:t>evelopment</a:t>
            </a:r>
            <a:endParaRPr lang="es-ES" sz="2800" kern="50" dirty="0">
              <a:solidFill>
                <a:schemeClr val="bg1"/>
              </a:solidFill>
              <a:latin typeface="Verdana" panose="020B0604030504040204" pitchFamily="34" charset="0"/>
              <a:ea typeface="Times New Roman" panose="02020603050405020304" pitchFamily="18" charset="0"/>
              <a:cs typeface="CG Times (W1)"/>
            </a:endParaRPr>
          </a:p>
        </p:txBody>
      </p:sp>
    </p:spTree>
    <p:extLst>
      <p:ext uri="{BB962C8B-B14F-4D97-AF65-F5344CB8AC3E}">
        <p14:creationId xmlns:p14="http://schemas.microsoft.com/office/powerpoint/2010/main" val="2146662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 calcmode="lin" valueType="num">
                                      <p:cBhvr>
                                        <p:cTn id="7" dur="3000" fill="hold"/>
                                        <p:tgtEl>
                                          <p:spTgt spid="173"/>
                                        </p:tgtEl>
                                        <p:attrNameLst>
                                          <p:attrName>ppt_w</p:attrName>
                                        </p:attrNameLst>
                                      </p:cBhvr>
                                      <p:tavLst>
                                        <p:tav tm="0">
                                          <p:val>
                                            <p:fltVal val="0"/>
                                          </p:val>
                                        </p:tav>
                                        <p:tav tm="100000">
                                          <p:val>
                                            <p:strVal val="#ppt_w"/>
                                          </p:val>
                                        </p:tav>
                                      </p:tavLst>
                                    </p:anim>
                                    <p:anim calcmode="lin" valueType="num">
                                      <p:cBhvr>
                                        <p:cTn id="8" dur="3000" fill="hold"/>
                                        <p:tgtEl>
                                          <p:spTgt spid="173"/>
                                        </p:tgtEl>
                                        <p:attrNameLst>
                                          <p:attrName>ppt_h</p:attrName>
                                        </p:attrNameLst>
                                      </p:cBhvr>
                                      <p:tavLst>
                                        <p:tav tm="0">
                                          <p:val>
                                            <p:fltVal val="0"/>
                                          </p:val>
                                        </p:tav>
                                        <p:tav tm="100000">
                                          <p:val>
                                            <p:strVal val="#ppt_h"/>
                                          </p:val>
                                        </p:tav>
                                      </p:tavLst>
                                    </p:anim>
                                    <p:anim calcmode="lin" valueType="num">
                                      <p:cBhvr>
                                        <p:cTn id="9" dur="3000" fill="hold"/>
                                        <p:tgtEl>
                                          <p:spTgt spid="173"/>
                                        </p:tgtEl>
                                        <p:attrNameLst>
                                          <p:attrName>style.rotation</p:attrName>
                                        </p:attrNameLst>
                                      </p:cBhvr>
                                      <p:tavLst>
                                        <p:tav tm="0">
                                          <p:val>
                                            <p:fltVal val="90"/>
                                          </p:val>
                                        </p:tav>
                                        <p:tav tm="100000">
                                          <p:val>
                                            <p:fltVal val="0"/>
                                          </p:val>
                                        </p:tav>
                                      </p:tavLst>
                                    </p:anim>
                                    <p:animEffect transition="in" filter="fade">
                                      <p:cBhvr>
                                        <p:cTn id="10" dur="3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animEffect transition="in" filter="barn(inVertical)">
                                      <p:cBhvr>
                                        <p:cTn id="15" dur="5000"/>
                                        <p:tgtEl>
                                          <p:spTgt spid="84"/>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35"/>
                                        </p:tgtEl>
                                        <p:attrNameLst>
                                          <p:attrName>style.visibility</p:attrName>
                                        </p:attrNameLst>
                                      </p:cBhvr>
                                      <p:to>
                                        <p:strVal val="visible"/>
                                      </p:to>
                                    </p:set>
                                    <p:animEffect transition="in" filter="barn(inVertical)">
                                      <p:cBhvr>
                                        <p:cTn id="20" dur="50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12</a:t>
            </a:fld>
            <a:endParaRPr lang="en-US" dirty="0">
              <a:solidFill>
                <a:schemeClr val="bg1"/>
              </a:solidFill>
            </a:endParaRPr>
          </a:p>
        </p:txBody>
      </p:sp>
      <p:sp>
        <p:nvSpPr>
          <p:cNvPr id="4" name="Paralelogramo 3"/>
          <p:cNvSpPr/>
          <p:nvPr/>
        </p:nvSpPr>
        <p:spPr>
          <a:xfrm>
            <a:off x="2104447" y="66259"/>
            <a:ext cx="2584528"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Architecture Implementation</a:t>
            </a:r>
            <a:endParaRPr lang="en-GB" sz="1600" b="1" dirty="0">
              <a:solidFill>
                <a:srgbClr val="016357"/>
              </a:solidFill>
            </a:endParaRPr>
          </a:p>
        </p:txBody>
      </p:sp>
      <p:sp>
        <p:nvSpPr>
          <p:cNvPr id="5" name="Rectángulo 4"/>
          <p:cNvSpPr/>
          <p:nvPr/>
        </p:nvSpPr>
        <p:spPr>
          <a:xfrm>
            <a:off x="1265215" y="126269"/>
            <a:ext cx="10858642" cy="523220"/>
          </a:xfrm>
          <a:prstGeom prst="rect">
            <a:avLst/>
          </a:prstGeom>
        </p:spPr>
        <p:txBody>
          <a:bodyPr wrap="square">
            <a:spAutoFit/>
          </a:bodyPr>
          <a:lstStyle/>
          <a:p>
            <a:pPr algn="r">
              <a:spcBef>
                <a:spcPts val="300"/>
              </a:spcBef>
              <a:spcAft>
                <a:spcPts val="300"/>
              </a:spcAft>
            </a:pPr>
            <a:r>
              <a:rPr lang="en-US" sz="2800" dirty="0">
                <a:solidFill>
                  <a:schemeClr val="bg1"/>
                </a:solidFill>
                <a:latin typeface="Calibri" panose="020F0502020204030204" pitchFamily="34" charset="0"/>
              </a:rPr>
              <a:t>Update on the </a:t>
            </a:r>
            <a:r>
              <a:rPr lang="en-US" sz="2800" dirty="0" smtClean="0">
                <a:solidFill>
                  <a:schemeClr val="bg1"/>
                </a:solidFill>
                <a:latin typeface="Calibri" panose="020F0502020204030204" pitchFamily="34" charset="0"/>
              </a:rPr>
              <a:t>Architecture and SW </a:t>
            </a:r>
            <a:r>
              <a:rPr lang="en-US" sz="2800" dirty="0">
                <a:solidFill>
                  <a:schemeClr val="bg1"/>
                </a:solidFill>
                <a:latin typeface="Calibri" panose="020F0502020204030204" pitchFamily="34" charset="0"/>
              </a:rPr>
              <a:t>D</a:t>
            </a:r>
            <a:r>
              <a:rPr lang="en-US" sz="2800" dirty="0" smtClean="0">
                <a:solidFill>
                  <a:schemeClr val="bg1"/>
                </a:solidFill>
                <a:latin typeface="Calibri" panose="020F0502020204030204" pitchFamily="34" charset="0"/>
              </a:rPr>
              <a:t>evelopment</a:t>
            </a:r>
            <a:endParaRPr lang="es-ES" sz="2800" kern="50" dirty="0">
              <a:solidFill>
                <a:schemeClr val="bg1"/>
              </a:solidFill>
              <a:latin typeface="Verdana" panose="020B0604030504040204" pitchFamily="34" charset="0"/>
              <a:ea typeface="Times New Roman" panose="02020603050405020304" pitchFamily="18" charset="0"/>
              <a:cs typeface="CG Times (W1)"/>
            </a:endParaRPr>
          </a:p>
        </p:txBody>
      </p:sp>
      <p:sp>
        <p:nvSpPr>
          <p:cNvPr id="6" name="Rectángulo 5"/>
          <p:cNvSpPr/>
          <p:nvPr/>
        </p:nvSpPr>
        <p:spPr>
          <a:xfrm>
            <a:off x="415636" y="1178304"/>
            <a:ext cx="11222845" cy="5057670"/>
          </a:xfrm>
          <a:prstGeom prst="rect">
            <a:avLst/>
          </a:prstGeom>
          <a:solidFill>
            <a:schemeClr val="bg1"/>
          </a:solidFill>
          <a:ln w="3175">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36000" bIns="36000" numCol="1" spcCol="0" rtlCol="0" fromWordArt="0" anchor="t" anchorCtr="0" forceAA="0" compatLnSpc="1">
            <a:prstTxWarp prst="textNoShape">
              <a:avLst/>
            </a:prstTxWarp>
            <a:noAutofit/>
          </a:bodyPr>
          <a:lstStyle/>
          <a:p>
            <a:endParaRPr lang="en-GB" sz="950" b="1" dirty="0">
              <a:solidFill>
                <a:schemeClr val="tx1"/>
              </a:solidFill>
              <a:latin typeface="Calibri" panose="020F0502020204030204" pitchFamily="34" charset="0"/>
              <a:cs typeface="Calibri" panose="020F0502020204030204" pitchFamily="34" charset="0"/>
            </a:endParaRPr>
          </a:p>
        </p:txBody>
      </p:sp>
      <p:sp>
        <p:nvSpPr>
          <p:cNvPr id="7" name="Rectángulo 6"/>
          <p:cNvSpPr/>
          <p:nvPr/>
        </p:nvSpPr>
        <p:spPr>
          <a:xfrm>
            <a:off x="6942946" y="3153605"/>
            <a:ext cx="161612" cy="99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p:cNvSpPr/>
          <p:nvPr/>
        </p:nvSpPr>
        <p:spPr>
          <a:xfrm>
            <a:off x="7310983" y="4726584"/>
            <a:ext cx="161612" cy="99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p:cNvSpPr/>
          <p:nvPr/>
        </p:nvSpPr>
        <p:spPr>
          <a:xfrm>
            <a:off x="5299544" y="3156972"/>
            <a:ext cx="161612" cy="99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p:cNvSpPr/>
          <p:nvPr/>
        </p:nvSpPr>
        <p:spPr>
          <a:xfrm>
            <a:off x="709845" y="2304360"/>
            <a:ext cx="7358386" cy="3766088"/>
          </a:xfrm>
          <a:prstGeom prst="rect">
            <a:avLst/>
          </a:prstGeom>
          <a:solidFill>
            <a:schemeClr val="bg2"/>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tlCol="0" anchor="t" anchorCtr="0"/>
          <a:lstStyle/>
          <a:p>
            <a:r>
              <a:rPr lang="en-GB" sz="1200" b="1" dirty="0">
                <a:solidFill>
                  <a:schemeClr val="tx1"/>
                </a:solidFill>
              </a:rPr>
              <a:t>Reportnet Integration Layer</a:t>
            </a:r>
          </a:p>
        </p:txBody>
      </p:sp>
      <p:sp>
        <p:nvSpPr>
          <p:cNvPr id="11" name="Rectángulo 10"/>
          <p:cNvSpPr/>
          <p:nvPr/>
        </p:nvSpPr>
        <p:spPr>
          <a:xfrm>
            <a:off x="8267358" y="3145456"/>
            <a:ext cx="3177844" cy="1404060"/>
          </a:xfrm>
          <a:prstGeom prst="rect">
            <a:avLst/>
          </a:prstGeom>
          <a:solidFill>
            <a:srgbClr val="DCE6F2"/>
          </a:solidFill>
          <a:ln w="31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a:solidFill>
                  <a:schemeClr val="tx1"/>
                </a:solidFill>
                <a:latin typeface="Calibri" panose="020F0502020204030204" pitchFamily="34" charset="0"/>
                <a:cs typeface="Calibri" panose="020F0502020204030204" pitchFamily="34" charset="0"/>
              </a:rPr>
              <a:t>PostgreSQL HA</a:t>
            </a:r>
          </a:p>
        </p:txBody>
      </p:sp>
      <p:sp>
        <p:nvSpPr>
          <p:cNvPr id="12" name="Rectángulo 11"/>
          <p:cNvSpPr/>
          <p:nvPr/>
        </p:nvSpPr>
        <p:spPr>
          <a:xfrm>
            <a:off x="8267358" y="5231353"/>
            <a:ext cx="3177844" cy="839096"/>
          </a:xfrm>
          <a:prstGeom prst="rect">
            <a:avLst/>
          </a:prstGeom>
          <a:solidFill>
            <a:srgbClr val="DCE6F2"/>
          </a:solidFill>
          <a:ln w="31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a:solidFill>
                  <a:schemeClr val="tx1"/>
                </a:solidFill>
                <a:latin typeface="Calibri" panose="020F0502020204030204" pitchFamily="34" charset="0"/>
                <a:cs typeface="Calibri" panose="020F0502020204030204" pitchFamily="34" charset="0"/>
              </a:rPr>
              <a:t>MongoDB Cluster</a:t>
            </a:r>
          </a:p>
        </p:txBody>
      </p:sp>
      <p:sp>
        <p:nvSpPr>
          <p:cNvPr id="13" name="Rectángulo 12"/>
          <p:cNvSpPr/>
          <p:nvPr/>
        </p:nvSpPr>
        <p:spPr>
          <a:xfrm>
            <a:off x="2831736" y="5157788"/>
            <a:ext cx="4045872" cy="782104"/>
          </a:xfrm>
          <a:prstGeom prst="rect">
            <a:avLst/>
          </a:prstGeom>
          <a:solidFill>
            <a:schemeClr val="bg1">
              <a:lumMod val="85000"/>
            </a:schemeClr>
          </a:solidFill>
          <a:ln w="3175">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smtClean="0">
                <a:solidFill>
                  <a:schemeClr val="tx1"/>
                </a:solidFill>
                <a:latin typeface="Calibri" panose="020F0502020204030204" pitchFamily="34" charset="0"/>
                <a:cs typeface="Calibri" panose="020F0502020204030204" pitchFamily="34" charset="0"/>
              </a:rPr>
              <a:t>Event Bus Cluster</a:t>
            </a:r>
            <a:endParaRPr lang="en-GB" sz="1200" b="1" dirty="0">
              <a:solidFill>
                <a:schemeClr val="tx1"/>
              </a:solidFill>
              <a:latin typeface="Calibri" panose="020F0502020204030204" pitchFamily="34" charset="0"/>
              <a:cs typeface="Calibri" panose="020F0502020204030204" pitchFamily="34" charset="0"/>
            </a:endParaRPr>
          </a:p>
        </p:txBody>
      </p:sp>
      <p:sp>
        <p:nvSpPr>
          <p:cNvPr id="14" name="Rectángulo 13"/>
          <p:cNvSpPr/>
          <p:nvPr/>
        </p:nvSpPr>
        <p:spPr>
          <a:xfrm>
            <a:off x="2831735" y="3145456"/>
            <a:ext cx="5098080" cy="1676824"/>
          </a:xfrm>
          <a:prstGeom prst="rect">
            <a:avLst/>
          </a:prstGeom>
          <a:solidFill>
            <a:srgbClr val="F9F1D3"/>
          </a:solidFill>
          <a:ln w="3175">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r>
              <a:rPr lang="en-GB" sz="1200" b="1" dirty="0" err="1">
                <a:solidFill>
                  <a:schemeClr val="tx1"/>
                </a:solidFill>
                <a:latin typeface="Calibri" panose="020F0502020204030204" pitchFamily="34" charset="0"/>
                <a:cs typeface="Calibri" panose="020F0502020204030204" pitchFamily="34" charset="0"/>
              </a:rPr>
              <a:t>RecordNet</a:t>
            </a:r>
            <a:r>
              <a:rPr lang="en-GB" sz="1200" b="1" dirty="0">
                <a:solidFill>
                  <a:schemeClr val="tx1"/>
                </a:solidFill>
                <a:latin typeface="Calibri" panose="020F0502020204030204" pitchFamily="34" charset="0"/>
                <a:cs typeface="Calibri" panose="020F0502020204030204" pitchFamily="34" charset="0"/>
              </a:rPr>
              <a:t> Core Platform</a:t>
            </a:r>
          </a:p>
        </p:txBody>
      </p:sp>
      <p:sp>
        <p:nvSpPr>
          <p:cNvPr id="15" name="Rectángulo 14"/>
          <p:cNvSpPr/>
          <p:nvPr/>
        </p:nvSpPr>
        <p:spPr>
          <a:xfrm>
            <a:off x="4526612" y="1250770"/>
            <a:ext cx="3541619" cy="870224"/>
          </a:xfrm>
          <a:prstGeom prst="rect">
            <a:avLst/>
          </a:prstGeom>
          <a:solidFill>
            <a:srgbClr val="DCE6F2"/>
          </a:solidFill>
          <a:ln w="31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200" b="1" dirty="0">
                <a:solidFill>
                  <a:schemeClr val="tx1"/>
                </a:solidFill>
                <a:latin typeface="Calibri" panose="020F0502020204030204" pitchFamily="34" charset="0"/>
                <a:cs typeface="Calibri" panose="020F0502020204030204" pitchFamily="34" charset="0"/>
              </a:rPr>
              <a:t>Reportnet Frontend Layer</a:t>
            </a:r>
          </a:p>
        </p:txBody>
      </p:sp>
      <p:grpSp>
        <p:nvGrpSpPr>
          <p:cNvPr id="16" name="Grupo 15"/>
          <p:cNvGrpSpPr/>
          <p:nvPr/>
        </p:nvGrpSpPr>
        <p:grpSpPr>
          <a:xfrm>
            <a:off x="9952512" y="3312407"/>
            <a:ext cx="1377950" cy="355012"/>
            <a:chOff x="9952512" y="3312407"/>
            <a:chExt cx="1377950" cy="355012"/>
          </a:xfrm>
        </p:grpSpPr>
        <p:sp>
          <p:nvSpPr>
            <p:cNvPr id="17" name="Rectángulo 16"/>
            <p:cNvSpPr/>
            <p:nvPr/>
          </p:nvSpPr>
          <p:spPr>
            <a:xfrm>
              <a:off x="9952512" y="3312407"/>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Replica(s)</a:t>
              </a:r>
            </a:p>
          </p:txBody>
        </p:sp>
        <p:pic>
          <p:nvPicPr>
            <p:cNvPr id="18" name="Imagen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8522" y="3373367"/>
              <a:ext cx="268000" cy="241200"/>
            </a:xfrm>
            <a:prstGeom prst="rect">
              <a:avLst/>
            </a:prstGeom>
            <a:ln>
              <a:noFill/>
            </a:ln>
          </p:spPr>
        </p:pic>
      </p:grpSp>
      <p:grpSp>
        <p:nvGrpSpPr>
          <p:cNvPr id="19" name="Grupo 18"/>
          <p:cNvGrpSpPr/>
          <p:nvPr/>
        </p:nvGrpSpPr>
        <p:grpSpPr>
          <a:xfrm>
            <a:off x="8386022" y="3805641"/>
            <a:ext cx="1377950" cy="355012"/>
            <a:chOff x="8386022" y="3805641"/>
            <a:chExt cx="1377950" cy="355012"/>
          </a:xfrm>
        </p:grpSpPr>
        <p:sp>
          <p:nvSpPr>
            <p:cNvPr id="20" name="Rectángulo 19"/>
            <p:cNvSpPr/>
            <p:nvPr/>
          </p:nvSpPr>
          <p:spPr>
            <a:xfrm>
              <a:off x="8386022" y="3805641"/>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PostgresSQL</a:t>
              </a:r>
              <a:r>
                <a:rPr lang="en-GB" sz="950" dirty="0">
                  <a:solidFill>
                    <a:schemeClr val="tx1"/>
                  </a:solidFill>
                  <a:latin typeface="Calibri" panose="020F0502020204030204" pitchFamily="34" charset="0"/>
                  <a:cs typeface="Calibri" panose="020F0502020204030204" pitchFamily="34" charset="0"/>
                </a:rPr>
                <a:t> Connection Pool</a:t>
              </a:r>
            </a:p>
          </p:txBody>
        </p:sp>
        <p:pic>
          <p:nvPicPr>
            <p:cNvPr id="21" name="Imagen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7343" y="3848147"/>
              <a:ext cx="278438" cy="270000"/>
            </a:xfrm>
            <a:prstGeom prst="rect">
              <a:avLst/>
            </a:prstGeom>
            <a:ln>
              <a:noFill/>
            </a:ln>
          </p:spPr>
        </p:pic>
      </p:grpSp>
      <p:sp>
        <p:nvSpPr>
          <p:cNvPr id="22" name="Rectángulo 21"/>
          <p:cNvSpPr/>
          <p:nvPr/>
        </p:nvSpPr>
        <p:spPr>
          <a:xfrm>
            <a:off x="9933462" y="5543550"/>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Replica</a:t>
            </a:r>
          </a:p>
        </p:txBody>
      </p:sp>
      <p:pic>
        <p:nvPicPr>
          <p:cNvPr id="23" name="Imagen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4237" y="5600700"/>
            <a:ext cx="268000" cy="241200"/>
          </a:xfrm>
          <a:prstGeom prst="rect">
            <a:avLst/>
          </a:prstGeom>
        </p:spPr>
      </p:pic>
      <p:sp>
        <p:nvSpPr>
          <p:cNvPr id="24" name="Rectángulo 23"/>
          <p:cNvSpPr/>
          <p:nvPr/>
        </p:nvSpPr>
        <p:spPr>
          <a:xfrm>
            <a:off x="1027867" y="3517468"/>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User</a:t>
            </a:r>
          </a:p>
          <a:p>
            <a:r>
              <a:rPr lang="en-GB" sz="950" dirty="0" smtClean="0">
                <a:solidFill>
                  <a:schemeClr val="tx1"/>
                </a:solidFill>
                <a:latin typeface="Calibri" panose="020F0502020204030204" pitchFamily="34" charset="0"/>
                <a:cs typeface="Calibri" panose="020F0502020204030204" pitchFamily="34" charset="0"/>
              </a:rPr>
              <a:t>Management</a:t>
            </a:r>
            <a:endParaRPr lang="en-GB" sz="950" dirty="0">
              <a:solidFill>
                <a:schemeClr val="tx1"/>
              </a:solidFill>
              <a:latin typeface="Calibri" panose="020F0502020204030204" pitchFamily="34" charset="0"/>
              <a:cs typeface="Calibri" panose="020F0502020204030204" pitchFamily="34" charset="0"/>
            </a:endParaRPr>
          </a:p>
        </p:txBody>
      </p:sp>
      <p:pic>
        <p:nvPicPr>
          <p:cNvPr id="25" name="Imagen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9188" y="3574374"/>
            <a:ext cx="249814" cy="241200"/>
          </a:xfrm>
          <a:prstGeom prst="rect">
            <a:avLst/>
          </a:prstGeom>
        </p:spPr>
      </p:pic>
      <p:sp>
        <p:nvSpPr>
          <p:cNvPr id="26" name="Rectángulo 25"/>
          <p:cNvSpPr/>
          <p:nvPr/>
        </p:nvSpPr>
        <p:spPr>
          <a:xfrm>
            <a:off x="1027867" y="4648661"/>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Harvester</a:t>
            </a:r>
          </a:p>
          <a:p>
            <a:r>
              <a:rPr lang="en-GB" sz="950" dirty="0" smtClean="0">
                <a:solidFill>
                  <a:schemeClr val="tx1"/>
                </a:solidFill>
                <a:latin typeface="Calibri" panose="020F0502020204030204" pitchFamily="34" charset="0"/>
                <a:cs typeface="Calibri" panose="020F0502020204030204" pitchFamily="34" charset="0"/>
              </a:rPr>
              <a:t>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27" name="Imagen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9188" y="4709678"/>
            <a:ext cx="249814" cy="241200"/>
          </a:xfrm>
          <a:prstGeom prst="rect">
            <a:avLst/>
          </a:prstGeom>
        </p:spPr>
      </p:pic>
      <p:sp>
        <p:nvSpPr>
          <p:cNvPr id="28" name="Rectángulo 27"/>
          <p:cNvSpPr/>
          <p:nvPr/>
        </p:nvSpPr>
        <p:spPr>
          <a:xfrm>
            <a:off x="1027867" y="5116770"/>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err="1" smtClean="0">
                <a:solidFill>
                  <a:schemeClr val="tx1"/>
                </a:solidFill>
                <a:latin typeface="Calibri" panose="020F0502020204030204" pitchFamily="34" charset="0"/>
                <a:cs typeface="Calibri" panose="020F0502020204030204" pitchFamily="34" charset="0"/>
              </a:rPr>
              <a:t>IndexSearch</a:t>
            </a:r>
            <a:endParaRPr lang="en-GB" sz="950" dirty="0" smtClean="0">
              <a:solidFill>
                <a:schemeClr val="tx1"/>
              </a:solidFill>
              <a:latin typeface="Calibri" panose="020F0502020204030204" pitchFamily="34" charset="0"/>
              <a:cs typeface="Calibri" panose="020F0502020204030204" pitchFamily="34" charset="0"/>
            </a:endParaRPr>
          </a:p>
          <a:p>
            <a:r>
              <a:rPr lang="en-GB" sz="950" dirty="0" smtClean="0">
                <a:solidFill>
                  <a:schemeClr val="tx1"/>
                </a:solidFill>
                <a:latin typeface="Calibri" panose="020F0502020204030204" pitchFamily="34" charset="0"/>
                <a:cs typeface="Calibri" panose="020F0502020204030204" pitchFamily="34" charset="0"/>
              </a:rPr>
              <a:t>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29" name="Imagen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9188" y="5182989"/>
            <a:ext cx="249814" cy="241200"/>
          </a:xfrm>
          <a:prstGeom prst="rect">
            <a:avLst/>
          </a:prstGeom>
        </p:spPr>
      </p:pic>
      <p:sp>
        <p:nvSpPr>
          <p:cNvPr id="30" name="Rectángulo 29"/>
          <p:cNvSpPr/>
          <p:nvPr/>
        </p:nvSpPr>
        <p:spPr>
          <a:xfrm>
            <a:off x="1027867" y="5584879"/>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Log Aggregator</a:t>
            </a:r>
            <a:endParaRPr lang="en-GB" sz="950" dirty="0">
              <a:solidFill>
                <a:schemeClr val="tx1"/>
              </a:solidFill>
              <a:latin typeface="Calibri" panose="020F0502020204030204" pitchFamily="34" charset="0"/>
              <a:cs typeface="Calibri" panose="020F0502020204030204" pitchFamily="34" charset="0"/>
            </a:endParaRPr>
          </a:p>
        </p:txBody>
      </p:sp>
      <p:pic>
        <p:nvPicPr>
          <p:cNvPr id="31" name="Imagen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9188" y="5641785"/>
            <a:ext cx="259067" cy="241200"/>
          </a:xfrm>
          <a:prstGeom prst="rect">
            <a:avLst/>
          </a:prstGeom>
        </p:spPr>
      </p:pic>
      <p:sp>
        <p:nvSpPr>
          <p:cNvPr id="32" name="Rectángulo 31"/>
          <p:cNvSpPr/>
          <p:nvPr/>
        </p:nvSpPr>
        <p:spPr>
          <a:xfrm>
            <a:off x="2582189" y="1250770"/>
            <a:ext cx="1695972" cy="870224"/>
          </a:xfrm>
          <a:prstGeom prst="rect">
            <a:avLst/>
          </a:prstGeom>
          <a:solidFill>
            <a:schemeClr val="bg2">
              <a:lumMod val="90000"/>
            </a:schemeClr>
          </a:solidFill>
          <a:ln w="3175">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r>
              <a:rPr lang="en-GB" sz="1200" b="1" dirty="0">
                <a:solidFill>
                  <a:schemeClr val="tx1"/>
                </a:solidFill>
                <a:latin typeface="Calibri" panose="020F0502020204030204" pitchFamily="34" charset="0"/>
                <a:cs typeface="Calibri" panose="020F0502020204030204" pitchFamily="34" charset="0"/>
              </a:rPr>
              <a:t>ROD3</a:t>
            </a:r>
          </a:p>
        </p:txBody>
      </p:sp>
      <p:sp>
        <p:nvSpPr>
          <p:cNvPr id="33" name="Rectángulo 32"/>
          <p:cNvSpPr/>
          <p:nvPr/>
        </p:nvSpPr>
        <p:spPr>
          <a:xfrm>
            <a:off x="2712296" y="1545349"/>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ROD Integration Layer</a:t>
            </a:r>
            <a:endParaRPr lang="en-GB" sz="950" dirty="0">
              <a:solidFill>
                <a:schemeClr val="tx1"/>
              </a:solidFill>
              <a:latin typeface="Calibri" panose="020F0502020204030204" pitchFamily="34" charset="0"/>
              <a:cs typeface="Calibri" panose="020F0502020204030204" pitchFamily="34" charset="0"/>
            </a:endParaRPr>
          </a:p>
        </p:txBody>
      </p:sp>
      <p:pic>
        <p:nvPicPr>
          <p:cNvPr id="34" name="Imagen 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3617" y="1602255"/>
            <a:ext cx="249814" cy="241200"/>
          </a:xfrm>
          <a:prstGeom prst="rect">
            <a:avLst/>
          </a:prstGeom>
        </p:spPr>
      </p:pic>
      <p:grpSp>
        <p:nvGrpSpPr>
          <p:cNvPr id="35" name="Grupo 34"/>
          <p:cNvGrpSpPr/>
          <p:nvPr/>
        </p:nvGrpSpPr>
        <p:grpSpPr>
          <a:xfrm>
            <a:off x="6334777" y="1545349"/>
            <a:ext cx="1377950" cy="355012"/>
            <a:chOff x="6092840" y="1604952"/>
            <a:chExt cx="1377950" cy="355012"/>
          </a:xfrm>
        </p:grpSpPr>
        <p:sp>
          <p:nvSpPr>
            <p:cNvPr id="36" name="Rectángulo 35"/>
            <p:cNvSpPr/>
            <p:nvPr/>
          </p:nvSpPr>
          <p:spPr>
            <a:xfrm>
              <a:off x="6092840" y="1604952"/>
              <a:ext cx="1377950" cy="355012"/>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HTTPS </a:t>
              </a:r>
            </a:p>
            <a:p>
              <a:r>
                <a:rPr lang="en-GB" sz="950" dirty="0" smtClean="0">
                  <a:solidFill>
                    <a:schemeClr val="tx1"/>
                  </a:solidFill>
                  <a:latin typeface="Calibri" panose="020F0502020204030204" pitchFamily="34" charset="0"/>
                  <a:cs typeface="Calibri" panose="020F0502020204030204" pitchFamily="34" charset="0"/>
                </a:rPr>
                <a:t>Load Balancer</a:t>
              </a:r>
              <a:endParaRPr lang="en-GB" sz="950" dirty="0">
                <a:solidFill>
                  <a:schemeClr val="tx1"/>
                </a:solidFill>
                <a:latin typeface="Calibri" panose="020F0502020204030204" pitchFamily="34" charset="0"/>
                <a:cs typeface="Calibri" panose="020F0502020204030204" pitchFamily="34" charset="0"/>
              </a:endParaRPr>
            </a:p>
          </p:txBody>
        </p:sp>
        <p:pic>
          <p:nvPicPr>
            <p:cNvPr id="37" name="Imagen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4161" y="1647458"/>
              <a:ext cx="278438" cy="270000"/>
            </a:xfrm>
            <a:prstGeom prst="rect">
              <a:avLst/>
            </a:prstGeom>
            <a:ln w="3175">
              <a:noFill/>
            </a:ln>
          </p:spPr>
        </p:pic>
      </p:grpSp>
      <p:grpSp>
        <p:nvGrpSpPr>
          <p:cNvPr id="38" name="Grupo 37"/>
          <p:cNvGrpSpPr/>
          <p:nvPr/>
        </p:nvGrpSpPr>
        <p:grpSpPr>
          <a:xfrm>
            <a:off x="3048823" y="4168406"/>
            <a:ext cx="1377950" cy="355012"/>
            <a:chOff x="3048823" y="4168406"/>
            <a:chExt cx="1377950" cy="355012"/>
          </a:xfrm>
        </p:grpSpPr>
        <p:sp>
          <p:nvSpPr>
            <p:cNvPr id="39" name="Rectángulo 38"/>
            <p:cNvSpPr/>
            <p:nvPr/>
          </p:nvSpPr>
          <p:spPr>
            <a:xfrm>
              <a:off x="3048823" y="4168406"/>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Document Repository Service</a:t>
              </a:r>
            </a:p>
          </p:txBody>
        </p:sp>
        <p:pic>
          <p:nvPicPr>
            <p:cNvPr id="40" name="Imagen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0144" y="4225312"/>
              <a:ext cx="249814" cy="241200"/>
            </a:xfrm>
            <a:prstGeom prst="rect">
              <a:avLst/>
            </a:prstGeom>
          </p:spPr>
        </p:pic>
      </p:grpSp>
      <p:grpSp>
        <p:nvGrpSpPr>
          <p:cNvPr id="41" name="Grupo 40"/>
          <p:cNvGrpSpPr/>
          <p:nvPr/>
        </p:nvGrpSpPr>
        <p:grpSpPr>
          <a:xfrm>
            <a:off x="4691800" y="4168406"/>
            <a:ext cx="1377950" cy="355012"/>
            <a:chOff x="4691800" y="4168406"/>
            <a:chExt cx="1377950" cy="355012"/>
          </a:xfrm>
        </p:grpSpPr>
        <p:sp>
          <p:nvSpPr>
            <p:cNvPr id="42" name="Rectángulo 41"/>
            <p:cNvSpPr/>
            <p:nvPr/>
          </p:nvSpPr>
          <p:spPr>
            <a:xfrm>
              <a:off x="4691800" y="4168406"/>
              <a:ext cx="1377950" cy="355012"/>
            </a:xfrm>
            <a:prstGeom prst="rect">
              <a:avLst/>
            </a:prstGeom>
            <a:solidFill>
              <a:schemeClr val="bg1"/>
            </a:solidFill>
            <a:ln w="3175">
              <a:solidFill>
                <a:schemeClr val="accent3">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Collaboration Service</a:t>
              </a:r>
            </a:p>
          </p:txBody>
        </p:sp>
        <p:pic>
          <p:nvPicPr>
            <p:cNvPr id="43" name="Imagen 4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3121" y="4225312"/>
              <a:ext cx="249814" cy="241200"/>
            </a:xfrm>
            <a:prstGeom prst="rect">
              <a:avLst/>
            </a:prstGeom>
          </p:spPr>
        </p:pic>
      </p:grpSp>
      <p:grpSp>
        <p:nvGrpSpPr>
          <p:cNvPr id="44" name="Grupo 43"/>
          <p:cNvGrpSpPr/>
          <p:nvPr/>
        </p:nvGrpSpPr>
        <p:grpSpPr>
          <a:xfrm>
            <a:off x="3582591" y="5474790"/>
            <a:ext cx="1377950" cy="355012"/>
            <a:chOff x="3582591" y="5474790"/>
            <a:chExt cx="1377950" cy="355012"/>
          </a:xfrm>
        </p:grpSpPr>
        <p:sp>
          <p:nvSpPr>
            <p:cNvPr id="45" name="Rectángulo 44"/>
            <p:cNvSpPr/>
            <p:nvPr/>
          </p:nvSpPr>
          <p:spPr>
            <a:xfrm>
              <a:off x="3582591" y="5474790"/>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Bus</a:t>
              </a:r>
            </a:p>
          </p:txBody>
        </p:sp>
        <p:pic>
          <p:nvPicPr>
            <p:cNvPr id="46" name="Imagen 4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45726" y="5531696"/>
              <a:ext cx="268000" cy="241200"/>
            </a:xfrm>
            <a:prstGeom prst="rect">
              <a:avLst/>
            </a:prstGeom>
            <a:ln>
              <a:noFill/>
            </a:ln>
          </p:spPr>
        </p:pic>
      </p:grpSp>
      <p:grpSp>
        <p:nvGrpSpPr>
          <p:cNvPr id="47" name="Grupo 46"/>
          <p:cNvGrpSpPr/>
          <p:nvPr/>
        </p:nvGrpSpPr>
        <p:grpSpPr>
          <a:xfrm>
            <a:off x="5237865" y="5474790"/>
            <a:ext cx="1377950" cy="355012"/>
            <a:chOff x="5237865" y="5474790"/>
            <a:chExt cx="1377950" cy="355012"/>
          </a:xfrm>
        </p:grpSpPr>
        <p:sp>
          <p:nvSpPr>
            <p:cNvPr id="48" name="Rectángulo 47"/>
            <p:cNvSpPr/>
            <p:nvPr/>
          </p:nvSpPr>
          <p:spPr>
            <a:xfrm>
              <a:off x="5237865" y="5474790"/>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Topics</a:t>
              </a:r>
            </a:p>
          </p:txBody>
        </p:sp>
        <p:pic>
          <p:nvPicPr>
            <p:cNvPr id="49" name="Imagen 4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19186" y="5531696"/>
              <a:ext cx="268000" cy="241200"/>
            </a:xfrm>
            <a:prstGeom prst="rect">
              <a:avLst/>
            </a:prstGeom>
            <a:ln>
              <a:noFill/>
            </a:ln>
          </p:spPr>
        </p:pic>
      </p:grpSp>
      <p:grpSp>
        <p:nvGrpSpPr>
          <p:cNvPr id="50" name="Grupo 49"/>
          <p:cNvGrpSpPr/>
          <p:nvPr/>
        </p:nvGrpSpPr>
        <p:grpSpPr>
          <a:xfrm>
            <a:off x="4691375" y="2499121"/>
            <a:ext cx="1377950" cy="355012"/>
            <a:chOff x="4691375" y="2499121"/>
            <a:chExt cx="1377950" cy="355012"/>
          </a:xfrm>
        </p:grpSpPr>
        <p:sp>
          <p:nvSpPr>
            <p:cNvPr id="51" name="Rectángulo 50"/>
            <p:cNvSpPr/>
            <p:nvPr/>
          </p:nvSpPr>
          <p:spPr>
            <a:xfrm>
              <a:off x="4691375" y="2499121"/>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a:solidFill>
                    <a:schemeClr val="tx1"/>
                  </a:solidFill>
                  <a:latin typeface="Calibri" panose="020F0502020204030204" pitchFamily="34" charset="0"/>
                  <a:cs typeface="Calibri" panose="020F0502020204030204" pitchFamily="34" charset="0"/>
                </a:rPr>
                <a:t>API Gateway</a:t>
              </a:r>
            </a:p>
          </p:txBody>
        </p:sp>
        <p:pic>
          <p:nvPicPr>
            <p:cNvPr id="52" name="Imagen 5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72696" y="2541627"/>
              <a:ext cx="270000" cy="270000"/>
            </a:xfrm>
            <a:prstGeom prst="rect">
              <a:avLst/>
            </a:prstGeom>
            <a:ln>
              <a:noFill/>
            </a:ln>
          </p:spPr>
        </p:pic>
      </p:grpSp>
      <p:grpSp>
        <p:nvGrpSpPr>
          <p:cNvPr id="53" name="Grupo 52"/>
          <p:cNvGrpSpPr/>
          <p:nvPr/>
        </p:nvGrpSpPr>
        <p:grpSpPr>
          <a:xfrm>
            <a:off x="6334777" y="2499121"/>
            <a:ext cx="1377950" cy="355012"/>
            <a:chOff x="6334777" y="2499121"/>
            <a:chExt cx="1377950" cy="355012"/>
          </a:xfrm>
        </p:grpSpPr>
        <p:sp>
          <p:nvSpPr>
            <p:cNvPr id="54" name="Rectángulo 53"/>
            <p:cNvSpPr/>
            <p:nvPr/>
          </p:nvSpPr>
          <p:spPr>
            <a:xfrm>
              <a:off x="6334777" y="2499121"/>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Service Registry</a:t>
              </a:r>
            </a:p>
          </p:txBody>
        </p:sp>
        <p:pic>
          <p:nvPicPr>
            <p:cNvPr id="55" name="Imagen 5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16098" y="2556027"/>
              <a:ext cx="258429" cy="241200"/>
            </a:xfrm>
            <a:prstGeom prst="rect">
              <a:avLst/>
            </a:prstGeom>
          </p:spPr>
        </p:pic>
      </p:grpSp>
      <p:grpSp>
        <p:nvGrpSpPr>
          <p:cNvPr id="56" name="Grupo 55"/>
          <p:cNvGrpSpPr/>
          <p:nvPr/>
        </p:nvGrpSpPr>
        <p:grpSpPr>
          <a:xfrm>
            <a:off x="9952512" y="3805641"/>
            <a:ext cx="1377950" cy="355012"/>
            <a:chOff x="9952512" y="3805641"/>
            <a:chExt cx="1377950" cy="355012"/>
          </a:xfrm>
        </p:grpSpPr>
        <p:sp>
          <p:nvSpPr>
            <p:cNvPr id="57" name="Rectángulo 56"/>
            <p:cNvSpPr/>
            <p:nvPr/>
          </p:nvSpPr>
          <p:spPr>
            <a:xfrm>
              <a:off x="9952512" y="3805641"/>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Postrgres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Primary</a:t>
              </a:r>
            </a:p>
          </p:txBody>
        </p:sp>
        <p:pic>
          <p:nvPicPr>
            <p:cNvPr id="58" name="Imagen 5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3833" y="3862547"/>
              <a:ext cx="268000" cy="241200"/>
            </a:xfrm>
            <a:prstGeom prst="rect">
              <a:avLst/>
            </a:prstGeom>
            <a:ln>
              <a:noFill/>
            </a:ln>
          </p:spPr>
        </p:pic>
      </p:grpSp>
      <p:grpSp>
        <p:nvGrpSpPr>
          <p:cNvPr id="59" name="Grupo 58"/>
          <p:cNvGrpSpPr/>
          <p:nvPr/>
        </p:nvGrpSpPr>
        <p:grpSpPr>
          <a:xfrm>
            <a:off x="8366972" y="5543550"/>
            <a:ext cx="1377950" cy="355012"/>
            <a:chOff x="8366972" y="5543550"/>
            <a:chExt cx="1377950" cy="355012"/>
          </a:xfrm>
        </p:grpSpPr>
        <p:sp>
          <p:nvSpPr>
            <p:cNvPr id="60" name="Rectángulo 59"/>
            <p:cNvSpPr/>
            <p:nvPr/>
          </p:nvSpPr>
          <p:spPr>
            <a:xfrm>
              <a:off x="8366972" y="5543550"/>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Primary</a:t>
              </a:r>
            </a:p>
          </p:txBody>
        </p:sp>
        <p:pic>
          <p:nvPicPr>
            <p:cNvPr id="61" name="Imagen 6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8293" y="5600456"/>
              <a:ext cx="268000" cy="241200"/>
            </a:xfrm>
            <a:prstGeom prst="rect">
              <a:avLst/>
            </a:prstGeom>
          </p:spPr>
        </p:pic>
      </p:grpSp>
      <p:grpSp>
        <p:nvGrpSpPr>
          <p:cNvPr id="62" name="Grupo 61"/>
          <p:cNvGrpSpPr/>
          <p:nvPr/>
        </p:nvGrpSpPr>
        <p:grpSpPr>
          <a:xfrm>
            <a:off x="4690950" y="1545349"/>
            <a:ext cx="1378800" cy="355012"/>
            <a:chOff x="4690950" y="1545349"/>
            <a:chExt cx="1378800" cy="355012"/>
          </a:xfrm>
        </p:grpSpPr>
        <p:sp>
          <p:nvSpPr>
            <p:cNvPr id="63" name="Rectángulo 62"/>
            <p:cNvSpPr/>
            <p:nvPr/>
          </p:nvSpPr>
          <p:spPr>
            <a:xfrm>
              <a:off x="4690950" y="1545349"/>
              <a:ext cx="137880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Reportnet Frontend</a:t>
              </a:r>
            </a:p>
          </p:txBody>
        </p:sp>
        <p:pic>
          <p:nvPicPr>
            <p:cNvPr id="64" name="Imagen 6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72271" y="1587855"/>
              <a:ext cx="278182" cy="270000"/>
            </a:xfrm>
            <a:prstGeom prst="rect">
              <a:avLst/>
            </a:prstGeom>
          </p:spPr>
        </p:pic>
      </p:grpSp>
      <p:grpSp>
        <p:nvGrpSpPr>
          <p:cNvPr id="65" name="Grupo 64"/>
          <p:cNvGrpSpPr/>
          <p:nvPr/>
        </p:nvGrpSpPr>
        <p:grpSpPr>
          <a:xfrm>
            <a:off x="3048823" y="3517512"/>
            <a:ext cx="1377950" cy="355012"/>
            <a:chOff x="3048823" y="3517512"/>
            <a:chExt cx="1377950" cy="355012"/>
          </a:xfrm>
        </p:grpSpPr>
        <p:sp>
          <p:nvSpPr>
            <p:cNvPr id="66" name="Rectángulo 65"/>
            <p:cNvSpPr/>
            <p:nvPr/>
          </p:nvSpPr>
          <p:spPr>
            <a:xfrm>
              <a:off x="3048823" y="3517512"/>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Validation</a:t>
              </a:r>
            </a:p>
            <a:p>
              <a:r>
                <a:rPr lang="en-GB" sz="950" dirty="0">
                  <a:solidFill>
                    <a:schemeClr val="tx1"/>
                  </a:solidFill>
                  <a:latin typeface="Calibri" panose="020F0502020204030204" pitchFamily="34" charset="0"/>
                  <a:cs typeface="Calibri" panose="020F0502020204030204" pitchFamily="34" charset="0"/>
                </a:rPr>
                <a:t>Service</a:t>
              </a:r>
            </a:p>
          </p:txBody>
        </p:sp>
        <p:pic>
          <p:nvPicPr>
            <p:cNvPr id="67" name="Imagen 6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0144" y="3574418"/>
              <a:ext cx="249814" cy="241200"/>
            </a:xfrm>
            <a:prstGeom prst="rect">
              <a:avLst/>
            </a:prstGeom>
          </p:spPr>
        </p:pic>
      </p:grpSp>
      <p:grpSp>
        <p:nvGrpSpPr>
          <p:cNvPr id="68" name="Grupo 67"/>
          <p:cNvGrpSpPr/>
          <p:nvPr/>
        </p:nvGrpSpPr>
        <p:grpSpPr>
          <a:xfrm>
            <a:off x="4691375" y="3517512"/>
            <a:ext cx="1377950" cy="355012"/>
            <a:chOff x="4691375" y="3517512"/>
            <a:chExt cx="1377950" cy="355012"/>
          </a:xfrm>
        </p:grpSpPr>
        <p:sp>
          <p:nvSpPr>
            <p:cNvPr id="69" name="Rectángulo 68"/>
            <p:cNvSpPr/>
            <p:nvPr/>
          </p:nvSpPr>
          <p:spPr>
            <a:xfrm>
              <a:off x="4691375" y="3517512"/>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Dataset Service</a:t>
              </a:r>
            </a:p>
          </p:txBody>
        </p:sp>
        <p:pic>
          <p:nvPicPr>
            <p:cNvPr id="70" name="Imagen 6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2696" y="3574418"/>
              <a:ext cx="249814" cy="241200"/>
            </a:xfrm>
            <a:prstGeom prst="rect">
              <a:avLst/>
            </a:prstGeom>
          </p:spPr>
        </p:pic>
      </p:grpSp>
      <p:grpSp>
        <p:nvGrpSpPr>
          <p:cNvPr id="71" name="Grupo 70"/>
          <p:cNvGrpSpPr/>
          <p:nvPr/>
        </p:nvGrpSpPr>
        <p:grpSpPr>
          <a:xfrm>
            <a:off x="6334777" y="3517512"/>
            <a:ext cx="1377950" cy="355012"/>
            <a:chOff x="6334777" y="3517512"/>
            <a:chExt cx="1377950" cy="355012"/>
          </a:xfrm>
        </p:grpSpPr>
        <p:sp>
          <p:nvSpPr>
            <p:cNvPr id="72" name="Rectángulo 71"/>
            <p:cNvSpPr/>
            <p:nvPr/>
          </p:nvSpPr>
          <p:spPr>
            <a:xfrm>
              <a:off x="6334777" y="3517512"/>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Dataflow Service</a:t>
              </a:r>
            </a:p>
          </p:txBody>
        </p:sp>
        <p:pic>
          <p:nvPicPr>
            <p:cNvPr id="73" name="Imagen 7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6098" y="3574418"/>
              <a:ext cx="249814" cy="241200"/>
            </a:xfrm>
            <a:prstGeom prst="rect">
              <a:avLst/>
            </a:prstGeom>
          </p:spPr>
        </p:pic>
      </p:grpSp>
      <p:grpSp>
        <p:nvGrpSpPr>
          <p:cNvPr id="74" name="Grupo 73"/>
          <p:cNvGrpSpPr/>
          <p:nvPr/>
        </p:nvGrpSpPr>
        <p:grpSpPr>
          <a:xfrm>
            <a:off x="6334777" y="4168406"/>
            <a:ext cx="1377950" cy="355012"/>
            <a:chOff x="6334777" y="4168406"/>
            <a:chExt cx="1377950" cy="355012"/>
          </a:xfrm>
        </p:grpSpPr>
        <p:sp>
          <p:nvSpPr>
            <p:cNvPr id="75" name="Rectángulo 74"/>
            <p:cNvSpPr/>
            <p:nvPr/>
          </p:nvSpPr>
          <p:spPr>
            <a:xfrm>
              <a:off x="6334777" y="4168406"/>
              <a:ext cx="1377950" cy="355012"/>
            </a:xfrm>
            <a:prstGeom prst="rect">
              <a:avLst/>
            </a:prstGeom>
            <a:solidFill>
              <a:schemeClr val="accent3">
                <a:lumMod val="60000"/>
                <a:lumOff val="40000"/>
              </a:schemeClr>
            </a:solid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Recordstore Service</a:t>
              </a:r>
            </a:p>
          </p:txBody>
        </p:sp>
        <p:pic>
          <p:nvPicPr>
            <p:cNvPr id="76" name="Imagen 7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6098" y="4225312"/>
              <a:ext cx="249814" cy="241200"/>
            </a:xfrm>
            <a:prstGeom prst="rect">
              <a:avLst/>
            </a:prstGeom>
            <a:ln>
              <a:noFill/>
            </a:ln>
          </p:spPr>
        </p:pic>
      </p:grpSp>
      <p:grpSp>
        <p:nvGrpSpPr>
          <p:cNvPr id="77" name="Grupo 76"/>
          <p:cNvGrpSpPr/>
          <p:nvPr/>
        </p:nvGrpSpPr>
        <p:grpSpPr>
          <a:xfrm>
            <a:off x="8267358" y="1348205"/>
            <a:ext cx="607162" cy="749301"/>
            <a:chOff x="8784294" y="1405355"/>
            <a:chExt cx="607162" cy="749301"/>
          </a:xfrm>
          <a:solidFill>
            <a:schemeClr val="accent3">
              <a:lumMod val="20000"/>
              <a:lumOff val="80000"/>
            </a:schemeClr>
          </a:solidFill>
        </p:grpSpPr>
        <p:sp>
          <p:nvSpPr>
            <p:cNvPr id="78" name="Rectángulo 77"/>
            <p:cNvSpPr/>
            <p:nvPr/>
          </p:nvSpPr>
          <p:spPr>
            <a:xfrm>
              <a:off x="8784294" y="1405355"/>
              <a:ext cx="607162" cy="749301"/>
            </a:xfrm>
            <a:prstGeom prst="rect">
              <a:avLst/>
            </a:prstGeom>
            <a:solidFill>
              <a:schemeClr val="bg2">
                <a:lumMod val="90000"/>
              </a:schemeClr>
            </a:solidFill>
            <a:ln w="3175">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108000" rtlCol="0" anchor="b" anchorCtr="0"/>
            <a:lstStyle/>
            <a:p>
              <a:pPr algn="ctr"/>
              <a:r>
                <a:rPr lang="en-GB" sz="950" dirty="0" smtClean="0">
                  <a:solidFill>
                    <a:schemeClr val="tx1"/>
                  </a:solidFill>
                  <a:latin typeface="Calibri" panose="020F0502020204030204" pitchFamily="34" charset="0"/>
                  <a:cs typeface="Calibri" panose="020F0502020204030204" pitchFamily="34" charset="0"/>
                </a:rPr>
                <a:t>Users</a:t>
              </a:r>
              <a:endParaRPr lang="en-GB" sz="950" dirty="0">
                <a:solidFill>
                  <a:schemeClr val="tx1"/>
                </a:solidFill>
                <a:latin typeface="Calibri" panose="020F0502020204030204" pitchFamily="34" charset="0"/>
                <a:cs typeface="Calibri" panose="020F0502020204030204" pitchFamily="34" charset="0"/>
              </a:endParaRPr>
            </a:p>
          </p:txBody>
        </p:sp>
        <p:pic>
          <p:nvPicPr>
            <p:cNvPr id="79" name="Imagen 78"/>
            <p:cNvPicPr>
              <a:picLocks noChangeAspect="1"/>
            </p:cNvPicPr>
            <p:nvPr/>
          </p:nvPicPr>
          <p:blipFill>
            <a:blip r:embed="rId11">
              <a:grayscl/>
              <a:extLst>
                <a:ext uri="{BEBA8EAE-BF5A-486C-A8C5-ECC9F3942E4B}">
                  <a14:imgProps xmlns:a14="http://schemas.microsoft.com/office/drawing/2010/main">
                    <a14:imgLayer r:embed="rId12">
                      <a14:imgEffect>
                        <a14:sharpenSoften amount="50000"/>
                      </a14:imgEffect>
                    </a14:imgLayer>
                  </a14:imgProps>
                </a:ext>
                <a:ext uri="{28A0092B-C50C-407E-A947-70E740481C1C}">
                  <a14:useLocalDpi xmlns:a14="http://schemas.microsoft.com/office/drawing/2010/main" val="0"/>
                </a:ext>
              </a:extLst>
            </a:blip>
            <a:stretch>
              <a:fillRect/>
            </a:stretch>
          </p:blipFill>
          <p:spPr>
            <a:xfrm>
              <a:off x="8869927" y="1586640"/>
              <a:ext cx="435897" cy="290598"/>
            </a:xfrm>
            <a:prstGeom prst="rect">
              <a:avLst/>
            </a:prstGeom>
            <a:noFill/>
            <a:ln w="3175">
              <a:noFill/>
            </a:ln>
          </p:spPr>
        </p:pic>
      </p:grpSp>
      <p:cxnSp>
        <p:nvCxnSpPr>
          <p:cNvPr id="80" name="Conector recto de flecha 79"/>
          <p:cNvCxnSpPr>
            <a:stCxn id="51" idx="0"/>
            <a:endCxn id="63" idx="2"/>
          </p:cNvCxnSpPr>
          <p:nvPr/>
        </p:nvCxnSpPr>
        <p:spPr>
          <a:xfrm flipV="1">
            <a:off x="5380350" y="1900361"/>
            <a:ext cx="0" cy="59876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1" name="Conector angular 80"/>
          <p:cNvCxnSpPr>
            <a:stCxn id="12" idx="1"/>
            <a:endCxn id="8" idx="2"/>
          </p:cNvCxnSpPr>
          <p:nvPr/>
        </p:nvCxnSpPr>
        <p:spPr>
          <a:xfrm rot="10800000">
            <a:off x="7391790" y="4826363"/>
            <a:ext cx="875569" cy="824539"/>
          </a:xfrm>
          <a:prstGeom prst="bentConnector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2" name="Conector angular 81"/>
          <p:cNvCxnSpPr>
            <a:stCxn id="33" idx="2"/>
            <a:endCxn id="51" idx="1"/>
          </p:cNvCxnSpPr>
          <p:nvPr/>
        </p:nvCxnSpPr>
        <p:spPr>
          <a:xfrm rot="16200000" flipH="1">
            <a:off x="3658190" y="1643442"/>
            <a:ext cx="776266" cy="1290104"/>
          </a:xfrm>
          <a:prstGeom prst="bentConnector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3" name="Conector recto de flecha 82"/>
          <p:cNvCxnSpPr>
            <a:endCxn id="78" idx="1"/>
          </p:cNvCxnSpPr>
          <p:nvPr/>
        </p:nvCxnSpPr>
        <p:spPr>
          <a:xfrm>
            <a:off x="7712727" y="1722855"/>
            <a:ext cx="554631" cy="1"/>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4" name="Conector recto de flecha 83"/>
          <p:cNvCxnSpPr>
            <a:stCxn id="54" idx="2"/>
            <a:endCxn id="7" idx="0"/>
          </p:cNvCxnSpPr>
          <p:nvPr/>
        </p:nvCxnSpPr>
        <p:spPr>
          <a:xfrm>
            <a:off x="7023752" y="2854133"/>
            <a:ext cx="0" cy="299472"/>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5" name="Conector recto de flecha 84"/>
          <p:cNvCxnSpPr>
            <a:stCxn id="9" idx="0"/>
            <a:endCxn id="51" idx="2"/>
          </p:cNvCxnSpPr>
          <p:nvPr/>
        </p:nvCxnSpPr>
        <p:spPr>
          <a:xfrm flipV="1">
            <a:off x="5380350" y="2854133"/>
            <a:ext cx="0" cy="302839"/>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6" name="Conector angular 85"/>
          <p:cNvCxnSpPr>
            <a:endCxn id="75" idx="3"/>
          </p:cNvCxnSpPr>
          <p:nvPr/>
        </p:nvCxnSpPr>
        <p:spPr>
          <a:xfrm rot="5400000">
            <a:off x="8301233" y="3572147"/>
            <a:ext cx="185259" cy="1362270"/>
          </a:xfrm>
          <a:prstGeom prst="bentConnector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7" name="Conector recto de flecha 86"/>
          <p:cNvCxnSpPr>
            <a:stCxn id="57" idx="1"/>
            <a:endCxn id="20" idx="3"/>
          </p:cNvCxnSpPr>
          <p:nvPr/>
        </p:nvCxnSpPr>
        <p:spPr>
          <a:xfrm flipH="1">
            <a:off x="9763972" y="3983147"/>
            <a:ext cx="188540" cy="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8" name="Conector recto de flecha 87"/>
          <p:cNvCxnSpPr/>
          <p:nvPr/>
        </p:nvCxnSpPr>
        <p:spPr>
          <a:xfrm>
            <a:off x="6069750" y="1722855"/>
            <a:ext cx="265027" cy="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89" name="Conector recto de flecha 88"/>
          <p:cNvCxnSpPr>
            <a:endCxn id="14" idx="3"/>
          </p:cNvCxnSpPr>
          <p:nvPr/>
        </p:nvCxnSpPr>
        <p:spPr>
          <a:xfrm flipH="1">
            <a:off x="7929815" y="3983147"/>
            <a:ext cx="456207" cy="721"/>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90" name="Conector angular 89"/>
          <p:cNvCxnSpPr>
            <a:stCxn id="45" idx="0"/>
            <a:endCxn id="14" idx="2"/>
          </p:cNvCxnSpPr>
          <p:nvPr/>
        </p:nvCxnSpPr>
        <p:spPr>
          <a:xfrm rot="5400000" flipH="1" flipV="1">
            <a:off x="4499915" y="4593931"/>
            <a:ext cx="652510" cy="1109209"/>
          </a:xfrm>
          <a:prstGeom prst="bentConnector3">
            <a:avLst>
              <a:gd name="adj1" fmla="val 69463"/>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91" name="Conector recto de flecha 90"/>
          <p:cNvCxnSpPr/>
          <p:nvPr/>
        </p:nvCxnSpPr>
        <p:spPr>
          <a:xfrm>
            <a:off x="10641487" y="3667419"/>
            <a:ext cx="0" cy="138222"/>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grpSp>
        <p:nvGrpSpPr>
          <p:cNvPr id="92" name="Grupo 91"/>
          <p:cNvGrpSpPr/>
          <p:nvPr/>
        </p:nvGrpSpPr>
        <p:grpSpPr>
          <a:xfrm>
            <a:off x="1027867" y="4180552"/>
            <a:ext cx="1377950" cy="355012"/>
            <a:chOff x="984772" y="4180552"/>
            <a:chExt cx="1377950" cy="355012"/>
          </a:xfrm>
        </p:grpSpPr>
        <p:sp>
          <p:nvSpPr>
            <p:cNvPr id="93" name="Rectángulo 92"/>
            <p:cNvSpPr/>
            <p:nvPr/>
          </p:nvSpPr>
          <p:spPr>
            <a:xfrm>
              <a:off x="984772" y="4180552"/>
              <a:ext cx="1377950" cy="355012"/>
            </a:xfrm>
            <a:prstGeom prst="rect">
              <a:avLst/>
            </a:prstGeom>
            <a:solidFill>
              <a:schemeClr val="bg1"/>
            </a:solidFill>
            <a:ln w="63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Communication Service</a:t>
              </a:r>
              <a:endParaRPr lang="en-GB" sz="950" dirty="0">
                <a:solidFill>
                  <a:schemeClr val="tx1"/>
                </a:solidFill>
                <a:latin typeface="Calibri" panose="020F0502020204030204" pitchFamily="34" charset="0"/>
                <a:cs typeface="Calibri" panose="020F0502020204030204" pitchFamily="34" charset="0"/>
              </a:endParaRPr>
            </a:p>
          </p:txBody>
        </p:sp>
        <p:pic>
          <p:nvPicPr>
            <p:cNvPr id="94" name="Imagen 9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093" y="4237458"/>
              <a:ext cx="249814" cy="241200"/>
            </a:xfrm>
            <a:prstGeom prst="rect">
              <a:avLst/>
            </a:prstGeom>
          </p:spPr>
        </p:pic>
      </p:grpSp>
      <p:sp>
        <p:nvSpPr>
          <p:cNvPr id="95" name="Rectángulo 94"/>
          <p:cNvSpPr/>
          <p:nvPr/>
        </p:nvSpPr>
        <p:spPr>
          <a:xfrm>
            <a:off x="9682930" y="1254509"/>
            <a:ext cx="1756595" cy="1287118"/>
          </a:xfrm>
          <a:prstGeom prst="rect">
            <a:avLst/>
          </a:prstGeom>
          <a:solidFill>
            <a:schemeClr val="bg1"/>
          </a:solidFill>
          <a:ln w="3175">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36000" bIns="36000" numCol="1" spcCol="0" rtlCol="0" fromWordArt="0" anchor="t" anchorCtr="0" forceAA="0" compatLnSpc="1">
            <a:prstTxWarp prst="textNoShape">
              <a:avLst/>
            </a:prstTxWarp>
            <a:noAutofit/>
          </a:bodyPr>
          <a:lstStyle/>
          <a:p>
            <a:pPr algn="ctr"/>
            <a:r>
              <a:rPr lang="en-GB" sz="1200" b="1" dirty="0" smtClean="0">
                <a:solidFill>
                  <a:schemeClr val="tx1"/>
                </a:solidFill>
                <a:latin typeface="Calibri" panose="020F0502020204030204" pitchFamily="34" charset="0"/>
                <a:cs typeface="Calibri" panose="020F0502020204030204" pitchFamily="34" charset="0"/>
              </a:rPr>
              <a:t>Legend</a:t>
            </a:r>
            <a:endParaRPr lang="en-GB" sz="1200" b="1" dirty="0">
              <a:solidFill>
                <a:schemeClr val="tx1"/>
              </a:solidFill>
              <a:latin typeface="Calibri" panose="020F0502020204030204" pitchFamily="34" charset="0"/>
              <a:cs typeface="Calibri" panose="020F0502020204030204" pitchFamily="34" charset="0"/>
            </a:endParaRPr>
          </a:p>
        </p:txBody>
      </p:sp>
      <p:sp>
        <p:nvSpPr>
          <p:cNvPr id="96" name="Rectángulo 95"/>
          <p:cNvSpPr/>
          <p:nvPr/>
        </p:nvSpPr>
        <p:spPr>
          <a:xfrm>
            <a:off x="9780440" y="1542963"/>
            <a:ext cx="1476000" cy="234000"/>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GB" sz="950" b="1" dirty="0" smtClean="0">
                <a:solidFill>
                  <a:schemeClr val="tx1"/>
                </a:solidFill>
                <a:latin typeface="Calibri" panose="020F0502020204030204" pitchFamily="34" charset="0"/>
                <a:cs typeface="Calibri" panose="020F0502020204030204" pitchFamily="34" charset="0"/>
              </a:rPr>
              <a:t>Pending Implementation</a:t>
            </a:r>
            <a:endParaRPr lang="en-GB" sz="950" b="1" dirty="0">
              <a:solidFill>
                <a:schemeClr val="tx1"/>
              </a:solidFill>
              <a:latin typeface="Calibri" panose="020F0502020204030204" pitchFamily="34" charset="0"/>
              <a:cs typeface="Calibri" panose="020F0502020204030204" pitchFamily="34" charset="0"/>
            </a:endParaRPr>
          </a:p>
        </p:txBody>
      </p:sp>
      <p:sp>
        <p:nvSpPr>
          <p:cNvPr id="97" name="Rectángulo 96"/>
          <p:cNvSpPr/>
          <p:nvPr/>
        </p:nvSpPr>
        <p:spPr>
          <a:xfrm>
            <a:off x="800099" y="2750442"/>
            <a:ext cx="1843096" cy="1354869"/>
          </a:xfrm>
          <a:prstGeom prst="rect">
            <a:avLst/>
          </a:prstGeom>
          <a:solidFill>
            <a:schemeClr val="bg1"/>
          </a:solidFill>
          <a:ln w="3175">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r>
              <a:rPr lang="en-GB" sz="1100" b="1" dirty="0" smtClean="0">
                <a:solidFill>
                  <a:schemeClr val="tx1"/>
                </a:solidFill>
                <a:latin typeface="Calibri" panose="020F0502020204030204" pitchFamily="34" charset="0"/>
                <a:cs typeface="Calibri" panose="020F0502020204030204" pitchFamily="34" charset="0"/>
              </a:rPr>
              <a:t>Identity Access Management</a:t>
            </a:r>
            <a:endParaRPr lang="en-GB" sz="1100" b="1" dirty="0">
              <a:solidFill>
                <a:schemeClr val="tx1"/>
              </a:solidFill>
              <a:latin typeface="Calibri" panose="020F0502020204030204" pitchFamily="34" charset="0"/>
              <a:cs typeface="Calibri" panose="020F0502020204030204" pitchFamily="34" charset="0"/>
            </a:endParaRPr>
          </a:p>
        </p:txBody>
      </p:sp>
      <p:sp>
        <p:nvSpPr>
          <p:cNvPr id="98" name="Rectángulo 97"/>
          <p:cNvSpPr/>
          <p:nvPr/>
        </p:nvSpPr>
        <p:spPr>
          <a:xfrm>
            <a:off x="782374" y="1256940"/>
            <a:ext cx="1624012" cy="870224"/>
          </a:xfrm>
          <a:prstGeom prst="rect">
            <a:avLst/>
          </a:prstGeom>
          <a:solidFill>
            <a:schemeClr val="bg2">
              <a:lumMod val="90000"/>
            </a:schemeClr>
          </a:solidFill>
          <a:ln w="6350">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r>
              <a:rPr lang="en-GB" sz="1100" b="1" dirty="0">
                <a:solidFill>
                  <a:schemeClr val="tx1"/>
                </a:solidFill>
                <a:latin typeface="Calibri" panose="020F0502020204030204" pitchFamily="34" charset="0"/>
                <a:cs typeface="Calibri" panose="020F0502020204030204" pitchFamily="34" charset="0"/>
              </a:rPr>
              <a:t>EU Login</a:t>
            </a:r>
          </a:p>
        </p:txBody>
      </p:sp>
      <p:cxnSp>
        <p:nvCxnSpPr>
          <p:cNvPr id="99" name="Conector angular 98"/>
          <p:cNvCxnSpPr>
            <a:stCxn id="98" idx="1"/>
            <a:endCxn id="105" idx="1"/>
          </p:cNvCxnSpPr>
          <p:nvPr/>
        </p:nvCxnSpPr>
        <p:spPr>
          <a:xfrm rot="10800000" flipH="1" flipV="1">
            <a:off x="782373" y="1692051"/>
            <a:ext cx="250023" cy="1572847"/>
          </a:xfrm>
          <a:prstGeom prst="bentConnector3">
            <a:avLst>
              <a:gd name="adj1" fmla="val -91432"/>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00" name="Conector recto de flecha 99"/>
          <p:cNvCxnSpPr>
            <a:stCxn id="102" idx="3"/>
          </p:cNvCxnSpPr>
          <p:nvPr/>
        </p:nvCxnSpPr>
        <p:spPr>
          <a:xfrm>
            <a:off x="2410347" y="3709429"/>
            <a:ext cx="430577" cy="0"/>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grpSp>
        <p:nvGrpSpPr>
          <p:cNvPr id="101" name="Grupo 100"/>
          <p:cNvGrpSpPr/>
          <p:nvPr/>
        </p:nvGrpSpPr>
        <p:grpSpPr>
          <a:xfrm>
            <a:off x="1032397" y="3531923"/>
            <a:ext cx="1377950" cy="355012"/>
            <a:chOff x="1032397" y="3531923"/>
            <a:chExt cx="1377950" cy="355012"/>
          </a:xfrm>
        </p:grpSpPr>
        <p:sp>
          <p:nvSpPr>
            <p:cNvPr id="102" name="Rectángulo 101"/>
            <p:cNvSpPr/>
            <p:nvPr/>
          </p:nvSpPr>
          <p:spPr>
            <a:xfrm>
              <a:off x="1032397" y="3531923"/>
              <a:ext cx="1377950" cy="355012"/>
            </a:xfrm>
            <a:prstGeom prst="rect">
              <a:avLst/>
            </a:prstGeom>
            <a:solidFill>
              <a:schemeClr val="accent3">
                <a:lumMod val="60000"/>
                <a:lumOff val="40000"/>
              </a:schemeClr>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User</a:t>
              </a:r>
            </a:p>
            <a:p>
              <a:r>
                <a:rPr lang="en-GB" sz="950" dirty="0" smtClean="0">
                  <a:solidFill>
                    <a:schemeClr val="tx1"/>
                  </a:solidFill>
                  <a:latin typeface="Calibri" panose="020F0502020204030204" pitchFamily="34" charset="0"/>
                  <a:cs typeface="Calibri" panose="020F0502020204030204" pitchFamily="34" charset="0"/>
                </a:rPr>
                <a:t>Management</a:t>
              </a:r>
              <a:endParaRPr lang="en-GB" sz="950" dirty="0">
                <a:solidFill>
                  <a:schemeClr val="tx1"/>
                </a:solidFill>
                <a:latin typeface="Calibri" panose="020F0502020204030204" pitchFamily="34" charset="0"/>
                <a:cs typeface="Calibri" panose="020F0502020204030204" pitchFamily="34" charset="0"/>
              </a:endParaRPr>
            </a:p>
          </p:txBody>
        </p:sp>
        <p:pic>
          <p:nvPicPr>
            <p:cNvPr id="103" name="Imagen 10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13718" y="3588829"/>
              <a:ext cx="249814" cy="241200"/>
            </a:xfrm>
            <a:prstGeom prst="rect">
              <a:avLst/>
            </a:prstGeom>
          </p:spPr>
        </p:pic>
      </p:grpSp>
      <p:grpSp>
        <p:nvGrpSpPr>
          <p:cNvPr id="104" name="Grupo 103"/>
          <p:cNvGrpSpPr/>
          <p:nvPr/>
        </p:nvGrpSpPr>
        <p:grpSpPr>
          <a:xfrm>
            <a:off x="1032397" y="3087393"/>
            <a:ext cx="1377950" cy="355012"/>
            <a:chOff x="1032397" y="3087393"/>
            <a:chExt cx="1377950" cy="355012"/>
          </a:xfrm>
        </p:grpSpPr>
        <p:sp>
          <p:nvSpPr>
            <p:cNvPr id="105" name="Rectángulo 104"/>
            <p:cNvSpPr/>
            <p:nvPr/>
          </p:nvSpPr>
          <p:spPr>
            <a:xfrm>
              <a:off x="1032397" y="3087393"/>
              <a:ext cx="1377950" cy="355012"/>
            </a:xfrm>
            <a:prstGeom prst="rect">
              <a:avLst/>
            </a:prstGeom>
            <a:solidFill>
              <a:schemeClr val="accent3">
                <a:lumMod val="60000"/>
                <a:lumOff val="40000"/>
              </a:schemeClr>
            </a:solid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smtClean="0">
                  <a:solidFill>
                    <a:schemeClr val="tx1"/>
                  </a:solidFill>
                  <a:latin typeface="Calibri" panose="020F0502020204030204" pitchFamily="34" charset="0"/>
                  <a:cs typeface="Calibri" panose="020F0502020204030204" pitchFamily="34" charset="0"/>
                </a:rPr>
                <a:t>KeyCloak</a:t>
              </a:r>
              <a:endParaRPr lang="en-GB" sz="950" dirty="0">
                <a:solidFill>
                  <a:schemeClr val="tx1"/>
                </a:solidFill>
                <a:latin typeface="Calibri" panose="020F0502020204030204" pitchFamily="34" charset="0"/>
                <a:cs typeface="Calibri" panose="020F0502020204030204" pitchFamily="34" charset="0"/>
              </a:endParaRPr>
            </a:p>
          </p:txBody>
        </p:sp>
        <p:pic>
          <p:nvPicPr>
            <p:cNvPr id="106" name="Imagen 10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13718" y="3144299"/>
              <a:ext cx="249814" cy="241200"/>
            </a:xfrm>
            <a:prstGeom prst="rect">
              <a:avLst/>
            </a:prstGeom>
          </p:spPr>
        </p:pic>
      </p:grpSp>
      <p:grpSp>
        <p:nvGrpSpPr>
          <p:cNvPr id="107" name="Grupo 106"/>
          <p:cNvGrpSpPr/>
          <p:nvPr/>
        </p:nvGrpSpPr>
        <p:grpSpPr>
          <a:xfrm>
            <a:off x="9933462" y="5543550"/>
            <a:ext cx="1377950" cy="355012"/>
            <a:chOff x="9933462" y="5543550"/>
            <a:chExt cx="1377950" cy="355012"/>
          </a:xfrm>
        </p:grpSpPr>
        <p:sp>
          <p:nvSpPr>
            <p:cNvPr id="108" name="Rectángulo 107"/>
            <p:cNvSpPr/>
            <p:nvPr/>
          </p:nvSpPr>
          <p:spPr>
            <a:xfrm>
              <a:off x="9933462" y="5543550"/>
              <a:ext cx="1377950" cy="355012"/>
            </a:xfrm>
            <a:prstGeom prst="rect">
              <a:avLst/>
            </a:prstGeom>
            <a:solidFill>
              <a:schemeClr val="accent3">
                <a:lumMod val="60000"/>
                <a:lumOff val="40000"/>
              </a:schemeClr>
            </a:solidFill>
            <a:ln w="38100">
              <a:solidFill>
                <a:schemeClr val="accent3">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Replica</a:t>
              </a:r>
            </a:p>
          </p:txBody>
        </p:sp>
        <p:pic>
          <p:nvPicPr>
            <p:cNvPr id="109" name="Imagen 10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4783" y="5600456"/>
              <a:ext cx="268000" cy="241200"/>
            </a:xfrm>
            <a:prstGeom prst="rect">
              <a:avLst/>
            </a:prstGeom>
          </p:spPr>
        </p:pic>
      </p:grpSp>
      <p:grpSp>
        <p:nvGrpSpPr>
          <p:cNvPr id="110" name="Grupo 109"/>
          <p:cNvGrpSpPr/>
          <p:nvPr/>
        </p:nvGrpSpPr>
        <p:grpSpPr>
          <a:xfrm>
            <a:off x="242476" y="263160"/>
            <a:ext cx="1515294" cy="893110"/>
            <a:chOff x="9825038" y="1780006"/>
            <a:chExt cx="2153052" cy="1291446"/>
          </a:xfrm>
        </p:grpSpPr>
        <p:sp>
          <p:nvSpPr>
            <p:cNvPr id="111" name="Rectangle 1"/>
            <p:cNvSpPr/>
            <p:nvPr/>
          </p:nvSpPr>
          <p:spPr>
            <a:xfrm>
              <a:off x="9825038" y="1780006"/>
              <a:ext cx="2153052" cy="1291446"/>
            </a:xfrm>
            <a:prstGeom prst="rect">
              <a:avLst/>
            </a:prstGeom>
            <a:solidFill>
              <a:schemeClr val="bg1"/>
            </a:solidFill>
            <a:ln w="57150">
              <a:noFill/>
            </a:ln>
            <a:effectLst/>
          </p:spPr>
          <p:txBody>
            <a:bodyPr wrap="square" lIns="91440" tIns="45720" rIns="91440" bIns="45720">
              <a:noAutofit/>
            </a:bodyPr>
            <a:lstStyle/>
            <a:p>
              <a:pPr algn="ctr"/>
              <a:endParaRPr lang="en-US" sz="5400" b="1" cap="none" spc="0" dirty="0">
                <a:ln w="0"/>
                <a:solidFill>
                  <a:srgbClr val="C00000"/>
                </a:solidFill>
                <a:effectLst>
                  <a:outerShdw blurRad="38100" dist="25400" dir="5400000" algn="ctr" rotWithShape="0">
                    <a:srgbClr val="6E747A">
                      <a:alpha val="43000"/>
                    </a:srgbClr>
                  </a:outerShdw>
                </a:effectLst>
              </a:endParaRPr>
            </a:p>
          </p:txBody>
        </p:sp>
        <p:sp>
          <p:nvSpPr>
            <p:cNvPr id="112" name="Rectángulo 111"/>
            <p:cNvSpPr/>
            <p:nvPr/>
          </p:nvSpPr>
          <p:spPr>
            <a:xfrm>
              <a:off x="9933670" y="2096235"/>
              <a:ext cx="1935794" cy="845590"/>
            </a:xfrm>
            <a:prstGeom prst="rect">
              <a:avLst/>
            </a:prstGeom>
            <a:solidFill>
              <a:schemeClr val="bg1"/>
            </a:solidFill>
            <a:ln w="57150">
              <a:solidFill>
                <a:schemeClr val="accent4">
                  <a:lumMod val="75000"/>
                </a:schemeClr>
              </a:solidFill>
            </a:ln>
            <a:effectLst>
              <a:outerShdw blurRad="50800" dist="38100" dir="2700000" algn="tl" rotWithShape="0">
                <a:prstClr val="black">
                  <a:alpha val="40000"/>
                </a:prstClr>
              </a:outerShdw>
            </a:effectLst>
          </p:spPr>
          <p:txBody>
            <a:bodyPr wrap="square" lIns="91440" tIns="45720" rIns="91440" bIns="45720">
              <a:spAutoFit/>
            </a:bodyPr>
            <a:lstStyle/>
            <a:p>
              <a:pPr algn="ctr"/>
              <a:r>
                <a:rPr lang="es-ES" sz="3200" b="1" dirty="0" smtClean="0">
                  <a:ln w="0"/>
                  <a:solidFill>
                    <a:schemeClr val="accent4">
                      <a:lumMod val="75000"/>
                    </a:schemeClr>
                  </a:solidFill>
                  <a:effectLst>
                    <a:outerShdw blurRad="38100" dist="25400" dir="5400000" algn="ctr" rotWithShape="0">
                      <a:srgbClr val="6E747A">
                        <a:alpha val="43000"/>
                      </a:srgbClr>
                    </a:outerShdw>
                  </a:effectLst>
                </a:rPr>
                <a:t>10/12</a:t>
              </a:r>
              <a:endParaRPr lang="es-ES" sz="3200" b="1" dirty="0">
                <a:ln w="0"/>
                <a:solidFill>
                  <a:schemeClr val="accent4">
                    <a:lumMod val="75000"/>
                  </a:schemeClr>
                </a:solidFill>
                <a:effectLst>
                  <a:outerShdw blurRad="38100" dist="25400" dir="5400000" algn="ctr" rotWithShape="0">
                    <a:srgbClr val="6E747A">
                      <a:alpha val="43000"/>
                    </a:srgbClr>
                  </a:outerShdw>
                </a:effectLst>
              </a:endParaRPr>
            </a:p>
          </p:txBody>
        </p:sp>
        <p:sp>
          <p:nvSpPr>
            <p:cNvPr id="113" name="Rectángulo 112"/>
            <p:cNvSpPr/>
            <p:nvPr/>
          </p:nvSpPr>
          <p:spPr>
            <a:xfrm>
              <a:off x="10042166" y="1917832"/>
              <a:ext cx="1718804" cy="311534"/>
            </a:xfrm>
            <a:prstGeom prst="rect">
              <a:avLst/>
            </a:prstGeom>
            <a:solidFill>
              <a:schemeClr val="bg1"/>
            </a:solidFill>
            <a:ln w="57150">
              <a:noFill/>
            </a:ln>
            <a:effectLst/>
          </p:spPr>
          <p:txBody>
            <a:bodyPr wrap="square" lIns="36000" tIns="0" rIns="36000" bIns="0">
              <a:spAutoFit/>
            </a:bodyPr>
            <a:lstStyle/>
            <a:p>
              <a:pPr algn="ctr"/>
              <a:r>
                <a:rPr lang="en-US" sz="1400" b="1" dirty="0" smtClean="0">
                  <a:ln w="0"/>
                  <a:solidFill>
                    <a:schemeClr val="accent4">
                      <a:lumMod val="75000"/>
                    </a:schemeClr>
                  </a:solidFill>
                  <a:effectLst>
                    <a:outerShdw blurRad="38100" dist="25400" dir="5400000" algn="ctr" rotWithShape="0">
                      <a:srgbClr val="6E747A">
                        <a:alpha val="43000"/>
                      </a:srgbClr>
                    </a:outerShdw>
                  </a:effectLst>
                  <a:latin typeface="Calibri" panose="020F0502020204030204" pitchFamily="34" charset="0"/>
                  <a:cs typeface="Calibri" panose="020F0502020204030204" pitchFamily="34" charset="0"/>
                </a:rPr>
                <a:t>STEERCO</a:t>
              </a:r>
              <a:endParaRPr lang="en-US" sz="1400" b="1" dirty="0">
                <a:ln w="0"/>
                <a:solidFill>
                  <a:schemeClr val="accent4">
                    <a:lumMod val="75000"/>
                  </a:schemeClr>
                </a:solidFill>
                <a:effectLst>
                  <a:outerShdw blurRad="38100" dist="25400" dir="5400000" algn="ctr" rotWithShape="0">
                    <a:srgbClr val="6E747A">
                      <a:alpha val="43000"/>
                    </a:srgbClr>
                  </a:outerShdw>
                </a:effectLst>
                <a:latin typeface="Calibri" panose="020F0502020204030204" pitchFamily="34" charset="0"/>
                <a:cs typeface="Calibri" panose="020F0502020204030204" pitchFamily="34" charset="0"/>
              </a:endParaRPr>
            </a:p>
          </p:txBody>
        </p:sp>
      </p:grpSp>
      <p:grpSp>
        <p:nvGrpSpPr>
          <p:cNvPr id="257" name="Grupo 256"/>
          <p:cNvGrpSpPr/>
          <p:nvPr/>
        </p:nvGrpSpPr>
        <p:grpSpPr>
          <a:xfrm>
            <a:off x="1032397" y="1545349"/>
            <a:ext cx="10298065" cy="4353213"/>
            <a:chOff x="1032397" y="1545349"/>
            <a:chExt cx="10298065" cy="4353213"/>
          </a:xfrm>
        </p:grpSpPr>
        <p:grpSp>
          <p:nvGrpSpPr>
            <p:cNvPr id="258" name="Grupo 257"/>
            <p:cNvGrpSpPr/>
            <p:nvPr/>
          </p:nvGrpSpPr>
          <p:grpSpPr>
            <a:xfrm>
              <a:off x="6334777" y="4168406"/>
              <a:ext cx="1377950" cy="355012"/>
              <a:chOff x="6334777" y="4168406"/>
              <a:chExt cx="1377950" cy="355012"/>
            </a:xfrm>
            <a:solidFill>
              <a:schemeClr val="accent4">
                <a:lumMod val="40000"/>
                <a:lumOff val="60000"/>
              </a:schemeClr>
            </a:solidFill>
          </p:grpSpPr>
          <p:sp>
            <p:nvSpPr>
              <p:cNvPr id="308" name="Rectángulo 307"/>
              <p:cNvSpPr/>
              <p:nvPr/>
            </p:nvSpPr>
            <p:spPr>
              <a:xfrm>
                <a:off x="6334777" y="4168406"/>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Recordstore Service</a:t>
                </a:r>
              </a:p>
            </p:txBody>
          </p:sp>
          <p:pic>
            <p:nvPicPr>
              <p:cNvPr id="309" name="Imagen 30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6098" y="4225312"/>
                <a:ext cx="249814" cy="241200"/>
              </a:xfrm>
              <a:prstGeom prst="rect">
                <a:avLst/>
              </a:prstGeom>
              <a:grpFill/>
              <a:ln>
                <a:noFill/>
              </a:ln>
            </p:spPr>
          </p:pic>
        </p:grpSp>
        <p:grpSp>
          <p:nvGrpSpPr>
            <p:cNvPr id="259" name="Grupo 258"/>
            <p:cNvGrpSpPr/>
            <p:nvPr/>
          </p:nvGrpSpPr>
          <p:grpSpPr>
            <a:xfrm>
              <a:off x="1032397" y="1545349"/>
              <a:ext cx="10298065" cy="4353213"/>
              <a:chOff x="1032397" y="1545349"/>
              <a:chExt cx="10298065" cy="4353213"/>
            </a:xfrm>
          </p:grpSpPr>
          <p:grpSp>
            <p:nvGrpSpPr>
              <p:cNvPr id="260" name="Grupo 259"/>
              <p:cNvGrpSpPr/>
              <p:nvPr/>
            </p:nvGrpSpPr>
            <p:grpSpPr>
              <a:xfrm>
                <a:off x="3048823" y="3517512"/>
                <a:ext cx="1377950" cy="355012"/>
                <a:chOff x="3048823" y="3517512"/>
                <a:chExt cx="1377950" cy="355012"/>
              </a:xfrm>
              <a:solidFill>
                <a:schemeClr val="accent4">
                  <a:lumMod val="40000"/>
                  <a:lumOff val="60000"/>
                </a:schemeClr>
              </a:solidFill>
            </p:grpSpPr>
            <p:sp>
              <p:nvSpPr>
                <p:cNvPr id="306" name="Rectángulo 305"/>
                <p:cNvSpPr/>
                <p:nvPr/>
              </p:nvSpPr>
              <p:spPr>
                <a:xfrm>
                  <a:off x="3048823" y="3517512"/>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Validation</a:t>
                  </a:r>
                </a:p>
                <a:p>
                  <a:r>
                    <a:rPr lang="en-GB" sz="950" dirty="0">
                      <a:solidFill>
                        <a:schemeClr val="tx1"/>
                      </a:solidFill>
                      <a:latin typeface="Calibri" panose="020F0502020204030204" pitchFamily="34" charset="0"/>
                      <a:cs typeface="Calibri" panose="020F0502020204030204" pitchFamily="34" charset="0"/>
                    </a:rPr>
                    <a:t>Service</a:t>
                  </a:r>
                </a:p>
              </p:txBody>
            </p:sp>
            <p:pic>
              <p:nvPicPr>
                <p:cNvPr id="307" name="Imagen 30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0144" y="3574418"/>
                  <a:ext cx="249814" cy="241200"/>
                </a:xfrm>
                <a:prstGeom prst="rect">
                  <a:avLst/>
                </a:prstGeom>
                <a:grpFill/>
                <a:ln>
                  <a:noFill/>
                </a:ln>
              </p:spPr>
            </p:pic>
          </p:grpSp>
          <p:grpSp>
            <p:nvGrpSpPr>
              <p:cNvPr id="261" name="Grupo 260"/>
              <p:cNvGrpSpPr/>
              <p:nvPr/>
            </p:nvGrpSpPr>
            <p:grpSpPr>
              <a:xfrm>
                <a:off x="3048823" y="4168406"/>
                <a:ext cx="1377950" cy="355012"/>
                <a:chOff x="3048823" y="4168406"/>
                <a:chExt cx="1377950" cy="355012"/>
              </a:xfrm>
              <a:solidFill>
                <a:schemeClr val="accent4">
                  <a:lumMod val="40000"/>
                  <a:lumOff val="60000"/>
                </a:schemeClr>
              </a:solidFill>
            </p:grpSpPr>
            <p:sp>
              <p:nvSpPr>
                <p:cNvPr id="304" name="Rectángulo 303"/>
                <p:cNvSpPr/>
                <p:nvPr/>
              </p:nvSpPr>
              <p:spPr>
                <a:xfrm>
                  <a:off x="3048823" y="4168406"/>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Document Repository Service</a:t>
                  </a:r>
                </a:p>
              </p:txBody>
            </p:sp>
            <p:pic>
              <p:nvPicPr>
                <p:cNvPr id="305" name="Imagen 30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0144" y="4225312"/>
                  <a:ext cx="249814" cy="241200"/>
                </a:xfrm>
                <a:prstGeom prst="rect">
                  <a:avLst/>
                </a:prstGeom>
                <a:grpFill/>
                <a:ln>
                  <a:noFill/>
                </a:ln>
              </p:spPr>
            </p:pic>
          </p:grpSp>
          <p:grpSp>
            <p:nvGrpSpPr>
              <p:cNvPr id="262" name="Grupo 261"/>
              <p:cNvGrpSpPr/>
              <p:nvPr/>
            </p:nvGrpSpPr>
            <p:grpSpPr>
              <a:xfrm>
                <a:off x="4691375" y="3517512"/>
                <a:ext cx="1377950" cy="355012"/>
                <a:chOff x="4691375" y="3517512"/>
                <a:chExt cx="1377950" cy="355012"/>
              </a:xfrm>
              <a:solidFill>
                <a:schemeClr val="accent4">
                  <a:lumMod val="40000"/>
                  <a:lumOff val="60000"/>
                </a:schemeClr>
              </a:solidFill>
            </p:grpSpPr>
            <p:sp>
              <p:nvSpPr>
                <p:cNvPr id="302" name="Rectángulo 301"/>
                <p:cNvSpPr/>
                <p:nvPr/>
              </p:nvSpPr>
              <p:spPr>
                <a:xfrm>
                  <a:off x="4691375" y="3517512"/>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Dataset Service</a:t>
                  </a:r>
                </a:p>
              </p:txBody>
            </p:sp>
            <p:pic>
              <p:nvPicPr>
                <p:cNvPr id="303" name="Imagen 30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2696" y="3574418"/>
                  <a:ext cx="249814" cy="241200"/>
                </a:xfrm>
                <a:prstGeom prst="rect">
                  <a:avLst/>
                </a:prstGeom>
                <a:grpFill/>
                <a:ln>
                  <a:noFill/>
                </a:ln>
              </p:spPr>
            </p:pic>
          </p:grpSp>
          <p:grpSp>
            <p:nvGrpSpPr>
              <p:cNvPr id="263" name="Grupo 262"/>
              <p:cNvGrpSpPr/>
              <p:nvPr/>
            </p:nvGrpSpPr>
            <p:grpSpPr>
              <a:xfrm>
                <a:off x="6334777" y="3517512"/>
                <a:ext cx="1377950" cy="355012"/>
                <a:chOff x="6334777" y="3517512"/>
                <a:chExt cx="1377950" cy="355012"/>
              </a:xfrm>
              <a:solidFill>
                <a:schemeClr val="accent4">
                  <a:lumMod val="40000"/>
                  <a:lumOff val="60000"/>
                </a:schemeClr>
              </a:solidFill>
            </p:grpSpPr>
            <p:sp>
              <p:nvSpPr>
                <p:cNvPr id="300" name="Rectángulo 299"/>
                <p:cNvSpPr/>
                <p:nvPr/>
              </p:nvSpPr>
              <p:spPr>
                <a:xfrm>
                  <a:off x="6334777" y="3517512"/>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Dataflow Service</a:t>
                  </a:r>
                </a:p>
              </p:txBody>
            </p:sp>
            <p:pic>
              <p:nvPicPr>
                <p:cNvPr id="301" name="Imagen 30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6098" y="3574418"/>
                  <a:ext cx="249814" cy="241200"/>
                </a:xfrm>
                <a:prstGeom prst="rect">
                  <a:avLst/>
                </a:prstGeom>
                <a:grpFill/>
                <a:ln>
                  <a:noFill/>
                </a:ln>
              </p:spPr>
            </p:pic>
          </p:grpSp>
          <p:grpSp>
            <p:nvGrpSpPr>
              <p:cNvPr id="264" name="Grupo 263"/>
              <p:cNvGrpSpPr/>
              <p:nvPr/>
            </p:nvGrpSpPr>
            <p:grpSpPr>
              <a:xfrm>
                <a:off x="8366972" y="5543550"/>
                <a:ext cx="1377950" cy="355012"/>
                <a:chOff x="8366972" y="5543550"/>
                <a:chExt cx="1377950" cy="355012"/>
              </a:xfrm>
              <a:solidFill>
                <a:schemeClr val="accent4">
                  <a:lumMod val="40000"/>
                  <a:lumOff val="60000"/>
                </a:schemeClr>
              </a:solidFill>
            </p:grpSpPr>
            <p:sp>
              <p:nvSpPr>
                <p:cNvPr id="298" name="Rectángulo 297"/>
                <p:cNvSpPr/>
                <p:nvPr/>
              </p:nvSpPr>
              <p:spPr>
                <a:xfrm>
                  <a:off x="8366972" y="5543550"/>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Primary</a:t>
                  </a:r>
                </a:p>
              </p:txBody>
            </p:sp>
            <p:pic>
              <p:nvPicPr>
                <p:cNvPr id="299" name="Imagen 29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8293" y="5600456"/>
                  <a:ext cx="268000" cy="241200"/>
                </a:xfrm>
                <a:prstGeom prst="rect">
                  <a:avLst/>
                </a:prstGeom>
                <a:grpFill/>
                <a:ln>
                  <a:noFill/>
                </a:ln>
              </p:spPr>
            </p:pic>
          </p:grpSp>
          <p:grpSp>
            <p:nvGrpSpPr>
              <p:cNvPr id="265" name="Grupo 264"/>
              <p:cNvGrpSpPr/>
              <p:nvPr/>
            </p:nvGrpSpPr>
            <p:grpSpPr>
              <a:xfrm>
                <a:off x="9933462" y="5543550"/>
                <a:ext cx="1377950" cy="355012"/>
                <a:chOff x="9933462" y="5543550"/>
                <a:chExt cx="1377950" cy="355012"/>
              </a:xfrm>
              <a:solidFill>
                <a:schemeClr val="accent4">
                  <a:lumMod val="40000"/>
                  <a:lumOff val="60000"/>
                </a:schemeClr>
              </a:solidFill>
            </p:grpSpPr>
            <p:sp>
              <p:nvSpPr>
                <p:cNvPr id="296" name="Rectángulo 295"/>
                <p:cNvSpPr/>
                <p:nvPr/>
              </p:nvSpPr>
              <p:spPr>
                <a:xfrm>
                  <a:off x="9933462" y="5543550"/>
                  <a:ext cx="1377950" cy="355012"/>
                </a:xfrm>
                <a:prstGeom prst="rect">
                  <a:avLst/>
                </a:prstGeom>
                <a:grp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MongoDB</a:t>
                  </a:r>
                </a:p>
                <a:p>
                  <a:r>
                    <a:rPr lang="en-GB" sz="950" dirty="0">
                      <a:solidFill>
                        <a:schemeClr val="tx1"/>
                      </a:solidFill>
                      <a:latin typeface="Calibri" panose="020F0502020204030204" pitchFamily="34" charset="0"/>
                      <a:cs typeface="Calibri" panose="020F0502020204030204" pitchFamily="34" charset="0"/>
                    </a:rPr>
                    <a:t>Replica</a:t>
                  </a:r>
                </a:p>
              </p:txBody>
            </p:sp>
            <p:pic>
              <p:nvPicPr>
                <p:cNvPr id="297" name="Imagen 29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4783" y="5600456"/>
                  <a:ext cx="268000" cy="241200"/>
                </a:xfrm>
                <a:prstGeom prst="rect">
                  <a:avLst/>
                </a:prstGeom>
                <a:grpFill/>
                <a:ln>
                  <a:noFill/>
                </a:ln>
              </p:spPr>
            </p:pic>
          </p:grpSp>
          <p:grpSp>
            <p:nvGrpSpPr>
              <p:cNvPr id="266" name="Grupo 265"/>
              <p:cNvGrpSpPr/>
              <p:nvPr/>
            </p:nvGrpSpPr>
            <p:grpSpPr>
              <a:xfrm>
                <a:off x="4690950" y="1545349"/>
                <a:ext cx="1378800" cy="355012"/>
                <a:chOff x="4690950" y="1545349"/>
                <a:chExt cx="1378800" cy="355012"/>
              </a:xfrm>
              <a:solidFill>
                <a:schemeClr val="accent4">
                  <a:lumMod val="40000"/>
                  <a:lumOff val="60000"/>
                </a:schemeClr>
              </a:solidFill>
            </p:grpSpPr>
            <p:sp>
              <p:nvSpPr>
                <p:cNvPr id="294" name="Rectángulo 293"/>
                <p:cNvSpPr/>
                <p:nvPr/>
              </p:nvSpPr>
              <p:spPr>
                <a:xfrm>
                  <a:off x="4690950" y="1545349"/>
                  <a:ext cx="137880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Reportnet Frontend</a:t>
                  </a:r>
                </a:p>
              </p:txBody>
            </p:sp>
            <p:pic>
              <p:nvPicPr>
                <p:cNvPr id="295" name="Imagen 29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72271" y="1587855"/>
                  <a:ext cx="278182" cy="270000"/>
                </a:xfrm>
                <a:prstGeom prst="rect">
                  <a:avLst/>
                </a:prstGeom>
                <a:grpFill/>
                <a:ln>
                  <a:noFill/>
                </a:ln>
              </p:spPr>
            </p:pic>
          </p:grpSp>
          <p:grpSp>
            <p:nvGrpSpPr>
              <p:cNvPr id="267" name="Grupo 266"/>
              <p:cNvGrpSpPr/>
              <p:nvPr/>
            </p:nvGrpSpPr>
            <p:grpSpPr>
              <a:xfrm>
                <a:off x="9952512" y="3312407"/>
                <a:ext cx="1377950" cy="355012"/>
                <a:chOff x="9952512" y="3312407"/>
                <a:chExt cx="1377950" cy="355012"/>
              </a:xfrm>
              <a:solidFill>
                <a:schemeClr val="accent4">
                  <a:lumMod val="40000"/>
                  <a:lumOff val="60000"/>
                </a:schemeClr>
              </a:solidFill>
            </p:grpSpPr>
            <p:sp>
              <p:nvSpPr>
                <p:cNvPr id="292" name="Rectángulo 291"/>
                <p:cNvSpPr/>
                <p:nvPr/>
              </p:nvSpPr>
              <p:spPr>
                <a:xfrm>
                  <a:off x="9952512" y="3312407"/>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Replica(s)</a:t>
                  </a:r>
                </a:p>
              </p:txBody>
            </p:sp>
            <p:pic>
              <p:nvPicPr>
                <p:cNvPr id="293" name="Imagen 29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8522" y="3373367"/>
                  <a:ext cx="268000" cy="241200"/>
                </a:xfrm>
                <a:prstGeom prst="rect">
                  <a:avLst/>
                </a:prstGeom>
                <a:grpFill/>
                <a:ln>
                  <a:noFill/>
                </a:ln>
              </p:spPr>
            </p:pic>
          </p:grpSp>
          <p:grpSp>
            <p:nvGrpSpPr>
              <p:cNvPr id="268" name="Grupo 267"/>
              <p:cNvGrpSpPr/>
              <p:nvPr/>
            </p:nvGrpSpPr>
            <p:grpSpPr>
              <a:xfrm>
                <a:off x="8386022" y="3805641"/>
                <a:ext cx="1377950" cy="355012"/>
                <a:chOff x="8386022" y="3805641"/>
                <a:chExt cx="1377950" cy="355012"/>
              </a:xfrm>
              <a:solidFill>
                <a:schemeClr val="accent4">
                  <a:lumMod val="40000"/>
                  <a:lumOff val="60000"/>
                </a:schemeClr>
              </a:solidFill>
            </p:grpSpPr>
            <p:sp>
              <p:nvSpPr>
                <p:cNvPr id="290" name="Rectángulo 289"/>
                <p:cNvSpPr/>
                <p:nvPr/>
              </p:nvSpPr>
              <p:spPr>
                <a:xfrm>
                  <a:off x="8386022" y="3805641"/>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PostgresSQL</a:t>
                  </a:r>
                  <a:r>
                    <a:rPr lang="en-GB" sz="950" dirty="0">
                      <a:solidFill>
                        <a:schemeClr val="tx1"/>
                      </a:solidFill>
                      <a:latin typeface="Calibri" panose="020F0502020204030204" pitchFamily="34" charset="0"/>
                      <a:cs typeface="Calibri" panose="020F0502020204030204" pitchFamily="34" charset="0"/>
                    </a:rPr>
                    <a:t> Connection Pool</a:t>
                  </a:r>
                </a:p>
              </p:txBody>
            </p:sp>
            <p:pic>
              <p:nvPicPr>
                <p:cNvPr id="291" name="Imagen 29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7343" y="3848147"/>
                  <a:ext cx="278438" cy="270000"/>
                </a:xfrm>
                <a:prstGeom prst="rect">
                  <a:avLst/>
                </a:prstGeom>
                <a:grpFill/>
                <a:ln>
                  <a:noFill/>
                </a:ln>
              </p:spPr>
            </p:pic>
          </p:grpSp>
          <p:grpSp>
            <p:nvGrpSpPr>
              <p:cNvPr id="269" name="Grupo 268"/>
              <p:cNvGrpSpPr/>
              <p:nvPr/>
            </p:nvGrpSpPr>
            <p:grpSpPr>
              <a:xfrm>
                <a:off x="3582591" y="5474790"/>
                <a:ext cx="1377950" cy="355012"/>
                <a:chOff x="3582591" y="5474790"/>
                <a:chExt cx="1377950" cy="355012"/>
              </a:xfrm>
              <a:solidFill>
                <a:schemeClr val="accent4">
                  <a:lumMod val="40000"/>
                  <a:lumOff val="60000"/>
                </a:schemeClr>
              </a:solidFill>
            </p:grpSpPr>
            <p:sp>
              <p:nvSpPr>
                <p:cNvPr id="288" name="Rectángulo 287"/>
                <p:cNvSpPr/>
                <p:nvPr/>
              </p:nvSpPr>
              <p:spPr>
                <a:xfrm>
                  <a:off x="3582591" y="5474790"/>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Bus</a:t>
                  </a:r>
                </a:p>
              </p:txBody>
            </p:sp>
            <p:pic>
              <p:nvPicPr>
                <p:cNvPr id="289" name="Imagen 28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45726" y="5531696"/>
                  <a:ext cx="268000" cy="241200"/>
                </a:xfrm>
                <a:prstGeom prst="rect">
                  <a:avLst/>
                </a:prstGeom>
                <a:grpFill/>
                <a:ln>
                  <a:noFill/>
                </a:ln>
              </p:spPr>
            </p:pic>
          </p:grpSp>
          <p:grpSp>
            <p:nvGrpSpPr>
              <p:cNvPr id="270" name="Grupo 269"/>
              <p:cNvGrpSpPr/>
              <p:nvPr/>
            </p:nvGrpSpPr>
            <p:grpSpPr>
              <a:xfrm>
                <a:off x="5237865" y="5474790"/>
                <a:ext cx="1377950" cy="355012"/>
                <a:chOff x="5237865" y="5474790"/>
                <a:chExt cx="1377950" cy="355012"/>
              </a:xfrm>
              <a:solidFill>
                <a:schemeClr val="accent4">
                  <a:lumMod val="40000"/>
                  <a:lumOff val="60000"/>
                </a:schemeClr>
              </a:solidFill>
            </p:grpSpPr>
            <p:sp>
              <p:nvSpPr>
                <p:cNvPr id="286" name="Rectángulo 285"/>
                <p:cNvSpPr/>
                <p:nvPr/>
              </p:nvSpPr>
              <p:spPr>
                <a:xfrm>
                  <a:off x="5237865" y="5474790"/>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Event Topics</a:t>
                  </a:r>
                </a:p>
              </p:txBody>
            </p:sp>
            <p:pic>
              <p:nvPicPr>
                <p:cNvPr id="287" name="Imagen 28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19186" y="5531696"/>
                  <a:ext cx="268000" cy="241200"/>
                </a:xfrm>
                <a:prstGeom prst="rect">
                  <a:avLst/>
                </a:prstGeom>
                <a:grpFill/>
                <a:ln>
                  <a:noFill/>
                </a:ln>
              </p:spPr>
            </p:pic>
          </p:grpSp>
          <p:grpSp>
            <p:nvGrpSpPr>
              <p:cNvPr id="271" name="Grupo 270"/>
              <p:cNvGrpSpPr/>
              <p:nvPr/>
            </p:nvGrpSpPr>
            <p:grpSpPr>
              <a:xfrm>
                <a:off x="4691375" y="2499121"/>
                <a:ext cx="1377950" cy="355012"/>
                <a:chOff x="4691375" y="2499121"/>
                <a:chExt cx="1377950" cy="355012"/>
              </a:xfrm>
              <a:solidFill>
                <a:schemeClr val="accent4">
                  <a:lumMod val="40000"/>
                  <a:lumOff val="60000"/>
                </a:schemeClr>
              </a:solidFill>
            </p:grpSpPr>
            <p:sp>
              <p:nvSpPr>
                <p:cNvPr id="284" name="Rectángulo 283"/>
                <p:cNvSpPr/>
                <p:nvPr/>
              </p:nvSpPr>
              <p:spPr>
                <a:xfrm>
                  <a:off x="4691375" y="2499121"/>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a:solidFill>
                        <a:schemeClr val="tx1"/>
                      </a:solidFill>
                      <a:latin typeface="Calibri" panose="020F0502020204030204" pitchFamily="34" charset="0"/>
                      <a:cs typeface="Calibri" panose="020F0502020204030204" pitchFamily="34" charset="0"/>
                    </a:rPr>
                    <a:t>API Gateway</a:t>
                  </a:r>
                </a:p>
              </p:txBody>
            </p:sp>
            <p:pic>
              <p:nvPicPr>
                <p:cNvPr id="285" name="Imagen 28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72696" y="2541627"/>
                  <a:ext cx="270000" cy="270000"/>
                </a:xfrm>
                <a:prstGeom prst="rect">
                  <a:avLst/>
                </a:prstGeom>
                <a:grpFill/>
                <a:ln>
                  <a:noFill/>
                </a:ln>
              </p:spPr>
            </p:pic>
          </p:grpSp>
          <p:grpSp>
            <p:nvGrpSpPr>
              <p:cNvPr id="272" name="Grupo 271"/>
              <p:cNvGrpSpPr/>
              <p:nvPr/>
            </p:nvGrpSpPr>
            <p:grpSpPr>
              <a:xfrm>
                <a:off x="6334777" y="2499121"/>
                <a:ext cx="1377950" cy="355012"/>
                <a:chOff x="6334777" y="2499121"/>
                <a:chExt cx="1377950" cy="355012"/>
              </a:xfrm>
              <a:solidFill>
                <a:schemeClr val="accent4">
                  <a:lumMod val="40000"/>
                  <a:lumOff val="60000"/>
                </a:schemeClr>
              </a:solidFill>
            </p:grpSpPr>
            <p:sp>
              <p:nvSpPr>
                <p:cNvPr id="282" name="Rectángulo 281"/>
                <p:cNvSpPr/>
                <p:nvPr/>
              </p:nvSpPr>
              <p:spPr>
                <a:xfrm>
                  <a:off x="6334777" y="2499121"/>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a:solidFill>
                        <a:schemeClr val="tx1"/>
                      </a:solidFill>
                      <a:latin typeface="Calibri" panose="020F0502020204030204" pitchFamily="34" charset="0"/>
                      <a:cs typeface="Calibri" panose="020F0502020204030204" pitchFamily="34" charset="0"/>
                    </a:rPr>
                    <a:t>Service Registry</a:t>
                  </a:r>
                </a:p>
              </p:txBody>
            </p:sp>
            <p:pic>
              <p:nvPicPr>
                <p:cNvPr id="283" name="Imagen 28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16098" y="2556027"/>
                  <a:ext cx="258429" cy="241200"/>
                </a:xfrm>
                <a:prstGeom prst="rect">
                  <a:avLst/>
                </a:prstGeom>
                <a:grpFill/>
                <a:ln>
                  <a:noFill/>
                </a:ln>
              </p:spPr>
            </p:pic>
          </p:grpSp>
          <p:grpSp>
            <p:nvGrpSpPr>
              <p:cNvPr id="273" name="Grupo 272"/>
              <p:cNvGrpSpPr/>
              <p:nvPr/>
            </p:nvGrpSpPr>
            <p:grpSpPr>
              <a:xfrm>
                <a:off x="9952512" y="3805641"/>
                <a:ext cx="1377950" cy="355012"/>
                <a:chOff x="9952512" y="3805641"/>
                <a:chExt cx="1377950" cy="355012"/>
              </a:xfrm>
              <a:solidFill>
                <a:schemeClr val="accent4">
                  <a:lumMod val="40000"/>
                  <a:lumOff val="60000"/>
                </a:schemeClr>
              </a:solidFill>
            </p:grpSpPr>
            <p:sp>
              <p:nvSpPr>
                <p:cNvPr id="280" name="Rectángulo 279"/>
                <p:cNvSpPr/>
                <p:nvPr/>
              </p:nvSpPr>
              <p:spPr>
                <a:xfrm>
                  <a:off x="9952512" y="3805641"/>
                  <a:ext cx="1377950" cy="355012"/>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err="1">
                      <a:solidFill>
                        <a:schemeClr val="tx1"/>
                      </a:solidFill>
                      <a:latin typeface="Calibri" panose="020F0502020204030204" pitchFamily="34" charset="0"/>
                      <a:cs typeface="Calibri" panose="020F0502020204030204" pitchFamily="34" charset="0"/>
                    </a:rPr>
                    <a:t>Postrgres</a:t>
                  </a:r>
                  <a:endParaRPr lang="en-GB" sz="950" dirty="0">
                    <a:solidFill>
                      <a:schemeClr val="tx1"/>
                    </a:solidFill>
                    <a:latin typeface="Calibri" panose="020F0502020204030204" pitchFamily="34" charset="0"/>
                    <a:cs typeface="Calibri" panose="020F0502020204030204" pitchFamily="34" charset="0"/>
                  </a:endParaRPr>
                </a:p>
                <a:p>
                  <a:r>
                    <a:rPr lang="en-GB" sz="950" dirty="0">
                      <a:solidFill>
                        <a:schemeClr val="tx1"/>
                      </a:solidFill>
                      <a:latin typeface="Calibri" panose="020F0502020204030204" pitchFamily="34" charset="0"/>
                      <a:cs typeface="Calibri" panose="020F0502020204030204" pitchFamily="34" charset="0"/>
                    </a:rPr>
                    <a:t>Primary</a:t>
                  </a:r>
                </a:p>
              </p:txBody>
            </p:sp>
            <p:pic>
              <p:nvPicPr>
                <p:cNvPr id="281" name="Imagen 28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3833" y="3862547"/>
                  <a:ext cx="268000" cy="241200"/>
                </a:xfrm>
                <a:prstGeom prst="rect">
                  <a:avLst/>
                </a:prstGeom>
                <a:grpFill/>
                <a:ln>
                  <a:noFill/>
                </a:ln>
              </p:spPr>
            </p:pic>
          </p:grpSp>
          <p:grpSp>
            <p:nvGrpSpPr>
              <p:cNvPr id="274" name="Grupo 273"/>
              <p:cNvGrpSpPr/>
              <p:nvPr/>
            </p:nvGrpSpPr>
            <p:grpSpPr>
              <a:xfrm>
                <a:off x="1032397" y="3531923"/>
                <a:ext cx="1377950" cy="355012"/>
                <a:chOff x="1032397" y="3531923"/>
                <a:chExt cx="1377950" cy="355012"/>
              </a:xfrm>
              <a:solidFill>
                <a:schemeClr val="accent4">
                  <a:lumMod val="40000"/>
                  <a:lumOff val="60000"/>
                </a:schemeClr>
              </a:solidFill>
            </p:grpSpPr>
            <p:sp>
              <p:nvSpPr>
                <p:cNvPr id="278" name="Rectángulo 277"/>
                <p:cNvSpPr/>
                <p:nvPr/>
              </p:nvSpPr>
              <p:spPr>
                <a:xfrm>
                  <a:off x="1032397" y="3531923"/>
                  <a:ext cx="1377950" cy="355012"/>
                </a:xfrm>
                <a:prstGeom prst="rect">
                  <a:avLst/>
                </a:prstGeom>
                <a:grp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User</a:t>
                  </a:r>
                </a:p>
                <a:p>
                  <a:r>
                    <a:rPr lang="en-GB" sz="950" dirty="0" smtClean="0">
                      <a:solidFill>
                        <a:schemeClr val="tx1"/>
                      </a:solidFill>
                      <a:latin typeface="Calibri" panose="020F0502020204030204" pitchFamily="34" charset="0"/>
                      <a:cs typeface="Calibri" panose="020F0502020204030204" pitchFamily="34" charset="0"/>
                    </a:rPr>
                    <a:t>Management</a:t>
                  </a:r>
                  <a:endParaRPr lang="en-GB" sz="950" dirty="0">
                    <a:solidFill>
                      <a:schemeClr val="tx1"/>
                    </a:solidFill>
                    <a:latin typeface="Calibri" panose="020F0502020204030204" pitchFamily="34" charset="0"/>
                    <a:cs typeface="Calibri" panose="020F0502020204030204" pitchFamily="34" charset="0"/>
                  </a:endParaRPr>
                </a:p>
              </p:txBody>
            </p:sp>
            <p:pic>
              <p:nvPicPr>
                <p:cNvPr id="279" name="Imagen 27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13718" y="3588829"/>
                  <a:ext cx="249814" cy="241200"/>
                </a:xfrm>
                <a:prstGeom prst="rect">
                  <a:avLst/>
                </a:prstGeom>
                <a:grpFill/>
                <a:ln>
                  <a:noFill/>
                </a:ln>
              </p:spPr>
            </p:pic>
          </p:grpSp>
          <p:grpSp>
            <p:nvGrpSpPr>
              <p:cNvPr id="275" name="Grupo 274"/>
              <p:cNvGrpSpPr/>
              <p:nvPr/>
            </p:nvGrpSpPr>
            <p:grpSpPr>
              <a:xfrm>
                <a:off x="1032397" y="3087393"/>
                <a:ext cx="1377950" cy="355012"/>
                <a:chOff x="1032397" y="3087393"/>
                <a:chExt cx="1377950" cy="355012"/>
              </a:xfrm>
              <a:solidFill>
                <a:schemeClr val="accent4">
                  <a:lumMod val="40000"/>
                  <a:lumOff val="60000"/>
                </a:schemeClr>
              </a:solidFill>
            </p:grpSpPr>
            <p:sp>
              <p:nvSpPr>
                <p:cNvPr id="276" name="Rectángulo 275"/>
                <p:cNvSpPr/>
                <p:nvPr/>
              </p:nvSpPr>
              <p:spPr>
                <a:xfrm>
                  <a:off x="1032397" y="3087393"/>
                  <a:ext cx="1377950" cy="355012"/>
                </a:xfrm>
                <a:prstGeom prst="rect">
                  <a:avLst/>
                </a:prstGeom>
                <a:grpFill/>
                <a:ln w="381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r>
                    <a:rPr lang="en-GB" sz="950" dirty="0" smtClean="0">
                      <a:solidFill>
                        <a:schemeClr val="tx1"/>
                      </a:solidFill>
                      <a:latin typeface="Calibri" panose="020F0502020204030204" pitchFamily="34" charset="0"/>
                      <a:cs typeface="Calibri" panose="020F0502020204030204" pitchFamily="34" charset="0"/>
                    </a:rPr>
                    <a:t>KeyCloak</a:t>
                  </a:r>
                  <a:endParaRPr lang="en-GB" sz="950" dirty="0">
                    <a:solidFill>
                      <a:schemeClr val="tx1"/>
                    </a:solidFill>
                    <a:latin typeface="Calibri" panose="020F0502020204030204" pitchFamily="34" charset="0"/>
                    <a:cs typeface="Calibri" panose="020F0502020204030204" pitchFamily="34" charset="0"/>
                  </a:endParaRPr>
                </a:p>
              </p:txBody>
            </p:sp>
            <p:pic>
              <p:nvPicPr>
                <p:cNvPr id="277" name="Imagen 27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13718" y="3144299"/>
                  <a:ext cx="249814" cy="241200"/>
                </a:xfrm>
                <a:prstGeom prst="rect">
                  <a:avLst/>
                </a:prstGeom>
                <a:grpFill/>
                <a:ln>
                  <a:noFill/>
                </a:ln>
              </p:spPr>
            </p:pic>
          </p:grpSp>
        </p:grpSp>
      </p:grpSp>
      <p:grpSp>
        <p:nvGrpSpPr>
          <p:cNvPr id="310" name="Grupo 309"/>
          <p:cNvGrpSpPr/>
          <p:nvPr/>
        </p:nvGrpSpPr>
        <p:grpSpPr>
          <a:xfrm>
            <a:off x="4262875" y="1564397"/>
            <a:ext cx="7029489" cy="4142201"/>
            <a:chOff x="4262875" y="1564397"/>
            <a:chExt cx="7029489" cy="4142201"/>
          </a:xfrm>
        </p:grpSpPr>
        <p:sp>
          <p:nvSpPr>
            <p:cNvPr id="311" name="Forma libre 310"/>
            <p:cNvSpPr/>
            <p:nvPr/>
          </p:nvSpPr>
          <p:spPr>
            <a:xfrm>
              <a:off x="4262875" y="3536560"/>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chemeClr val="accent4">
                <a:lumMod val="50000"/>
              </a:schemeClr>
            </a:solidFill>
            <a:ln>
              <a:solidFill>
                <a:schemeClr val="accent4">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sp>
          <p:nvSpPr>
            <p:cNvPr id="312" name="Forma libre 311"/>
            <p:cNvSpPr/>
            <p:nvPr/>
          </p:nvSpPr>
          <p:spPr>
            <a:xfrm>
              <a:off x="4263725" y="4187454"/>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chemeClr val="accent4">
                <a:lumMod val="50000"/>
              </a:schemeClr>
            </a:solidFill>
            <a:ln>
              <a:solidFill>
                <a:schemeClr val="accent4">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sp>
          <p:nvSpPr>
            <p:cNvPr id="313" name="Forma libre 312"/>
            <p:cNvSpPr/>
            <p:nvPr/>
          </p:nvSpPr>
          <p:spPr>
            <a:xfrm>
              <a:off x="5908166" y="3536560"/>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chemeClr val="accent4">
                <a:lumMod val="50000"/>
              </a:schemeClr>
            </a:solidFill>
            <a:ln>
              <a:solidFill>
                <a:schemeClr val="accent4">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sp>
          <p:nvSpPr>
            <p:cNvPr id="314" name="Forma libre 313"/>
            <p:cNvSpPr/>
            <p:nvPr/>
          </p:nvSpPr>
          <p:spPr>
            <a:xfrm>
              <a:off x="7549679" y="3535877"/>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chemeClr val="accent4">
                <a:lumMod val="50000"/>
              </a:schemeClr>
            </a:solidFill>
            <a:ln>
              <a:solidFill>
                <a:schemeClr val="accent4">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sp>
          <p:nvSpPr>
            <p:cNvPr id="315" name="Forma libre 314"/>
            <p:cNvSpPr/>
            <p:nvPr/>
          </p:nvSpPr>
          <p:spPr>
            <a:xfrm>
              <a:off x="9581874" y="5562598"/>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chemeClr val="accent4">
                <a:lumMod val="50000"/>
              </a:schemeClr>
            </a:solidFill>
            <a:ln>
              <a:solidFill>
                <a:schemeClr val="accent4">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sp>
          <p:nvSpPr>
            <p:cNvPr id="316" name="Forma libre 315"/>
            <p:cNvSpPr/>
            <p:nvPr/>
          </p:nvSpPr>
          <p:spPr>
            <a:xfrm>
              <a:off x="11148364" y="5562598"/>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chemeClr val="accent4">
                <a:lumMod val="50000"/>
              </a:schemeClr>
            </a:solidFill>
            <a:ln>
              <a:solidFill>
                <a:schemeClr val="accent4">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sp>
          <p:nvSpPr>
            <p:cNvPr id="317" name="Forma libre 316"/>
            <p:cNvSpPr/>
            <p:nvPr/>
          </p:nvSpPr>
          <p:spPr>
            <a:xfrm>
              <a:off x="5906277" y="1564397"/>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chemeClr val="accent4">
                <a:lumMod val="50000"/>
              </a:schemeClr>
            </a:solidFill>
            <a:ln>
              <a:solidFill>
                <a:schemeClr val="accent4">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nvGrpSpPr>
            <p:cNvPr id="318" name="Grupo 317"/>
            <p:cNvGrpSpPr/>
            <p:nvPr/>
          </p:nvGrpSpPr>
          <p:grpSpPr>
            <a:xfrm>
              <a:off x="9793140" y="1854792"/>
              <a:ext cx="1476000" cy="234000"/>
              <a:chOff x="9793140" y="1852906"/>
              <a:chExt cx="1476000" cy="234000"/>
            </a:xfrm>
            <a:solidFill>
              <a:schemeClr val="accent4">
                <a:lumMod val="40000"/>
                <a:lumOff val="60000"/>
              </a:schemeClr>
            </a:solidFill>
          </p:grpSpPr>
          <p:sp>
            <p:nvSpPr>
              <p:cNvPr id="319" name="Rectángulo 318"/>
              <p:cNvSpPr/>
              <p:nvPr/>
            </p:nvSpPr>
            <p:spPr>
              <a:xfrm>
                <a:off x="9793140" y="1852906"/>
                <a:ext cx="1476000" cy="234000"/>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4000" tIns="36000" rIns="36000" bIns="36000" numCol="1" spcCol="0" rtlCol="0" fromWordArt="0" anchor="ctr" anchorCtr="0" forceAA="0" compatLnSpc="1">
                <a:prstTxWarp prst="textNoShape">
                  <a:avLst/>
                </a:prstTxWarp>
                <a:noAutofit/>
              </a:bodyPr>
              <a:lstStyle/>
              <a:p>
                <a:r>
                  <a:rPr lang="en-GB" sz="950" b="1" dirty="0" smtClean="0">
                    <a:solidFill>
                      <a:schemeClr val="tx1"/>
                    </a:solidFill>
                    <a:latin typeface="Calibri" panose="020F0502020204030204" pitchFamily="34" charset="0"/>
                    <a:cs typeface="Calibri" panose="020F0502020204030204" pitchFamily="34" charset="0"/>
                  </a:rPr>
                  <a:t>Evolved</a:t>
                </a:r>
                <a:endParaRPr lang="en-GB" sz="950" b="1" dirty="0">
                  <a:solidFill>
                    <a:schemeClr val="tx1"/>
                  </a:solidFill>
                  <a:latin typeface="Calibri" panose="020F0502020204030204" pitchFamily="34" charset="0"/>
                  <a:cs typeface="Calibri" panose="020F0502020204030204" pitchFamily="34" charset="0"/>
                </a:endParaRPr>
              </a:p>
            </p:txBody>
          </p:sp>
          <p:sp>
            <p:nvSpPr>
              <p:cNvPr id="320" name="Forma libre 319"/>
              <p:cNvSpPr/>
              <p:nvPr/>
            </p:nvSpPr>
            <p:spPr>
              <a:xfrm>
                <a:off x="9919014" y="1899204"/>
                <a:ext cx="144000" cy="144000"/>
              </a:xfrm>
              <a:custGeom>
                <a:avLst/>
                <a:gdLst>
                  <a:gd name="connsiteX0" fmla="*/ 1589033 w 2123675"/>
                  <a:gd name="connsiteY0" fmla="*/ 537873 h 2123675"/>
                  <a:gd name="connsiteX1" fmla="*/ 1902347 w 2123675"/>
                  <a:gd name="connsiteY1" fmla="*/ 443446 h 2123675"/>
                  <a:gd name="connsiteX2" fmla="*/ 2017635 w 2123675"/>
                  <a:gd name="connsiteY2" fmla="*/ 643130 h 2123675"/>
                  <a:gd name="connsiteX3" fmla="*/ 1779202 w 2123675"/>
                  <a:gd name="connsiteY3" fmla="*/ 867255 h 2123675"/>
                  <a:gd name="connsiteX4" fmla="*/ 1779202 w 2123675"/>
                  <a:gd name="connsiteY4" fmla="*/ 1256420 h 2123675"/>
                  <a:gd name="connsiteX5" fmla="*/ 2017635 w 2123675"/>
                  <a:gd name="connsiteY5" fmla="*/ 1480545 h 2123675"/>
                  <a:gd name="connsiteX6" fmla="*/ 1902347 w 2123675"/>
                  <a:gd name="connsiteY6" fmla="*/ 1680229 h 2123675"/>
                  <a:gd name="connsiteX7" fmla="*/ 1589033 w 2123675"/>
                  <a:gd name="connsiteY7" fmla="*/ 1585802 h 2123675"/>
                  <a:gd name="connsiteX8" fmla="*/ 1252006 w 2123675"/>
                  <a:gd name="connsiteY8" fmla="*/ 1780385 h 2123675"/>
                  <a:gd name="connsiteX9" fmla="*/ 1177125 w 2123675"/>
                  <a:gd name="connsiteY9" fmla="*/ 2098936 h 2123675"/>
                  <a:gd name="connsiteX10" fmla="*/ 946550 w 2123675"/>
                  <a:gd name="connsiteY10" fmla="*/ 2098936 h 2123675"/>
                  <a:gd name="connsiteX11" fmla="*/ 871669 w 2123675"/>
                  <a:gd name="connsiteY11" fmla="*/ 1780385 h 2123675"/>
                  <a:gd name="connsiteX12" fmla="*/ 534642 w 2123675"/>
                  <a:gd name="connsiteY12" fmla="*/ 1585802 h 2123675"/>
                  <a:gd name="connsiteX13" fmla="*/ 221328 w 2123675"/>
                  <a:gd name="connsiteY13" fmla="*/ 1680229 h 2123675"/>
                  <a:gd name="connsiteX14" fmla="*/ 106040 w 2123675"/>
                  <a:gd name="connsiteY14" fmla="*/ 1480545 h 2123675"/>
                  <a:gd name="connsiteX15" fmla="*/ 344473 w 2123675"/>
                  <a:gd name="connsiteY15" fmla="*/ 1256420 h 2123675"/>
                  <a:gd name="connsiteX16" fmla="*/ 344473 w 2123675"/>
                  <a:gd name="connsiteY16" fmla="*/ 867255 h 2123675"/>
                  <a:gd name="connsiteX17" fmla="*/ 106040 w 2123675"/>
                  <a:gd name="connsiteY17" fmla="*/ 643130 h 2123675"/>
                  <a:gd name="connsiteX18" fmla="*/ 221328 w 2123675"/>
                  <a:gd name="connsiteY18" fmla="*/ 443446 h 2123675"/>
                  <a:gd name="connsiteX19" fmla="*/ 534642 w 2123675"/>
                  <a:gd name="connsiteY19" fmla="*/ 537873 h 2123675"/>
                  <a:gd name="connsiteX20" fmla="*/ 871669 w 2123675"/>
                  <a:gd name="connsiteY20" fmla="*/ 343290 h 2123675"/>
                  <a:gd name="connsiteX21" fmla="*/ 946550 w 2123675"/>
                  <a:gd name="connsiteY21" fmla="*/ 24739 h 2123675"/>
                  <a:gd name="connsiteX22" fmla="*/ 1177125 w 2123675"/>
                  <a:gd name="connsiteY22" fmla="*/ 24739 h 2123675"/>
                  <a:gd name="connsiteX23" fmla="*/ 1252006 w 2123675"/>
                  <a:gd name="connsiteY23" fmla="*/ 343290 h 2123675"/>
                  <a:gd name="connsiteX24" fmla="*/ 1589033 w 2123675"/>
                  <a:gd name="connsiteY24" fmla="*/ 537873 h 212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23675" h="2123675">
                    <a:moveTo>
                      <a:pt x="1366897" y="537190"/>
                    </a:moveTo>
                    <a:lnTo>
                      <a:pt x="1594045" y="396507"/>
                    </a:lnTo>
                    <a:lnTo>
                      <a:pt x="1727168" y="529630"/>
                    </a:lnTo>
                    <a:lnTo>
                      <a:pt x="1586485" y="756778"/>
                    </a:lnTo>
                    <a:cubicBezTo>
                      <a:pt x="1640670" y="849967"/>
                      <a:pt x="1669056" y="955907"/>
                      <a:pt x="1668725" y="1063703"/>
                    </a:cubicBezTo>
                    <a:lnTo>
                      <a:pt x="1904134" y="1190078"/>
                    </a:lnTo>
                    <a:lnTo>
                      <a:pt x="1855408" y="1371927"/>
                    </a:lnTo>
                    <a:lnTo>
                      <a:pt x="1588350" y="1363666"/>
                    </a:lnTo>
                    <a:cubicBezTo>
                      <a:pt x="1534739" y="1457186"/>
                      <a:pt x="1457186" y="1534739"/>
                      <a:pt x="1363666" y="1588351"/>
                    </a:cubicBezTo>
                    <a:lnTo>
                      <a:pt x="1371926" y="1855408"/>
                    </a:lnTo>
                    <a:lnTo>
                      <a:pt x="1190078" y="1904134"/>
                    </a:lnTo>
                    <a:lnTo>
                      <a:pt x="1063703" y="1668725"/>
                    </a:lnTo>
                    <a:cubicBezTo>
                      <a:pt x="955907" y="1669057"/>
                      <a:pt x="849967" y="1640670"/>
                      <a:pt x="756778" y="1586485"/>
                    </a:cubicBezTo>
                    <a:lnTo>
                      <a:pt x="529630" y="1727168"/>
                    </a:lnTo>
                    <a:lnTo>
                      <a:pt x="396507" y="1594045"/>
                    </a:lnTo>
                    <a:lnTo>
                      <a:pt x="537190" y="1366897"/>
                    </a:lnTo>
                    <a:cubicBezTo>
                      <a:pt x="483005" y="1273708"/>
                      <a:pt x="454619" y="1167768"/>
                      <a:pt x="454950" y="1059972"/>
                    </a:cubicBezTo>
                    <a:lnTo>
                      <a:pt x="219541" y="933597"/>
                    </a:lnTo>
                    <a:lnTo>
                      <a:pt x="268267" y="751748"/>
                    </a:lnTo>
                    <a:lnTo>
                      <a:pt x="535325" y="760009"/>
                    </a:lnTo>
                    <a:cubicBezTo>
                      <a:pt x="588936" y="666489"/>
                      <a:pt x="666489" y="588936"/>
                      <a:pt x="760009" y="535324"/>
                    </a:cubicBezTo>
                    <a:lnTo>
                      <a:pt x="751749" y="268267"/>
                    </a:lnTo>
                    <a:lnTo>
                      <a:pt x="933597" y="219541"/>
                    </a:lnTo>
                    <a:lnTo>
                      <a:pt x="1059972" y="454950"/>
                    </a:lnTo>
                    <a:cubicBezTo>
                      <a:pt x="1167768" y="454618"/>
                      <a:pt x="1273708" y="483005"/>
                      <a:pt x="1366897" y="537190"/>
                    </a:cubicBezTo>
                    <a:close/>
                  </a:path>
                </a:pathLst>
              </a:custGeom>
              <a:solidFill>
                <a:schemeClr val="accent4">
                  <a:lumMod val="50000"/>
                </a:schemeClr>
              </a:solidFill>
              <a:ln>
                <a:solidFill>
                  <a:schemeClr val="accent4">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1257" tIns="741257" rIns="741258" bIns="741258" numCol="1" spcCol="1270" anchor="ctr" anchorCtr="0">
                <a:noAutofit/>
              </a:bodyPr>
              <a:lstStyle/>
              <a:p>
                <a:pPr lvl="0" algn="ctr" defTabSz="1289050">
                  <a:lnSpc>
                    <a:spcPct val="90000"/>
                  </a:lnSpc>
                  <a:spcBef>
                    <a:spcPct val="0"/>
                  </a:spcBef>
                  <a:spcAft>
                    <a:spcPct val="35000"/>
                  </a:spcAft>
                </a:pPr>
                <a:endParaRPr lang="es-ES" sz="2900" kern="1200"/>
              </a:p>
            </p:txBody>
          </p:sp>
        </p:grpSp>
      </p:grpSp>
      <p:grpSp>
        <p:nvGrpSpPr>
          <p:cNvPr id="321" name="Grupo 320"/>
          <p:cNvGrpSpPr/>
          <p:nvPr/>
        </p:nvGrpSpPr>
        <p:grpSpPr>
          <a:xfrm>
            <a:off x="1027867" y="2166620"/>
            <a:ext cx="10241273" cy="2365362"/>
            <a:chOff x="1027867" y="2166620"/>
            <a:chExt cx="10241273" cy="2365362"/>
          </a:xfrm>
        </p:grpSpPr>
        <p:sp>
          <p:nvSpPr>
            <p:cNvPr id="322" name="Rectángulo 321"/>
            <p:cNvSpPr/>
            <p:nvPr/>
          </p:nvSpPr>
          <p:spPr>
            <a:xfrm>
              <a:off x="1027867" y="4176970"/>
              <a:ext cx="1377950" cy="355012"/>
            </a:xfrm>
            <a:prstGeom prst="rect">
              <a:avLst/>
            </a:prstGeom>
            <a:solidFill>
              <a:schemeClr val="accent4">
                <a:lumMod val="40000"/>
                <a:lumOff val="60000"/>
              </a:schemeClr>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96000" tIns="36000" rIns="36000" bIns="36000" rtlCol="0" anchor="ctr" anchorCtr="0"/>
            <a:lstStyle/>
            <a:p>
              <a:r>
                <a:rPr lang="en-GB" sz="950" dirty="0" smtClean="0">
                  <a:solidFill>
                    <a:schemeClr val="tx1"/>
                  </a:solidFill>
                  <a:latin typeface="Calibri" panose="020F0502020204030204" pitchFamily="34" charset="0"/>
                  <a:cs typeface="Calibri" panose="020F0502020204030204" pitchFamily="34" charset="0"/>
                </a:rPr>
                <a:t>Communication Service</a:t>
              </a:r>
              <a:endParaRPr lang="en-GB" sz="950" dirty="0">
                <a:solidFill>
                  <a:schemeClr val="tx1"/>
                </a:solidFill>
                <a:latin typeface="Calibri" panose="020F0502020204030204" pitchFamily="34" charset="0"/>
                <a:cs typeface="Calibri" panose="020F0502020204030204" pitchFamily="34" charset="0"/>
              </a:endParaRPr>
            </a:p>
          </p:txBody>
        </p:sp>
        <p:grpSp>
          <p:nvGrpSpPr>
            <p:cNvPr id="323" name="Grupo 322"/>
            <p:cNvGrpSpPr/>
            <p:nvPr/>
          </p:nvGrpSpPr>
          <p:grpSpPr>
            <a:xfrm>
              <a:off x="1077421" y="4200154"/>
              <a:ext cx="1302556" cy="279058"/>
              <a:chOff x="1077421" y="4200154"/>
              <a:chExt cx="1302556" cy="279058"/>
            </a:xfrm>
          </p:grpSpPr>
          <p:pic>
            <p:nvPicPr>
              <p:cNvPr id="329" name="Imagen 3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7421" y="4238012"/>
                <a:ext cx="249814" cy="241200"/>
              </a:xfrm>
              <a:prstGeom prst="rect">
                <a:avLst/>
              </a:prstGeom>
              <a:solidFill>
                <a:schemeClr val="accent4">
                  <a:lumMod val="40000"/>
                  <a:lumOff val="60000"/>
                </a:schemeClr>
              </a:solidFill>
              <a:ln>
                <a:noFill/>
              </a:ln>
            </p:spPr>
          </p:pic>
          <p:sp>
            <p:nvSpPr>
              <p:cNvPr id="330" name="Anillo 329"/>
              <p:cNvSpPr/>
              <p:nvPr/>
            </p:nvSpPr>
            <p:spPr>
              <a:xfrm>
                <a:off x="2235977" y="4200154"/>
                <a:ext cx="144000" cy="144000"/>
              </a:xfrm>
              <a:prstGeom prst="donut">
                <a:avLst>
                  <a:gd name="adj" fmla="val 30104"/>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324" name="Grupo 323"/>
            <p:cNvGrpSpPr/>
            <p:nvPr/>
          </p:nvGrpSpPr>
          <p:grpSpPr>
            <a:xfrm>
              <a:off x="9793140" y="2166620"/>
              <a:ext cx="1476000" cy="234000"/>
              <a:chOff x="9793140" y="2166620"/>
              <a:chExt cx="1476000" cy="234000"/>
            </a:xfrm>
          </p:grpSpPr>
          <p:grpSp>
            <p:nvGrpSpPr>
              <p:cNvPr id="325" name="Grupo 324"/>
              <p:cNvGrpSpPr/>
              <p:nvPr/>
            </p:nvGrpSpPr>
            <p:grpSpPr>
              <a:xfrm>
                <a:off x="9793140" y="2166620"/>
                <a:ext cx="1476000" cy="234000"/>
                <a:chOff x="9793140" y="2166620"/>
                <a:chExt cx="1476000" cy="234000"/>
              </a:xfrm>
              <a:solidFill>
                <a:schemeClr val="accent4">
                  <a:lumMod val="40000"/>
                  <a:lumOff val="60000"/>
                </a:schemeClr>
              </a:solidFill>
            </p:grpSpPr>
            <p:sp>
              <p:nvSpPr>
                <p:cNvPr id="327" name="Rectángulo 326"/>
                <p:cNvSpPr/>
                <p:nvPr/>
              </p:nvSpPr>
              <p:spPr>
                <a:xfrm>
                  <a:off x="9793140" y="2166620"/>
                  <a:ext cx="1476000" cy="234000"/>
                </a:xfrm>
                <a:prstGeom prst="rect">
                  <a:avLst/>
                </a:prstGeom>
                <a:grpFill/>
                <a:ln w="31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4000" tIns="36000" rIns="36000" bIns="36000" numCol="1" spcCol="0" rtlCol="0" fromWordArt="0" anchor="ctr" anchorCtr="0" forceAA="0" compatLnSpc="1">
                  <a:prstTxWarp prst="textNoShape">
                    <a:avLst/>
                  </a:prstTxWarp>
                  <a:noAutofit/>
                </a:bodyPr>
                <a:lstStyle/>
                <a:p>
                  <a:r>
                    <a:rPr lang="en-GB" sz="950" b="1" dirty="0">
                      <a:solidFill>
                        <a:schemeClr val="tx1"/>
                      </a:solidFill>
                      <a:latin typeface="Calibri" panose="020F0502020204030204" pitchFamily="34" charset="0"/>
                      <a:cs typeface="Calibri" panose="020F0502020204030204" pitchFamily="34" charset="0"/>
                    </a:rPr>
                    <a:t>New Implementation</a:t>
                  </a:r>
                </a:p>
              </p:txBody>
            </p:sp>
            <p:sp>
              <p:nvSpPr>
                <p:cNvPr id="328" name="Anillo 327"/>
                <p:cNvSpPr/>
                <p:nvPr/>
              </p:nvSpPr>
              <p:spPr>
                <a:xfrm>
                  <a:off x="9919014" y="2206205"/>
                  <a:ext cx="144000" cy="144000"/>
                </a:xfrm>
                <a:prstGeom prst="donut">
                  <a:avLst>
                    <a:gd name="adj" fmla="val 301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sp>
            <p:nvSpPr>
              <p:cNvPr id="326" name="Anillo 325"/>
              <p:cNvSpPr/>
              <p:nvPr/>
            </p:nvSpPr>
            <p:spPr>
              <a:xfrm>
                <a:off x="9919014" y="2212638"/>
                <a:ext cx="144000" cy="144000"/>
              </a:xfrm>
              <a:prstGeom prst="donut">
                <a:avLst>
                  <a:gd name="adj" fmla="val 30104"/>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spTree>
    <p:extLst>
      <p:ext uri="{BB962C8B-B14F-4D97-AF65-F5344CB8AC3E}">
        <p14:creationId xmlns:p14="http://schemas.microsoft.com/office/powerpoint/2010/main" val="299877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animEffect transition="in" filter="barn(inVertical)">
                                      <p:cBhvr>
                                        <p:cTn id="7" dur="3000"/>
                                        <p:tgtEl>
                                          <p:spTgt spid="25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10"/>
                                        </p:tgtEl>
                                        <p:attrNameLst>
                                          <p:attrName>style.visibility</p:attrName>
                                        </p:attrNameLst>
                                      </p:cBhvr>
                                      <p:to>
                                        <p:strVal val="visible"/>
                                      </p:to>
                                    </p:set>
                                    <p:animEffect transition="in" filter="barn(inVertical)">
                                      <p:cBhvr>
                                        <p:cTn id="12" dur="3000"/>
                                        <p:tgtEl>
                                          <p:spTgt spid="3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21"/>
                                        </p:tgtEl>
                                        <p:attrNameLst>
                                          <p:attrName>style.visibility</p:attrName>
                                        </p:attrNameLst>
                                      </p:cBhvr>
                                      <p:to>
                                        <p:strVal val="visible"/>
                                      </p:to>
                                    </p:set>
                                    <p:animEffect transition="in" filter="wipe(down)">
                                      <p:cBhvr>
                                        <p:cTn id="17" dur="3000"/>
                                        <p:tgtEl>
                                          <p:spTgt spid="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13</a:t>
            </a:fld>
            <a:endParaRPr lang="en-US" dirty="0">
              <a:solidFill>
                <a:schemeClr val="bg1"/>
              </a:solidFill>
            </a:endParaRPr>
          </a:p>
        </p:txBody>
      </p:sp>
      <p:sp>
        <p:nvSpPr>
          <p:cNvPr id="4" name="Paralelogramo 3"/>
          <p:cNvSpPr/>
          <p:nvPr/>
        </p:nvSpPr>
        <p:spPr>
          <a:xfrm>
            <a:off x="1503680" y="66259"/>
            <a:ext cx="3185295"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600" b="1" dirty="0" smtClean="0">
                <a:solidFill>
                  <a:srgbClr val="016357"/>
                </a:solidFill>
              </a:rPr>
              <a:t>System &amp; </a:t>
            </a:r>
            <a:r>
              <a:rPr lang="en-GB" sz="1600" b="1" dirty="0">
                <a:solidFill>
                  <a:srgbClr val="016357"/>
                </a:solidFill>
              </a:rPr>
              <a:t>Architecture Updates</a:t>
            </a:r>
          </a:p>
        </p:txBody>
      </p:sp>
      <p:sp>
        <p:nvSpPr>
          <p:cNvPr id="5" name="Rectángulo 4"/>
          <p:cNvSpPr/>
          <p:nvPr/>
        </p:nvSpPr>
        <p:spPr>
          <a:xfrm>
            <a:off x="1265215" y="126269"/>
            <a:ext cx="10858642" cy="523220"/>
          </a:xfrm>
          <a:prstGeom prst="rect">
            <a:avLst/>
          </a:prstGeom>
        </p:spPr>
        <p:txBody>
          <a:bodyPr wrap="square">
            <a:spAutoFit/>
          </a:bodyPr>
          <a:lstStyle/>
          <a:p>
            <a:pPr algn="r">
              <a:spcBef>
                <a:spcPts val="300"/>
              </a:spcBef>
              <a:spcAft>
                <a:spcPts val="300"/>
              </a:spcAft>
            </a:pPr>
            <a:r>
              <a:rPr lang="en-US" sz="2800" dirty="0">
                <a:solidFill>
                  <a:schemeClr val="bg1"/>
                </a:solidFill>
                <a:latin typeface="Calibri" panose="020F0502020204030204" pitchFamily="34" charset="0"/>
              </a:rPr>
              <a:t>Update on the </a:t>
            </a:r>
            <a:r>
              <a:rPr lang="en-US" sz="2800" dirty="0" smtClean="0">
                <a:solidFill>
                  <a:schemeClr val="bg1"/>
                </a:solidFill>
                <a:latin typeface="Calibri" panose="020F0502020204030204" pitchFamily="34" charset="0"/>
              </a:rPr>
              <a:t>Architecture and SW </a:t>
            </a:r>
            <a:r>
              <a:rPr lang="en-US" sz="2800" dirty="0">
                <a:solidFill>
                  <a:schemeClr val="bg1"/>
                </a:solidFill>
                <a:latin typeface="Calibri" panose="020F0502020204030204" pitchFamily="34" charset="0"/>
              </a:rPr>
              <a:t>D</a:t>
            </a:r>
            <a:r>
              <a:rPr lang="en-US" sz="2800" dirty="0" smtClean="0">
                <a:solidFill>
                  <a:schemeClr val="bg1"/>
                </a:solidFill>
                <a:latin typeface="Calibri" panose="020F0502020204030204" pitchFamily="34" charset="0"/>
              </a:rPr>
              <a:t>evelopment</a:t>
            </a:r>
            <a:endParaRPr lang="es-ES" sz="2800" kern="50" dirty="0">
              <a:solidFill>
                <a:schemeClr val="bg1"/>
              </a:solidFill>
              <a:latin typeface="Verdana" panose="020B0604030504040204" pitchFamily="34" charset="0"/>
              <a:ea typeface="Times New Roman" panose="02020603050405020304" pitchFamily="18" charset="0"/>
              <a:cs typeface="CG Times (W1)"/>
            </a:endParaRPr>
          </a:p>
        </p:txBody>
      </p:sp>
      <p:grpSp>
        <p:nvGrpSpPr>
          <p:cNvPr id="6" name="Grupo 5"/>
          <p:cNvGrpSpPr/>
          <p:nvPr/>
        </p:nvGrpSpPr>
        <p:grpSpPr>
          <a:xfrm>
            <a:off x="133702" y="983466"/>
            <a:ext cx="11786610" cy="630000"/>
            <a:chOff x="133702" y="983466"/>
            <a:chExt cx="11786610" cy="630000"/>
          </a:xfrm>
        </p:grpSpPr>
        <p:sp>
          <p:nvSpPr>
            <p:cNvPr id="7" name="Rectángulo 6"/>
            <p:cNvSpPr/>
            <p:nvPr/>
          </p:nvSpPr>
          <p:spPr>
            <a:xfrm>
              <a:off x="300722" y="1010466"/>
              <a:ext cx="2462018" cy="5760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216000" tIns="36000" rIns="72000" bIns="36000" anchor="ctr" anchorCtr="0">
              <a:noAutofit/>
            </a:bodyPr>
            <a:lstStyle/>
            <a:p>
              <a:pPr algn="ctr"/>
              <a:r>
                <a:rPr lang="en-GB"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SYSTEM DEPLOY &amp; ADMINISTRATION</a:t>
              </a:r>
              <a:endParaRPr lang="en-GB"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8" name="Rectángulo 7"/>
            <p:cNvSpPr/>
            <p:nvPr/>
          </p:nvSpPr>
          <p:spPr>
            <a:xfrm>
              <a:off x="3120574" y="983466"/>
              <a:ext cx="8799738" cy="630000"/>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GB" b="1" kern="50" dirty="0" smtClean="0">
                  <a:solidFill>
                    <a:srgbClr val="016357"/>
                  </a:solidFill>
                  <a:latin typeface="Calibri" panose="020F0502020204030204" pitchFamily="34" charset="0"/>
                  <a:cs typeface="Calibri" panose="020F0502020204030204" pitchFamily="34" charset="0"/>
                </a:rPr>
                <a:t>HELM </a:t>
              </a:r>
              <a:r>
                <a:rPr lang="en-GB" b="1" kern="50" dirty="0">
                  <a:solidFill>
                    <a:srgbClr val="016357"/>
                  </a:solidFill>
                  <a:latin typeface="Calibri" panose="020F0502020204030204" pitchFamily="34" charset="0"/>
                  <a:cs typeface="Calibri" panose="020F0502020204030204" pitchFamily="34" charset="0"/>
                </a:rPr>
                <a:t>3 </a:t>
              </a:r>
              <a:r>
                <a:rPr lang="en-GB" kern="50" dirty="0">
                  <a:latin typeface="Calibri" panose="020F0502020204030204" pitchFamily="34" charset="0"/>
                  <a:cs typeface="Calibri" panose="020F0502020204030204" pitchFamily="34" charset="0"/>
                </a:rPr>
                <a:t>is being </a:t>
              </a:r>
              <a:r>
                <a:rPr lang="en-GB" kern="50" dirty="0" smtClean="0">
                  <a:latin typeface="Calibri" panose="020F0502020204030204" pitchFamily="34" charset="0"/>
                  <a:cs typeface="Calibri" panose="020F0502020204030204" pitchFamily="34" charset="0"/>
                </a:rPr>
                <a:t>implemented to aid in the deployment and management of Reportnet 3.0 Microservices components and system infrastructure services.</a:t>
              </a:r>
              <a:endParaRPr lang="en-GB" kern="50" dirty="0">
                <a:latin typeface="Calibri" panose="020F0502020204030204" pitchFamily="34" charset="0"/>
                <a:cs typeface="Calibri" panose="020F0502020204030204" pitchFamily="34" charset="0"/>
              </a:endParaRPr>
            </a:p>
          </p:txBody>
        </p:sp>
        <p:sp>
          <p:nvSpPr>
            <p:cNvPr id="9" name="Elipse 8"/>
            <p:cNvSpPr/>
            <p:nvPr/>
          </p:nvSpPr>
          <p:spPr>
            <a:xfrm>
              <a:off x="133702" y="1123029"/>
              <a:ext cx="348342" cy="350875"/>
            </a:xfrm>
            <a:prstGeom prst="ellipse">
              <a:avLst/>
            </a:prstGeom>
            <a:solidFill>
              <a:srgbClr val="016357"/>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s-ES" sz="1400" b="1" dirty="0" smtClean="0"/>
                <a:t>1</a:t>
              </a:r>
              <a:endParaRPr lang="es-ES" sz="1400" b="1" dirty="0"/>
            </a:p>
          </p:txBody>
        </p:sp>
        <p:cxnSp>
          <p:nvCxnSpPr>
            <p:cNvPr id="10" name="Conector recto 9"/>
            <p:cNvCxnSpPr/>
            <p:nvPr/>
          </p:nvCxnSpPr>
          <p:spPr>
            <a:xfrm>
              <a:off x="2762740" y="1298466"/>
              <a:ext cx="357834" cy="0"/>
            </a:xfrm>
            <a:prstGeom prst="line">
              <a:avLst/>
            </a:prstGeom>
            <a:ln>
              <a:solidFill>
                <a:srgbClr val="016357"/>
              </a:solidFill>
            </a:ln>
          </p:spPr>
          <p:style>
            <a:lnRef idx="1">
              <a:schemeClr val="accent1"/>
            </a:lnRef>
            <a:fillRef idx="0">
              <a:schemeClr val="accent1"/>
            </a:fillRef>
            <a:effectRef idx="0">
              <a:schemeClr val="accent1"/>
            </a:effectRef>
            <a:fontRef idx="minor">
              <a:schemeClr val="tx1"/>
            </a:fontRef>
          </p:style>
        </p:cxnSp>
      </p:grpSp>
      <p:grpSp>
        <p:nvGrpSpPr>
          <p:cNvPr id="11" name="Grupo 10"/>
          <p:cNvGrpSpPr/>
          <p:nvPr/>
        </p:nvGrpSpPr>
        <p:grpSpPr>
          <a:xfrm>
            <a:off x="133702" y="1858435"/>
            <a:ext cx="11786610" cy="1965600"/>
            <a:chOff x="133702" y="1806525"/>
            <a:chExt cx="11786610" cy="1965600"/>
          </a:xfrm>
        </p:grpSpPr>
        <p:sp>
          <p:nvSpPr>
            <p:cNvPr id="12" name="Rectángulo 11"/>
            <p:cNvSpPr/>
            <p:nvPr/>
          </p:nvSpPr>
          <p:spPr>
            <a:xfrm>
              <a:off x="300722" y="2501325"/>
              <a:ext cx="2462018" cy="5760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216000" tIns="36000" rIns="72000" bIns="36000" anchor="ctr" anchorCtr="0">
              <a:noAutofit/>
            </a:bodyPr>
            <a:lstStyle/>
            <a:p>
              <a:pPr algn="ctr"/>
              <a:r>
                <a:rPr lang="en-GB"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SYSTEM</a:t>
              </a:r>
            </a:p>
            <a:p>
              <a:pPr algn="ctr"/>
              <a:r>
                <a:rPr lang="en-GB"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MONITORING</a:t>
              </a:r>
              <a:endParaRPr lang="en-GB"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13" name="Rectángulo 12"/>
            <p:cNvSpPr/>
            <p:nvPr/>
          </p:nvSpPr>
          <p:spPr>
            <a:xfrm>
              <a:off x="3120574" y="1806525"/>
              <a:ext cx="8799738" cy="1965600"/>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US" b="1" kern="50" dirty="0" smtClean="0">
                  <a:solidFill>
                    <a:srgbClr val="016357"/>
                  </a:solidFill>
                  <a:latin typeface="Calibri" panose="020F0502020204030204" pitchFamily="34" charset="0"/>
                  <a:cs typeface="Calibri" panose="020F0502020204030204" pitchFamily="34" charset="0"/>
                </a:rPr>
                <a:t>CHECK_MK </a:t>
              </a:r>
              <a:r>
                <a:rPr lang="en-US" b="1" kern="50" dirty="0">
                  <a:solidFill>
                    <a:srgbClr val="016357"/>
                  </a:solidFill>
                  <a:latin typeface="Calibri" panose="020F0502020204030204" pitchFamily="34" charset="0"/>
                  <a:cs typeface="Calibri" panose="020F0502020204030204" pitchFamily="34" charset="0"/>
                </a:rPr>
                <a:t>and PROMETEUS</a:t>
              </a:r>
              <a:r>
                <a:rPr lang="en-US" kern="50" dirty="0">
                  <a:latin typeface="Calibri" panose="020F0502020204030204" pitchFamily="34" charset="0"/>
                  <a:cs typeface="Calibri" panose="020F0502020204030204" pitchFamily="34" charset="0"/>
                </a:rPr>
                <a:t> tools will be implemented for system monitoring </a:t>
              </a:r>
              <a:r>
                <a:rPr lang="en-US" kern="50" dirty="0" smtClean="0">
                  <a:latin typeface="Calibri" panose="020F0502020204030204" pitchFamily="34" charset="0"/>
                  <a:cs typeface="Calibri" panose="020F0502020204030204" pitchFamily="34" charset="0"/>
                </a:rPr>
                <a:t>- determine </a:t>
              </a:r>
              <a:r>
                <a:rPr lang="en-US" kern="50" dirty="0">
                  <a:latin typeface="Calibri" panose="020F0502020204030204" pitchFamily="34" charset="0"/>
                  <a:cs typeface="Calibri" panose="020F0502020204030204" pitchFamily="34" charset="0"/>
                </a:rPr>
                <a:t>abnormal situations in the system such as several errors on the same operation, low performance … </a:t>
              </a:r>
              <a:r>
                <a:rPr lang="en-US" kern="50" dirty="0" smtClean="0">
                  <a:latin typeface="Calibri" panose="020F0502020204030204" pitchFamily="34" charset="0"/>
                  <a:cs typeface="Calibri" panose="020F0502020204030204" pitchFamily="34" charset="0"/>
                </a:rPr>
                <a:t>Automatic alerts </a:t>
              </a:r>
              <a:r>
                <a:rPr lang="en-US" kern="50" dirty="0">
                  <a:latin typeface="Calibri" panose="020F0502020204030204" pitchFamily="34" charset="0"/>
                  <a:cs typeface="Calibri" panose="020F0502020204030204" pitchFamily="34" charset="0"/>
                </a:rPr>
                <a:t>and actions can be set, i.e. increasing the number of M</a:t>
              </a:r>
              <a:r>
                <a:rPr lang="en-US" kern="50" dirty="0" smtClean="0">
                  <a:latin typeface="Calibri" panose="020F0502020204030204" pitchFamily="34" charset="0"/>
                  <a:cs typeface="Calibri" panose="020F0502020204030204" pitchFamily="34" charset="0"/>
                </a:rPr>
                <a:t>icroservice instances </a:t>
              </a:r>
              <a:r>
                <a:rPr lang="en-US" kern="50" dirty="0">
                  <a:latin typeface="Calibri" panose="020F0502020204030204" pitchFamily="34" charset="0"/>
                  <a:cs typeface="Calibri" panose="020F0502020204030204" pitchFamily="34" charset="0"/>
                </a:rPr>
                <a:t>in case of low performance</a:t>
              </a:r>
            </a:p>
            <a:p>
              <a:pPr marL="185738" lvl="1" indent="-185738">
                <a:spcBef>
                  <a:spcPts val="300"/>
                </a:spcBef>
                <a:spcAft>
                  <a:spcPts val="600"/>
                </a:spcAft>
                <a:buFont typeface="Arial" panose="020B0604020202020204" pitchFamily="34" charset="0"/>
                <a:buChar char="•"/>
              </a:pPr>
              <a:r>
                <a:rPr lang="en-US" b="1" kern="50" dirty="0" smtClean="0">
                  <a:solidFill>
                    <a:srgbClr val="016357"/>
                  </a:solidFill>
                  <a:latin typeface="Calibri" panose="020F0502020204030204" pitchFamily="34" charset="0"/>
                  <a:cs typeface="Calibri" panose="020F0502020204030204" pitchFamily="34" charset="0"/>
                </a:rPr>
                <a:t>GRAYLOG</a:t>
              </a:r>
              <a:r>
                <a:rPr lang="en-US" kern="50" dirty="0" smtClean="0">
                  <a:latin typeface="Calibri" panose="020F0502020204030204" pitchFamily="34" charset="0"/>
                  <a:cs typeface="Calibri" panose="020F0502020204030204" pitchFamily="34" charset="0"/>
                </a:rPr>
                <a:t> is Log </a:t>
              </a:r>
              <a:r>
                <a:rPr lang="en-US" kern="50" dirty="0">
                  <a:latin typeface="Calibri" panose="020F0502020204030204" pitchFamily="34" charset="0"/>
                  <a:cs typeface="Calibri" panose="020F0502020204030204" pitchFamily="34" charset="0"/>
                </a:rPr>
                <a:t>Console </a:t>
              </a:r>
              <a:r>
                <a:rPr lang="en-US" kern="50" dirty="0" smtClean="0">
                  <a:latin typeface="Calibri" panose="020F0502020204030204" pitchFamily="34" charset="0"/>
                  <a:cs typeface="Calibri" panose="020F0502020204030204" pitchFamily="34" charset="0"/>
                </a:rPr>
                <a:t>that will be used to </a:t>
              </a:r>
              <a:r>
                <a:rPr lang="en-US" kern="50" dirty="0">
                  <a:latin typeface="Calibri" panose="020F0502020204030204" pitchFamily="34" charset="0"/>
                  <a:cs typeface="Calibri" panose="020F0502020204030204" pitchFamily="34" charset="0"/>
                </a:rPr>
                <a:t>monitor all running Microservice Instances</a:t>
              </a:r>
            </a:p>
            <a:p>
              <a:pPr marL="185738" lvl="1" indent="-185738">
                <a:spcBef>
                  <a:spcPts val="300"/>
                </a:spcBef>
                <a:spcAft>
                  <a:spcPts val="600"/>
                </a:spcAft>
                <a:buFont typeface="Arial" panose="020B0604020202020204" pitchFamily="34" charset="0"/>
                <a:buChar char="•"/>
              </a:pPr>
              <a:r>
                <a:rPr lang="en-US" b="1" kern="50" dirty="0" smtClean="0">
                  <a:solidFill>
                    <a:srgbClr val="016357"/>
                  </a:solidFill>
                  <a:latin typeface="Calibri" panose="020F0502020204030204" pitchFamily="34" charset="0"/>
                  <a:cs typeface="Calibri" panose="020F0502020204030204" pitchFamily="34" charset="0"/>
                </a:rPr>
                <a:t>ZIPKIN</a:t>
              </a:r>
              <a:r>
                <a:rPr lang="en-US" kern="50" dirty="0" smtClean="0">
                  <a:latin typeface="Calibri" panose="020F0502020204030204" pitchFamily="34" charset="0"/>
                  <a:cs typeface="Calibri" panose="020F0502020204030204" pitchFamily="34" charset="0"/>
                </a:rPr>
                <a:t> Is an online </a:t>
              </a:r>
              <a:r>
                <a:rPr lang="en-US" kern="50" dirty="0">
                  <a:latin typeface="Calibri" panose="020F0502020204030204" pitchFamily="34" charset="0"/>
                  <a:cs typeface="Calibri" panose="020F0502020204030204" pitchFamily="34" charset="0"/>
                </a:rPr>
                <a:t>console </a:t>
              </a:r>
              <a:r>
                <a:rPr lang="en-US" kern="50" dirty="0" smtClean="0">
                  <a:latin typeface="Calibri" panose="020F0502020204030204" pitchFamily="34" charset="0"/>
                  <a:cs typeface="Calibri" panose="020F0502020204030204" pitchFamily="34" charset="0"/>
                </a:rPr>
                <a:t>tool </a:t>
              </a:r>
              <a:r>
                <a:rPr lang="en-US" kern="50" dirty="0" smtClean="0">
                  <a:latin typeface="Calibri" panose="020F0502020204030204" pitchFamily="34" charset="0"/>
                  <a:cs typeface="Calibri" panose="020F0502020204030204" pitchFamily="34" charset="0"/>
                </a:rPr>
                <a:t>to monitor Transactions amongst </a:t>
              </a:r>
              <a:r>
                <a:rPr lang="en-US" kern="50" dirty="0" err="1" smtClean="0">
                  <a:latin typeface="Calibri" panose="020F0502020204030204" pitchFamily="34" charset="0"/>
                  <a:cs typeface="Calibri" panose="020F0502020204030204" pitchFamily="34" charset="0"/>
                </a:rPr>
                <a:t>Mircoservices</a:t>
              </a:r>
              <a:r>
                <a:rPr lang="en-US" kern="50" dirty="0" smtClean="0">
                  <a:latin typeface="Calibri" panose="020F0502020204030204" pitchFamily="34" charset="0"/>
                  <a:cs typeface="Calibri" panose="020F0502020204030204" pitchFamily="34" charset="0"/>
                </a:rPr>
                <a:t> </a:t>
              </a:r>
              <a:endParaRPr lang="en-US" kern="50" dirty="0">
                <a:latin typeface="Calibri" panose="020F0502020204030204" pitchFamily="34" charset="0"/>
                <a:cs typeface="Calibri" panose="020F0502020204030204" pitchFamily="34" charset="0"/>
              </a:endParaRPr>
            </a:p>
          </p:txBody>
        </p:sp>
        <p:sp>
          <p:nvSpPr>
            <p:cNvPr id="14" name="Elipse 13"/>
            <p:cNvSpPr/>
            <p:nvPr/>
          </p:nvSpPr>
          <p:spPr>
            <a:xfrm>
              <a:off x="133702" y="2613888"/>
              <a:ext cx="348342" cy="350875"/>
            </a:xfrm>
            <a:prstGeom prst="ellipse">
              <a:avLst/>
            </a:prstGeom>
            <a:solidFill>
              <a:srgbClr val="016357"/>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s-ES" sz="1400" b="1" dirty="0" smtClean="0"/>
                <a:t>2</a:t>
              </a:r>
              <a:endParaRPr lang="es-ES" sz="1400" b="1" dirty="0"/>
            </a:p>
          </p:txBody>
        </p:sp>
        <p:cxnSp>
          <p:nvCxnSpPr>
            <p:cNvPr id="15" name="Conector recto 14"/>
            <p:cNvCxnSpPr/>
            <p:nvPr/>
          </p:nvCxnSpPr>
          <p:spPr>
            <a:xfrm>
              <a:off x="2762740" y="2789325"/>
              <a:ext cx="357834" cy="0"/>
            </a:xfrm>
            <a:prstGeom prst="line">
              <a:avLst/>
            </a:prstGeom>
            <a:ln>
              <a:solidFill>
                <a:srgbClr val="016357"/>
              </a:solidFill>
            </a:ln>
          </p:spPr>
          <p:style>
            <a:lnRef idx="1">
              <a:schemeClr val="accent1"/>
            </a:lnRef>
            <a:fillRef idx="0">
              <a:schemeClr val="accent1"/>
            </a:fillRef>
            <a:effectRef idx="0">
              <a:schemeClr val="accent1"/>
            </a:effectRef>
            <a:fontRef idx="minor">
              <a:schemeClr val="tx1"/>
            </a:fontRef>
          </p:style>
        </p:cxnSp>
      </p:grpSp>
      <p:grpSp>
        <p:nvGrpSpPr>
          <p:cNvPr id="16" name="Grupo 15"/>
          <p:cNvGrpSpPr/>
          <p:nvPr/>
        </p:nvGrpSpPr>
        <p:grpSpPr>
          <a:xfrm>
            <a:off x="133702" y="5818943"/>
            <a:ext cx="11786610" cy="903600"/>
            <a:chOff x="133702" y="5061843"/>
            <a:chExt cx="11786610" cy="903600"/>
          </a:xfrm>
        </p:grpSpPr>
        <p:sp>
          <p:nvSpPr>
            <p:cNvPr id="17" name="Rectángulo 16"/>
            <p:cNvSpPr/>
            <p:nvPr/>
          </p:nvSpPr>
          <p:spPr>
            <a:xfrm>
              <a:off x="300722" y="5225643"/>
              <a:ext cx="2462018" cy="576000"/>
            </a:xfrm>
            <a:prstGeom prst="rect">
              <a:avLst/>
            </a:prstGeom>
            <a:solidFill>
              <a:schemeClr val="accent1">
                <a:lumMod val="75000"/>
              </a:schemeClr>
            </a:solidFill>
            <a:ln w="6350">
              <a:solidFill>
                <a:srgbClr val="016357"/>
              </a:solidFill>
            </a:ln>
            <a:effectLst>
              <a:outerShdw blurRad="50800" dist="38100" algn="l" rotWithShape="0">
                <a:prstClr val="black">
                  <a:alpha val="40000"/>
                </a:prstClr>
              </a:outerShdw>
            </a:effectLst>
          </p:spPr>
          <p:txBody>
            <a:bodyPr wrap="square" lIns="216000" tIns="36000" rIns="72000" bIns="36000" anchor="ctr" anchorCtr="0">
              <a:noAutofit/>
            </a:bodyPr>
            <a:lstStyle/>
            <a:p>
              <a:pPr algn="ctr"/>
              <a:r>
                <a:rPr lang="en-GB"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rPr>
                <a:t>USER ACCESS AND MANAGEMENT</a:t>
              </a:r>
            </a:p>
          </p:txBody>
        </p:sp>
        <p:sp>
          <p:nvSpPr>
            <p:cNvPr id="18" name="Rectángulo 17"/>
            <p:cNvSpPr/>
            <p:nvPr/>
          </p:nvSpPr>
          <p:spPr>
            <a:xfrm>
              <a:off x="3120574" y="5061843"/>
              <a:ext cx="8799738" cy="903600"/>
            </a:xfrm>
            <a:prstGeom prst="rect">
              <a:avLst/>
            </a:prstGeom>
            <a:solidFill>
              <a:schemeClr val="bg1"/>
            </a:solidFill>
            <a:ln w="6350">
              <a:solidFill>
                <a:schemeClr val="accent1">
                  <a:lumMod val="75000"/>
                </a:schemeClr>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US" b="1" kern="50" dirty="0" smtClean="0">
                  <a:solidFill>
                    <a:schemeClr val="accent1">
                      <a:lumMod val="75000"/>
                    </a:schemeClr>
                  </a:solidFill>
                  <a:latin typeface="Calibri" panose="020F0502020204030204" pitchFamily="34" charset="0"/>
                  <a:cs typeface="Calibri" panose="020F0502020204030204" pitchFamily="34" charset="0"/>
                </a:rPr>
                <a:t>KEYCLOAK Integration and EU Login</a:t>
              </a:r>
              <a:r>
                <a:rPr lang="en-US" kern="50" dirty="0" smtClean="0">
                  <a:solidFill>
                    <a:schemeClr val="accent1">
                      <a:lumMod val="75000"/>
                    </a:schemeClr>
                  </a:solidFill>
                  <a:latin typeface="Calibri" panose="020F0502020204030204" pitchFamily="34" charset="0"/>
                  <a:cs typeface="Calibri" panose="020F0502020204030204" pitchFamily="34" charset="0"/>
                </a:rPr>
                <a:t> </a:t>
              </a:r>
              <a:r>
                <a:rPr lang="en-US" kern="50" dirty="0" smtClean="0">
                  <a:latin typeface="Calibri" panose="020F0502020204030204" pitchFamily="34" charset="0"/>
                  <a:cs typeface="Calibri" panose="020F0502020204030204" pitchFamily="34" charset="0"/>
                </a:rPr>
                <a:t>The EU Login test service has been deployed and used in the current local ALTIA test environment and performance problems have been encountered. Disconnected for now waiting to test in the EEA </a:t>
              </a:r>
              <a:r>
                <a:rPr lang="en-US" kern="50" dirty="0" smtClean="0">
                  <a:latin typeface="Calibri" panose="020F0502020204030204" pitchFamily="34" charset="0"/>
                  <a:cs typeface="Calibri" panose="020F0502020204030204" pitchFamily="34" charset="0"/>
                </a:rPr>
                <a:t>environment.</a:t>
              </a:r>
              <a:endParaRPr lang="en-US" kern="50" dirty="0">
                <a:latin typeface="Calibri" panose="020F0502020204030204" pitchFamily="34" charset="0"/>
                <a:cs typeface="Calibri" panose="020F0502020204030204" pitchFamily="34" charset="0"/>
              </a:endParaRPr>
            </a:p>
          </p:txBody>
        </p:sp>
        <p:sp>
          <p:nvSpPr>
            <p:cNvPr id="19" name="Elipse 18"/>
            <p:cNvSpPr/>
            <p:nvPr/>
          </p:nvSpPr>
          <p:spPr>
            <a:xfrm>
              <a:off x="133702" y="5338206"/>
              <a:ext cx="348342" cy="350875"/>
            </a:xfrm>
            <a:prstGeom prst="ellipse">
              <a:avLst/>
            </a:prstGeom>
            <a:solidFill>
              <a:schemeClr val="accent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s-ES" sz="1400" b="1" dirty="0"/>
                <a:t>5</a:t>
              </a:r>
            </a:p>
          </p:txBody>
        </p:sp>
        <p:cxnSp>
          <p:nvCxnSpPr>
            <p:cNvPr id="20" name="Conector recto 19"/>
            <p:cNvCxnSpPr/>
            <p:nvPr/>
          </p:nvCxnSpPr>
          <p:spPr>
            <a:xfrm>
              <a:off x="2762740" y="5513643"/>
              <a:ext cx="35783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1" name="Grupo 20"/>
          <p:cNvGrpSpPr/>
          <p:nvPr/>
        </p:nvGrpSpPr>
        <p:grpSpPr>
          <a:xfrm>
            <a:off x="133702" y="4943973"/>
            <a:ext cx="11786609" cy="630000"/>
            <a:chOff x="133702" y="6158501"/>
            <a:chExt cx="11786609" cy="630000"/>
          </a:xfrm>
        </p:grpSpPr>
        <p:sp>
          <p:nvSpPr>
            <p:cNvPr id="22" name="Rectángulo 21"/>
            <p:cNvSpPr/>
            <p:nvPr/>
          </p:nvSpPr>
          <p:spPr>
            <a:xfrm>
              <a:off x="300722" y="6185501"/>
              <a:ext cx="2461507" cy="576000"/>
            </a:xfrm>
            <a:prstGeom prst="rect">
              <a:avLst/>
            </a:prstGeom>
            <a:solidFill>
              <a:schemeClr val="accent1">
                <a:lumMod val="75000"/>
              </a:schemeClr>
            </a:solidFill>
            <a:ln w="6350">
              <a:solidFill>
                <a:srgbClr val="016357"/>
              </a:solidFill>
            </a:ln>
            <a:effectLst>
              <a:outerShdw blurRad="50800" dist="38100" algn="l" rotWithShape="0">
                <a:prstClr val="black">
                  <a:alpha val="40000"/>
                </a:prstClr>
              </a:outerShdw>
            </a:effectLst>
          </p:spPr>
          <p:txBody>
            <a:bodyPr wrap="square" lIns="216000" tIns="36000" rIns="72000" bIns="36000" anchor="ctr" anchorCtr="0">
              <a:noAutofit/>
            </a:bodyPr>
            <a:lstStyle/>
            <a:p>
              <a:pPr algn="ctr"/>
              <a:r>
                <a:rPr lang="en-GB"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rPr>
                <a:t>EVENT &amp; LOG MANAGEMENT</a:t>
              </a:r>
            </a:p>
          </p:txBody>
        </p:sp>
        <p:sp>
          <p:nvSpPr>
            <p:cNvPr id="23" name="Rectángulo 22"/>
            <p:cNvSpPr/>
            <p:nvPr/>
          </p:nvSpPr>
          <p:spPr>
            <a:xfrm>
              <a:off x="3120573" y="6158501"/>
              <a:ext cx="8799738" cy="630000"/>
            </a:xfrm>
            <a:prstGeom prst="rect">
              <a:avLst/>
            </a:prstGeom>
            <a:solidFill>
              <a:schemeClr val="bg1"/>
            </a:solidFill>
            <a:ln w="6350">
              <a:solidFill>
                <a:schemeClr val="accent1">
                  <a:lumMod val="75000"/>
                </a:schemeClr>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GB" b="1" kern="50" dirty="0" smtClean="0">
                  <a:solidFill>
                    <a:schemeClr val="accent1">
                      <a:lumMod val="75000"/>
                    </a:schemeClr>
                  </a:solidFill>
                  <a:latin typeface="Calibri" panose="020F0502020204030204" pitchFamily="34" charset="0"/>
                  <a:cs typeface="Calibri" panose="020F0502020204030204" pitchFamily="34" charset="0"/>
                </a:rPr>
                <a:t>ELASTIC SEARCH</a:t>
              </a:r>
              <a:r>
                <a:rPr lang="en-GB" kern="50" dirty="0" smtClean="0">
                  <a:solidFill>
                    <a:schemeClr val="accent1">
                      <a:lumMod val="75000"/>
                    </a:schemeClr>
                  </a:solidFill>
                  <a:latin typeface="Calibri" panose="020F0502020204030204" pitchFamily="34" charset="0"/>
                  <a:cs typeface="Calibri" panose="020F0502020204030204" pitchFamily="34" charset="0"/>
                </a:rPr>
                <a:t> </a:t>
              </a:r>
              <a:r>
                <a:rPr lang="en-GB" kern="50" dirty="0" smtClean="0">
                  <a:latin typeface="Calibri" panose="020F0502020204030204" pitchFamily="34" charset="0"/>
                  <a:cs typeface="Calibri" panose="020F0502020204030204" pitchFamily="34" charset="0"/>
                </a:rPr>
                <a:t>Is going to be the engine to store “events” and to implement system search features. </a:t>
              </a:r>
              <a:r>
                <a:rPr lang="en-GB" kern="50" dirty="0" smtClean="0">
                  <a:latin typeface="Calibri" panose="020F0502020204030204" pitchFamily="34" charset="0"/>
                  <a:cs typeface="Calibri" panose="020F0502020204030204" pitchFamily="34" charset="0"/>
                </a:rPr>
                <a:t> Will be used by Index Search Service.</a:t>
              </a:r>
              <a:endParaRPr lang="en-GB" kern="50" dirty="0">
                <a:latin typeface="Calibri" panose="020F0502020204030204" pitchFamily="34" charset="0"/>
                <a:cs typeface="Calibri" panose="020F0502020204030204" pitchFamily="34" charset="0"/>
              </a:endParaRPr>
            </a:p>
          </p:txBody>
        </p:sp>
        <p:sp>
          <p:nvSpPr>
            <p:cNvPr id="24" name="Elipse 23"/>
            <p:cNvSpPr/>
            <p:nvPr/>
          </p:nvSpPr>
          <p:spPr>
            <a:xfrm>
              <a:off x="133702" y="6298064"/>
              <a:ext cx="348342" cy="350875"/>
            </a:xfrm>
            <a:prstGeom prst="ellipse">
              <a:avLst/>
            </a:prstGeom>
            <a:solidFill>
              <a:schemeClr val="accent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s-ES" sz="1400" b="1" dirty="0"/>
                <a:t>4</a:t>
              </a:r>
            </a:p>
          </p:txBody>
        </p:sp>
        <p:cxnSp>
          <p:nvCxnSpPr>
            <p:cNvPr id="25" name="Conector recto 24"/>
            <p:cNvCxnSpPr/>
            <p:nvPr/>
          </p:nvCxnSpPr>
          <p:spPr>
            <a:xfrm>
              <a:off x="2762229" y="6473501"/>
              <a:ext cx="35834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 name="Grupo 25"/>
          <p:cNvGrpSpPr/>
          <p:nvPr/>
        </p:nvGrpSpPr>
        <p:grpSpPr>
          <a:xfrm>
            <a:off x="133702" y="4069004"/>
            <a:ext cx="11786610" cy="630000"/>
            <a:chOff x="133702" y="4020084"/>
            <a:chExt cx="11786610" cy="630000"/>
          </a:xfrm>
        </p:grpSpPr>
        <p:sp>
          <p:nvSpPr>
            <p:cNvPr id="27" name="Rectángulo 26"/>
            <p:cNvSpPr/>
            <p:nvPr/>
          </p:nvSpPr>
          <p:spPr>
            <a:xfrm>
              <a:off x="300722" y="4047084"/>
              <a:ext cx="2462018" cy="5760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216000" tIns="36000" rIns="72000" bIns="36000" anchor="ctr" anchorCtr="0">
              <a:noAutofit/>
            </a:bodyPr>
            <a:lstStyle/>
            <a:p>
              <a:pPr algn="ctr"/>
              <a:r>
                <a:rPr lang="en-GB"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DISASTER</a:t>
              </a:r>
            </a:p>
            <a:p>
              <a:pPr algn="ctr"/>
              <a:r>
                <a:rPr lang="en-GB"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RECOVERY</a:t>
              </a:r>
              <a:endParaRPr lang="en-GB"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28" name="Rectángulo 27"/>
            <p:cNvSpPr/>
            <p:nvPr/>
          </p:nvSpPr>
          <p:spPr>
            <a:xfrm>
              <a:off x="3120574" y="4020084"/>
              <a:ext cx="8799738" cy="630000"/>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US" b="1" kern="50" dirty="0" smtClean="0">
                  <a:solidFill>
                    <a:srgbClr val="016357"/>
                  </a:solidFill>
                  <a:latin typeface="Calibri" panose="020F0502020204030204" pitchFamily="34" charset="0"/>
                  <a:cs typeface="Calibri" panose="020F0502020204030204" pitchFamily="34" charset="0"/>
                </a:rPr>
                <a:t>FAULT TOLERANCE</a:t>
              </a:r>
              <a:r>
                <a:rPr lang="en-US" kern="50" dirty="0" smtClean="0">
                  <a:latin typeface="Calibri" panose="020F0502020204030204" pitchFamily="34" charset="0"/>
                  <a:cs typeface="Calibri" panose="020F0502020204030204" pitchFamily="34" charset="0"/>
                </a:rPr>
                <a:t> MONGO </a:t>
              </a:r>
              <a:r>
                <a:rPr lang="en-US" kern="50" dirty="0">
                  <a:latin typeface="Calibri" panose="020F0502020204030204" pitchFamily="34" charset="0"/>
                  <a:cs typeface="Calibri" panose="020F0502020204030204" pitchFamily="34" charset="0"/>
                </a:rPr>
                <a:t>DB (Schema </a:t>
              </a:r>
              <a:r>
                <a:rPr lang="en-US" kern="50" dirty="0" smtClean="0">
                  <a:latin typeface="Calibri" panose="020F0502020204030204" pitchFamily="34" charset="0"/>
                  <a:cs typeface="Calibri" panose="020F0502020204030204" pitchFamily="34" charset="0"/>
                </a:rPr>
                <a:t>Definition) </a:t>
              </a:r>
              <a:r>
                <a:rPr lang="en-US" kern="50" dirty="0">
                  <a:latin typeface="Calibri" panose="020F0502020204030204" pitchFamily="34" charset="0"/>
                  <a:cs typeface="Calibri" panose="020F0502020204030204" pitchFamily="34" charset="0"/>
                </a:rPr>
                <a:t>Fault </a:t>
              </a:r>
              <a:r>
                <a:rPr lang="en-US" kern="50" dirty="0" smtClean="0">
                  <a:latin typeface="Calibri" panose="020F0502020204030204" pitchFamily="34" charset="0"/>
                  <a:cs typeface="Calibri" panose="020F0502020204030204" pitchFamily="34" charset="0"/>
                </a:rPr>
                <a:t>Tolerance options are being investigating in </a:t>
              </a:r>
              <a:r>
                <a:rPr lang="en-US" kern="50" dirty="0">
                  <a:latin typeface="Calibri" panose="020F0502020204030204" pitchFamily="34" charset="0"/>
                  <a:cs typeface="Calibri" panose="020F0502020204030204" pitchFamily="34" charset="0"/>
                </a:rPr>
                <a:t>order to </a:t>
              </a:r>
              <a:r>
                <a:rPr lang="en-US" kern="50" dirty="0" smtClean="0">
                  <a:latin typeface="Calibri" panose="020F0502020204030204" pitchFamily="34" charset="0"/>
                  <a:cs typeface="Calibri" panose="020F0502020204030204" pitchFamily="34" charset="0"/>
                </a:rPr>
                <a:t>ensure efficient disaster </a:t>
              </a:r>
              <a:r>
                <a:rPr lang="en-US" kern="50" dirty="0">
                  <a:latin typeface="Calibri" panose="020F0502020204030204" pitchFamily="34" charset="0"/>
                  <a:cs typeface="Calibri" panose="020F0502020204030204" pitchFamily="34" charset="0"/>
                </a:rPr>
                <a:t>recovery </a:t>
              </a:r>
              <a:r>
                <a:rPr lang="en-US" kern="50" dirty="0" smtClean="0">
                  <a:latin typeface="Calibri" panose="020F0502020204030204" pitchFamily="34" charset="0"/>
                  <a:cs typeface="Calibri" panose="020F0502020204030204" pitchFamily="34" charset="0"/>
                </a:rPr>
                <a:t>processes (leveraging </a:t>
              </a:r>
              <a:r>
                <a:rPr lang="en-US" kern="50" dirty="0">
                  <a:latin typeface="Calibri" panose="020F0502020204030204" pitchFamily="34" charset="0"/>
                  <a:cs typeface="Calibri" panose="020F0502020204030204" pitchFamily="34" charset="0"/>
                </a:rPr>
                <a:t>HELM </a:t>
              </a:r>
              <a:r>
                <a:rPr lang="en-US" kern="50" dirty="0" smtClean="0">
                  <a:latin typeface="Calibri" panose="020F0502020204030204" pitchFamily="34" charset="0"/>
                  <a:cs typeface="Calibri" panose="020F0502020204030204" pitchFamily="34" charset="0"/>
                </a:rPr>
                <a:t>3)</a:t>
              </a:r>
              <a:endParaRPr lang="en-US" kern="50" dirty="0">
                <a:latin typeface="Calibri" panose="020F0502020204030204" pitchFamily="34" charset="0"/>
                <a:cs typeface="Calibri" panose="020F0502020204030204" pitchFamily="34" charset="0"/>
              </a:endParaRPr>
            </a:p>
          </p:txBody>
        </p:sp>
        <p:sp>
          <p:nvSpPr>
            <p:cNvPr id="29" name="Elipse 28"/>
            <p:cNvSpPr/>
            <p:nvPr/>
          </p:nvSpPr>
          <p:spPr>
            <a:xfrm>
              <a:off x="133702" y="4159647"/>
              <a:ext cx="348342" cy="350875"/>
            </a:xfrm>
            <a:prstGeom prst="ellipse">
              <a:avLst/>
            </a:prstGeom>
            <a:solidFill>
              <a:srgbClr val="016357"/>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r>
                <a:rPr lang="es-ES" sz="1400" b="1" dirty="0" smtClean="0"/>
                <a:t>3</a:t>
              </a:r>
              <a:endParaRPr lang="es-ES" sz="1400" b="1" dirty="0"/>
            </a:p>
          </p:txBody>
        </p:sp>
        <p:cxnSp>
          <p:nvCxnSpPr>
            <p:cNvPr id="30" name="Conector recto 29"/>
            <p:cNvCxnSpPr/>
            <p:nvPr/>
          </p:nvCxnSpPr>
          <p:spPr>
            <a:xfrm>
              <a:off x="2762740" y="4335084"/>
              <a:ext cx="357834" cy="0"/>
            </a:xfrm>
            <a:prstGeom prst="line">
              <a:avLst/>
            </a:prstGeom>
            <a:ln>
              <a:solidFill>
                <a:srgbClr val="01635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8378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anim calcmode="lin" valueType="num">
                                      <p:cBhvr>
                                        <p:cTn id="29" dur="1000" fill="hold"/>
                                        <p:tgtEl>
                                          <p:spTgt spid="21"/>
                                        </p:tgtEl>
                                        <p:attrNameLst>
                                          <p:attrName>ppt_x</p:attrName>
                                        </p:attrNameLst>
                                      </p:cBhvr>
                                      <p:tavLst>
                                        <p:tav tm="0">
                                          <p:val>
                                            <p:strVal val="#ppt_x"/>
                                          </p:val>
                                        </p:tav>
                                        <p:tav tm="100000">
                                          <p:val>
                                            <p:strVal val="#ppt_x"/>
                                          </p:val>
                                        </p:tav>
                                      </p:tavLst>
                                    </p:anim>
                                    <p:anim calcmode="lin" valueType="num">
                                      <p:cBhvr>
                                        <p:cTn id="3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14</a:t>
            </a:fld>
            <a:endParaRPr lang="en-US" dirty="0">
              <a:solidFill>
                <a:schemeClr val="bg1"/>
              </a:solidFill>
            </a:endParaRPr>
          </a:p>
        </p:txBody>
      </p:sp>
      <p:sp>
        <p:nvSpPr>
          <p:cNvPr id="4" name="Paralelogramo 3"/>
          <p:cNvSpPr/>
          <p:nvPr/>
        </p:nvSpPr>
        <p:spPr>
          <a:xfrm>
            <a:off x="1503680" y="66259"/>
            <a:ext cx="3185295"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600" b="1" dirty="0" smtClean="0">
                <a:solidFill>
                  <a:srgbClr val="016357"/>
                </a:solidFill>
              </a:rPr>
              <a:t>System &amp; </a:t>
            </a:r>
            <a:r>
              <a:rPr lang="en-GB" sz="1600" b="1" dirty="0">
                <a:solidFill>
                  <a:srgbClr val="016357"/>
                </a:solidFill>
              </a:rPr>
              <a:t>Architecture Updates</a:t>
            </a:r>
          </a:p>
        </p:txBody>
      </p:sp>
      <p:sp>
        <p:nvSpPr>
          <p:cNvPr id="5" name="Rectángulo 4"/>
          <p:cNvSpPr/>
          <p:nvPr/>
        </p:nvSpPr>
        <p:spPr>
          <a:xfrm>
            <a:off x="1265215" y="126269"/>
            <a:ext cx="10858642" cy="523220"/>
          </a:xfrm>
          <a:prstGeom prst="rect">
            <a:avLst/>
          </a:prstGeom>
        </p:spPr>
        <p:txBody>
          <a:bodyPr wrap="square">
            <a:spAutoFit/>
          </a:bodyPr>
          <a:lstStyle/>
          <a:p>
            <a:pPr algn="r">
              <a:spcBef>
                <a:spcPts val="300"/>
              </a:spcBef>
              <a:spcAft>
                <a:spcPts val="300"/>
              </a:spcAft>
            </a:pPr>
            <a:r>
              <a:rPr lang="en-US" sz="2800" dirty="0">
                <a:solidFill>
                  <a:schemeClr val="bg1"/>
                </a:solidFill>
                <a:latin typeface="Calibri" panose="020F0502020204030204" pitchFamily="34" charset="0"/>
              </a:rPr>
              <a:t>Update on the </a:t>
            </a:r>
            <a:r>
              <a:rPr lang="en-US" sz="2800" dirty="0" smtClean="0">
                <a:solidFill>
                  <a:schemeClr val="bg1"/>
                </a:solidFill>
                <a:latin typeface="Calibri" panose="020F0502020204030204" pitchFamily="34" charset="0"/>
              </a:rPr>
              <a:t>Architecture and SW </a:t>
            </a:r>
            <a:r>
              <a:rPr lang="en-US" sz="2800" dirty="0">
                <a:solidFill>
                  <a:schemeClr val="bg1"/>
                </a:solidFill>
                <a:latin typeface="Calibri" panose="020F0502020204030204" pitchFamily="34" charset="0"/>
              </a:rPr>
              <a:t>D</a:t>
            </a:r>
            <a:r>
              <a:rPr lang="en-US" sz="2800" dirty="0" smtClean="0">
                <a:solidFill>
                  <a:schemeClr val="bg1"/>
                </a:solidFill>
                <a:latin typeface="Calibri" panose="020F0502020204030204" pitchFamily="34" charset="0"/>
              </a:rPr>
              <a:t>evelopment</a:t>
            </a:r>
            <a:endParaRPr lang="es-ES" sz="2800" kern="50" dirty="0">
              <a:solidFill>
                <a:schemeClr val="bg1"/>
              </a:solidFill>
              <a:latin typeface="Verdana" panose="020B0604030504040204" pitchFamily="34" charset="0"/>
              <a:ea typeface="Times New Roman" panose="02020603050405020304" pitchFamily="18" charset="0"/>
              <a:cs typeface="CG Times (W1)"/>
            </a:endParaRPr>
          </a:p>
        </p:txBody>
      </p:sp>
      <p:sp>
        <p:nvSpPr>
          <p:cNvPr id="6" name="Rectángulo 5"/>
          <p:cNvSpPr/>
          <p:nvPr/>
        </p:nvSpPr>
        <p:spPr>
          <a:xfrm>
            <a:off x="169674" y="1140500"/>
            <a:ext cx="11687364" cy="430887"/>
          </a:xfrm>
          <a:prstGeom prst="rect">
            <a:avLst/>
          </a:prstGeom>
          <a:ln>
            <a:noFill/>
          </a:ln>
        </p:spPr>
        <p:txBody>
          <a:bodyPr wrap="square">
            <a:spAutoFit/>
          </a:bodyPr>
          <a:lstStyle/>
          <a:p>
            <a:pPr>
              <a:spcAft>
                <a:spcPts val="800"/>
              </a:spcAft>
            </a:pPr>
            <a:r>
              <a:rPr lang="en-GB" sz="2200" b="1" kern="50" dirty="0" smtClean="0">
                <a:solidFill>
                  <a:schemeClr val="accent1">
                    <a:lumMod val="75000"/>
                  </a:schemeClr>
                </a:solidFill>
                <a:latin typeface="Calibri" panose="020F0502020204030204" pitchFamily="34" charset="0"/>
                <a:ea typeface="Times New Roman" panose="02020603050405020304" pitchFamily="18" charset="0"/>
                <a:cs typeface="Calibri" panose="020F0502020204030204" pitchFamily="34" charset="0"/>
              </a:rPr>
              <a:t>EEA Production and Test Environments for Reportnet 3.0</a:t>
            </a:r>
          </a:p>
        </p:txBody>
      </p:sp>
      <p:sp>
        <p:nvSpPr>
          <p:cNvPr id="7" name="Rectángulo 6"/>
          <p:cNvSpPr/>
          <p:nvPr/>
        </p:nvSpPr>
        <p:spPr>
          <a:xfrm>
            <a:off x="169923" y="2918503"/>
            <a:ext cx="3828992" cy="3297360"/>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Planned for January</a:t>
            </a:r>
          </a:p>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Documentation </a:t>
            </a:r>
            <a:r>
              <a:rPr lang="en-US" sz="1600" kern="50" dirty="0">
                <a:latin typeface="Calibri" panose="020F0502020204030204" pitchFamily="34" charset="0"/>
                <a:cs typeface="Calibri" panose="020F0502020204030204" pitchFamily="34" charset="0"/>
              </a:rPr>
              <a:t>and automated scripts </a:t>
            </a:r>
            <a:r>
              <a:rPr lang="en-US" sz="1600" kern="50" dirty="0" smtClean="0">
                <a:latin typeface="Calibri" panose="020F0502020204030204" pitchFamily="34" charset="0"/>
                <a:cs typeface="Calibri" panose="020F0502020204030204" pitchFamily="34" charset="0"/>
              </a:rPr>
              <a:t>are ready to </a:t>
            </a:r>
            <a:r>
              <a:rPr lang="en-US" sz="1600" kern="50" dirty="0">
                <a:latin typeface="Calibri" panose="020F0502020204030204" pitchFamily="34" charset="0"/>
                <a:cs typeface="Calibri" panose="020F0502020204030204" pitchFamily="34" charset="0"/>
              </a:rPr>
              <a:t>deploy and configure the TEST and PRODUCTION ENVIRONMENTS </a:t>
            </a:r>
            <a:r>
              <a:rPr lang="en-US" sz="1600" kern="50" dirty="0" smtClean="0">
                <a:latin typeface="Calibri" panose="020F0502020204030204" pitchFamily="34" charset="0"/>
                <a:cs typeface="Calibri" panose="020F0502020204030204" pitchFamily="34" charset="0"/>
              </a:rPr>
              <a:t>on EEA </a:t>
            </a:r>
            <a:r>
              <a:rPr lang="en-US" sz="1600" kern="50" dirty="0">
                <a:latin typeface="Calibri" panose="020F0502020204030204" pitchFamily="34" charset="0"/>
                <a:cs typeface="Calibri" panose="020F0502020204030204" pitchFamily="34" charset="0"/>
              </a:rPr>
              <a:t>Infrastructure </a:t>
            </a:r>
            <a:endParaRPr lang="en-US" sz="1600" kern="50" dirty="0" smtClean="0">
              <a:latin typeface="Calibri" panose="020F0502020204030204" pitchFamily="34" charset="0"/>
              <a:cs typeface="Calibri" panose="020F0502020204030204" pitchFamily="34" charset="0"/>
            </a:endParaRPr>
          </a:p>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For now </a:t>
            </a:r>
            <a:r>
              <a:rPr lang="en-US" sz="1600" kern="50" dirty="0">
                <a:latin typeface="Calibri" panose="020F0502020204030204" pitchFamily="34" charset="0"/>
                <a:cs typeface="Calibri" panose="020F0502020204030204" pitchFamily="34" charset="0"/>
              </a:rPr>
              <a:t>all development and testing has been done on infrastructure at ALTIA Data Centre). </a:t>
            </a:r>
            <a:endParaRPr lang="en-US" sz="1600" kern="50" dirty="0" smtClean="0">
              <a:latin typeface="Calibri" panose="020F0502020204030204" pitchFamily="34" charset="0"/>
              <a:cs typeface="Calibri" panose="020F0502020204030204" pitchFamily="34" charset="0"/>
            </a:endParaRPr>
          </a:p>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An </a:t>
            </a:r>
            <a:r>
              <a:rPr lang="en-US" sz="1600" kern="50" dirty="0">
                <a:latin typeface="Calibri" panose="020F0502020204030204" pitchFamily="34" charset="0"/>
                <a:cs typeface="Calibri" panose="020F0502020204030204" pitchFamily="34" charset="0"/>
              </a:rPr>
              <a:t>on site visit is planned for January to support the roll out of these environments at the EEA premises.</a:t>
            </a:r>
          </a:p>
        </p:txBody>
      </p:sp>
      <p:sp>
        <p:nvSpPr>
          <p:cNvPr id="8" name="Rectángulo 7"/>
          <p:cNvSpPr/>
          <p:nvPr/>
        </p:nvSpPr>
        <p:spPr>
          <a:xfrm>
            <a:off x="4188677" y="2918503"/>
            <a:ext cx="3828992" cy="3297360"/>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Deployed at EEA</a:t>
            </a:r>
            <a:endParaRPr lang="en-US" sz="1600" kern="50" dirty="0" smtClean="0">
              <a:latin typeface="Calibri" panose="020F0502020204030204" pitchFamily="34" charset="0"/>
              <a:cs typeface="Calibri" panose="020F0502020204030204" pitchFamily="34" charset="0"/>
            </a:endParaRPr>
          </a:p>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We </a:t>
            </a:r>
            <a:r>
              <a:rPr lang="en-US" sz="1600" kern="50" dirty="0">
                <a:latin typeface="Calibri" panose="020F0502020204030204" pitchFamily="34" charset="0"/>
                <a:cs typeface="Calibri" panose="020F0502020204030204" pitchFamily="34" charset="0"/>
              </a:rPr>
              <a:t>have worked with the EEA (Antonio De </a:t>
            </a:r>
            <a:r>
              <a:rPr lang="en-US" sz="1600" kern="50" dirty="0" err="1">
                <a:latin typeface="Calibri" panose="020F0502020204030204" pitchFamily="34" charset="0"/>
                <a:cs typeface="Calibri" panose="020F0502020204030204" pitchFamily="34" charset="0"/>
              </a:rPr>
              <a:t>Marinis</a:t>
            </a:r>
            <a:r>
              <a:rPr lang="en-US" sz="1600" kern="50" dirty="0">
                <a:latin typeface="Calibri" panose="020F0502020204030204" pitchFamily="34" charset="0"/>
                <a:cs typeface="Calibri" panose="020F0502020204030204" pitchFamily="34" charset="0"/>
              </a:rPr>
              <a:t>) to prepare the Continuous Integration Process. </a:t>
            </a:r>
            <a:endParaRPr lang="en-US" sz="1600" kern="50" dirty="0" smtClean="0">
              <a:latin typeface="Calibri" panose="020F0502020204030204" pitchFamily="34" charset="0"/>
              <a:cs typeface="Calibri" panose="020F0502020204030204" pitchFamily="34" charset="0"/>
            </a:endParaRPr>
          </a:p>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Right </a:t>
            </a:r>
            <a:r>
              <a:rPr lang="en-US" sz="1600" kern="50" dirty="0">
                <a:latin typeface="Calibri" panose="020F0502020204030204" pitchFamily="34" charset="0"/>
                <a:cs typeface="Calibri" panose="020F0502020204030204" pitchFamily="34" charset="0"/>
              </a:rPr>
              <a:t>now all code is sent form the ALTIA CI </a:t>
            </a:r>
            <a:r>
              <a:rPr lang="en-US" sz="1600" kern="50" dirty="0" smtClean="0">
                <a:latin typeface="Calibri" panose="020F0502020204030204" pitchFamily="34" charset="0"/>
                <a:cs typeface="Calibri" panose="020F0502020204030204" pitchFamily="34" charset="0"/>
              </a:rPr>
              <a:t>to EEA </a:t>
            </a:r>
            <a:r>
              <a:rPr lang="en-US" sz="1600" kern="50" dirty="0">
                <a:latin typeface="Calibri" panose="020F0502020204030204" pitchFamily="34" charset="0"/>
                <a:cs typeface="Calibri" panose="020F0502020204030204" pitchFamily="34" charset="0"/>
              </a:rPr>
              <a:t>CI </a:t>
            </a:r>
            <a:r>
              <a:rPr lang="en-US" sz="1600" kern="50" dirty="0" smtClean="0">
                <a:latin typeface="Calibri" panose="020F0502020204030204" pitchFamily="34" charset="0"/>
                <a:cs typeface="Calibri" panose="020F0502020204030204" pitchFamily="34" charset="0"/>
              </a:rPr>
              <a:t>environment.</a:t>
            </a:r>
          </a:p>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Includes:</a:t>
            </a:r>
          </a:p>
          <a:p>
            <a:pPr marL="642938" lvl="2"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System Builds</a:t>
            </a:r>
          </a:p>
          <a:p>
            <a:pPr marL="642938" lvl="2"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Automated SW QC and reports</a:t>
            </a:r>
            <a:endParaRPr lang="en-US" sz="1600" kern="50" dirty="0">
              <a:latin typeface="Calibri" panose="020F0502020204030204" pitchFamily="34" charset="0"/>
              <a:cs typeface="Calibri" panose="020F0502020204030204" pitchFamily="34" charset="0"/>
            </a:endParaRPr>
          </a:p>
        </p:txBody>
      </p:sp>
      <p:sp>
        <p:nvSpPr>
          <p:cNvPr id="9" name="Rectángulo 8"/>
          <p:cNvSpPr/>
          <p:nvPr/>
        </p:nvSpPr>
        <p:spPr>
          <a:xfrm>
            <a:off x="8207433" y="2918503"/>
            <a:ext cx="3828992" cy="3297360"/>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GB" sz="1600" kern="50" dirty="0" smtClean="0">
                <a:latin typeface="Calibri" panose="020F0502020204030204" pitchFamily="34" charset="0"/>
                <a:cs typeface="Calibri" panose="020F0502020204030204" pitchFamily="34" charset="0"/>
              </a:rPr>
              <a:t>Kubernetes </a:t>
            </a:r>
            <a:r>
              <a:rPr lang="en-GB" sz="1600" kern="50" dirty="0">
                <a:latin typeface="Calibri" panose="020F0502020204030204" pitchFamily="34" charset="0"/>
                <a:cs typeface="Calibri" panose="020F0502020204030204" pitchFamily="34" charset="0"/>
              </a:rPr>
              <a:t>is the tool used by the EEA for managing “</a:t>
            </a:r>
            <a:r>
              <a:rPr lang="en-GB" sz="1600" kern="50" dirty="0" smtClean="0">
                <a:latin typeface="Calibri" panose="020F0502020204030204" pitchFamily="34" charset="0"/>
                <a:cs typeface="Calibri" panose="020F0502020204030204" pitchFamily="34" charset="0"/>
              </a:rPr>
              <a:t>Containers”</a:t>
            </a:r>
          </a:p>
          <a:p>
            <a:pPr marL="185738" lvl="1" indent="-185738">
              <a:spcBef>
                <a:spcPts val="300"/>
              </a:spcBef>
              <a:spcAft>
                <a:spcPts val="600"/>
              </a:spcAft>
              <a:buFont typeface="Arial" panose="020B0604020202020204" pitchFamily="34" charset="0"/>
              <a:buChar char="•"/>
            </a:pPr>
            <a:r>
              <a:rPr lang="en-GB" sz="1600" kern="50" dirty="0" smtClean="0">
                <a:latin typeface="Calibri" panose="020F0502020204030204" pitchFamily="34" charset="0"/>
                <a:cs typeface="Calibri" panose="020F0502020204030204" pitchFamily="34" charset="0"/>
              </a:rPr>
              <a:t>All </a:t>
            </a:r>
            <a:r>
              <a:rPr lang="en-GB" sz="1600" kern="50" dirty="0" err="1" smtClean="0">
                <a:latin typeface="Calibri" panose="020F0502020204030204" pitchFamily="34" charset="0"/>
                <a:cs typeface="Calibri" panose="020F0502020204030204" pitchFamily="34" charset="0"/>
              </a:rPr>
              <a:t>Repornet</a:t>
            </a:r>
            <a:r>
              <a:rPr lang="en-GB" sz="1600" kern="50" dirty="0" smtClean="0">
                <a:latin typeface="Calibri" panose="020F0502020204030204" pitchFamily="34" charset="0"/>
                <a:cs typeface="Calibri" panose="020F0502020204030204" pitchFamily="34" charset="0"/>
              </a:rPr>
              <a:t> 3.0 system components will be deployed in Containers</a:t>
            </a:r>
          </a:p>
          <a:p>
            <a:pPr marL="185738" lvl="1" indent="-185738">
              <a:spcBef>
                <a:spcPts val="300"/>
              </a:spcBef>
              <a:spcAft>
                <a:spcPts val="600"/>
              </a:spcAft>
              <a:buFont typeface="Arial" panose="020B0604020202020204" pitchFamily="34" charset="0"/>
              <a:buChar char="•"/>
            </a:pPr>
            <a:r>
              <a:rPr lang="en-GB" sz="1600" kern="50" dirty="0" smtClean="0">
                <a:latin typeface="Calibri" panose="020F0502020204030204" pitchFamily="34" charset="0"/>
                <a:cs typeface="Calibri" panose="020F0502020204030204" pitchFamily="34" charset="0"/>
              </a:rPr>
              <a:t>We </a:t>
            </a:r>
            <a:r>
              <a:rPr lang="en-GB" sz="1600" kern="50" dirty="0" smtClean="0">
                <a:latin typeface="Calibri" panose="020F0502020204030204" pitchFamily="34" charset="0"/>
                <a:cs typeface="Calibri" panose="020F0502020204030204" pitchFamily="34" charset="0"/>
              </a:rPr>
              <a:t>are</a:t>
            </a:r>
            <a:r>
              <a:rPr lang="en-GB" sz="1600" kern="50" dirty="0" smtClean="0">
                <a:latin typeface="Calibri" panose="020F0502020204030204" pitchFamily="34" charset="0"/>
                <a:cs typeface="Calibri" panose="020F0502020204030204" pitchFamily="34" charset="0"/>
              </a:rPr>
              <a:t> working </a:t>
            </a:r>
            <a:r>
              <a:rPr lang="en-GB" sz="1600" kern="50" dirty="0">
                <a:latin typeface="Calibri" panose="020F0502020204030204" pitchFamily="34" charset="0"/>
                <a:cs typeface="Calibri" panose="020F0502020204030204" pitchFamily="34" charset="0"/>
              </a:rPr>
              <a:t>jointly with the EEA using HELM3 to configure the container </a:t>
            </a:r>
            <a:r>
              <a:rPr lang="en-GB" sz="1600" kern="50" dirty="0" smtClean="0">
                <a:latin typeface="Calibri" panose="020F0502020204030204" pitchFamily="34" charset="0"/>
                <a:cs typeface="Calibri" panose="020F0502020204030204" pitchFamily="34" charset="0"/>
              </a:rPr>
              <a:t>environment </a:t>
            </a:r>
            <a:r>
              <a:rPr lang="en-GB" sz="1600" kern="50" dirty="0">
                <a:latin typeface="Calibri" panose="020F0502020204030204" pitchFamily="34" charset="0"/>
                <a:cs typeface="Calibri" panose="020F0502020204030204" pitchFamily="34" charset="0"/>
              </a:rPr>
              <a:t>for </a:t>
            </a:r>
            <a:r>
              <a:rPr lang="en-GB" sz="1600" kern="50" dirty="0" err="1">
                <a:latin typeface="Calibri" panose="020F0502020204030204" pitchFamily="34" charset="0"/>
                <a:cs typeface="Calibri" panose="020F0502020204030204" pitchFamily="34" charset="0"/>
              </a:rPr>
              <a:t>Reportent</a:t>
            </a:r>
            <a:r>
              <a:rPr lang="en-GB" sz="1600" kern="50" dirty="0">
                <a:latin typeface="Calibri" panose="020F0502020204030204" pitchFamily="34" charset="0"/>
                <a:cs typeface="Calibri" panose="020F0502020204030204" pitchFamily="34" charset="0"/>
              </a:rPr>
              <a:t> 3.0. </a:t>
            </a:r>
            <a:endParaRPr lang="en-GB" sz="1600" kern="50" dirty="0" smtClean="0">
              <a:latin typeface="Calibri" panose="020F0502020204030204" pitchFamily="34" charset="0"/>
              <a:cs typeface="Calibri" panose="020F0502020204030204" pitchFamily="34" charset="0"/>
            </a:endParaRPr>
          </a:p>
          <a:p>
            <a:pPr marL="185738" lvl="1" indent="-185738">
              <a:spcBef>
                <a:spcPts val="300"/>
              </a:spcBef>
              <a:spcAft>
                <a:spcPts val="600"/>
              </a:spcAft>
              <a:buFont typeface="Arial" panose="020B0604020202020204" pitchFamily="34" charset="0"/>
              <a:buChar char="•"/>
            </a:pPr>
            <a:r>
              <a:rPr lang="en-GB" sz="1600" kern="50" dirty="0" smtClean="0">
                <a:latin typeface="Calibri" panose="020F0502020204030204" pitchFamily="34" charset="0"/>
                <a:cs typeface="Calibri" panose="020F0502020204030204" pitchFamily="34" charset="0"/>
              </a:rPr>
              <a:t>The scripts </a:t>
            </a:r>
            <a:r>
              <a:rPr lang="en-GB" sz="1600" kern="50" dirty="0">
                <a:latin typeface="Calibri" panose="020F0502020204030204" pitchFamily="34" charset="0"/>
                <a:cs typeface="Calibri" panose="020F0502020204030204" pitchFamily="34" charset="0"/>
              </a:rPr>
              <a:t>for deploying all Microservices </a:t>
            </a:r>
            <a:r>
              <a:rPr lang="en-GB" sz="1600" kern="50" dirty="0" smtClean="0">
                <a:latin typeface="Calibri" panose="020F0502020204030204" pitchFamily="34" charset="0"/>
                <a:cs typeface="Calibri" panose="020F0502020204030204" pitchFamily="34" charset="0"/>
              </a:rPr>
              <a:t>in Containers are ready.</a:t>
            </a:r>
          </a:p>
          <a:p>
            <a:pPr marL="185738" lvl="1" indent="-185738">
              <a:spcBef>
                <a:spcPts val="300"/>
              </a:spcBef>
              <a:spcAft>
                <a:spcPts val="600"/>
              </a:spcAft>
              <a:buFont typeface="Arial" panose="020B0604020202020204" pitchFamily="34" charset="0"/>
              <a:buChar char="•"/>
            </a:pPr>
            <a:r>
              <a:rPr lang="en-GB" sz="1600" kern="50" dirty="0" smtClean="0">
                <a:latin typeface="Calibri" panose="020F0502020204030204" pitchFamily="34" charset="0"/>
                <a:cs typeface="Calibri" panose="020F0502020204030204" pitchFamily="34" charset="0"/>
              </a:rPr>
              <a:t>Working on deploy of other components in Containers</a:t>
            </a:r>
            <a:endParaRPr lang="en-GB" sz="1600" kern="50" dirty="0">
              <a:latin typeface="Calibri" panose="020F0502020204030204" pitchFamily="34" charset="0"/>
              <a:cs typeface="Calibri" panose="020F0502020204030204" pitchFamily="34" charset="0"/>
            </a:endParaRPr>
          </a:p>
        </p:txBody>
      </p:sp>
      <p:sp>
        <p:nvSpPr>
          <p:cNvPr id="10" name="Rectángulo 9"/>
          <p:cNvSpPr/>
          <p:nvPr/>
        </p:nvSpPr>
        <p:spPr>
          <a:xfrm>
            <a:off x="155574" y="2032678"/>
            <a:ext cx="3843340" cy="4518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72000" tIns="36000" rIns="72000" bIns="36000" anchor="ctr" anchorCtr="0">
            <a:noAutofit/>
          </a:bodyPr>
          <a:lstStyle/>
          <a:p>
            <a:pPr algn="ctr">
              <a:spcBef>
                <a:spcPts val="300"/>
              </a:spcBef>
              <a:spcAft>
                <a:spcPts val="800"/>
              </a:spcAft>
            </a:pPr>
            <a:r>
              <a:rPr lang="en-GB" sz="1900"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TEST/PRODUCTION ENVIRONMENT</a:t>
            </a:r>
            <a:endParaRPr lang="en-GB" sz="1900"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11" name="Rectángulo 10"/>
          <p:cNvSpPr/>
          <p:nvPr/>
        </p:nvSpPr>
        <p:spPr>
          <a:xfrm>
            <a:off x="4181502" y="2032678"/>
            <a:ext cx="3843340" cy="4518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72000" tIns="36000" rIns="72000" bIns="36000" anchor="ctr" anchorCtr="0">
            <a:noAutofit/>
          </a:bodyPr>
          <a:lstStyle/>
          <a:p>
            <a:pPr algn="ctr">
              <a:spcBef>
                <a:spcPts val="300"/>
              </a:spcBef>
              <a:spcAft>
                <a:spcPts val="800"/>
              </a:spcAft>
            </a:pPr>
            <a:r>
              <a:rPr lang="en-GB" sz="1900"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CONTINUOS INTEGRATION</a:t>
            </a:r>
            <a:endParaRPr lang="en-GB" sz="1900"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12" name="Rectángulo 11"/>
          <p:cNvSpPr/>
          <p:nvPr/>
        </p:nvSpPr>
        <p:spPr>
          <a:xfrm>
            <a:off x="8193084" y="2032678"/>
            <a:ext cx="3843340" cy="4518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0" tIns="36000" rIns="0" bIns="36000" anchor="ctr" anchorCtr="0">
            <a:noAutofit/>
          </a:bodyPr>
          <a:lstStyle/>
          <a:p>
            <a:pPr algn="ctr">
              <a:spcBef>
                <a:spcPts val="300"/>
              </a:spcBef>
              <a:spcAft>
                <a:spcPts val="800"/>
              </a:spcAft>
            </a:pPr>
            <a:r>
              <a:rPr lang="en-GB" sz="1900"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CONTAINER MGMT KUBERNETES</a:t>
            </a:r>
            <a:endParaRPr lang="en-GB" sz="1900"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338839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echa derecha 9"/>
          <p:cNvSpPr/>
          <p:nvPr/>
        </p:nvSpPr>
        <p:spPr>
          <a:xfrm rot="5400000">
            <a:off x="350370" y="1179244"/>
            <a:ext cx="366060" cy="263692"/>
          </a:xfrm>
          <a:prstGeom prst="rightArrow">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endParaRPr lang="es-ES" sz="2000" b="1">
              <a:solidFill>
                <a:schemeClr val="bg1"/>
              </a:solidFill>
              <a:latin typeface="Calibri" panose="020F0502020204030204" pitchFamily="34" charset="0"/>
            </a:endParaRPr>
          </a:p>
        </p:txBody>
      </p:sp>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15</a:t>
            </a:fld>
            <a:endParaRPr lang="en-US" dirty="0">
              <a:solidFill>
                <a:schemeClr val="bg1"/>
              </a:solidFill>
            </a:endParaRPr>
          </a:p>
        </p:txBody>
      </p:sp>
      <p:sp>
        <p:nvSpPr>
          <p:cNvPr id="16" name="Rectángulo 15"/>
          <p:cNvSpPr/>
          <p:nvPr/>
        </p:nvSpPr>
        <p:spPr>
          <a:xfrm>
            <a:off x="231132" y="1498031"/>
            <a:ext cx="2463870" cy="1043189"/>
          </a:xfrm>
          <a:prstGeom prst="rect">
            <a:avLst/>
          </a:prstGeom>
          <a:solidFill>
            <a:schemeClr val="accent4">
              <a:lumMod val="20000"/>
              <a:lumOff val="80000"/>
            </a:schemeClr>
          </a:solid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US" sz="1600" dirty="0">
                <a:solidFill>
                  <a:schemeClr val="accent4">
                    <a:lumMod val="50000"/>
                  </a:schemeClr>
                </a:solidFill>
                <a:latin typeface="Calibri" panose="020F0502020204030204" pitchFamily="34" charset="0"/>
              </a:rPr>
              <a:t>Step </a:t>
            </a:r>
            <a:r>
              <a:rPr lang="en-US" sz="1600" dirty="0" smtClean="0">
                <a:solidFill>
                  <a:schemeClr val="accent4">
                    <a:lumMod val="50000"/>
                  </a:schemeClr>
                </a:solidFill>
                <a:latin typeface="Calibri" panose="020F0502020204030204" pitchFamily="34" charset="0"/>
              </a:rPr>
              <a:t>4</a:t>
            </a:r>
          </a:p>
          <a:p>
            <a:pPr algn="ctr"/>
            <a:r>
              <a:rPr lang="en-US" sz="1600" dirty="0" smtClean="0">
                <a:solidFill>
                  <a:schemeClr val="accent4">
                    <a:lumMod val="50000"/>
                  </a:schemeClr>
                </a:solidFill>
                <a:latin typeface="Calibri" panose="020F0502020204030204" pitchFamily="34" charset="0"/>
              </a:rPr>
              <a:t>Explaining </a:t>
            </a:r>
            <a:r>
              <a:rPr lang="en-US" sz="1600" dirty="0">
                <a:solidFill>
                  <a:schemeClr val="accent4">
                    <a:lumMod val="50000"/>
                  </a:schemeClr>
                </a:solidFill>
                <a:latin typeface="Calibri" panose="020F0502020204030204" pitchFamily="34" charset="0"/>
              </a:rPr>
              <a:t>the </a:t>
            </a:r>
            <a:r>
              <a:rPr lang="en-US" sz="1600" dirty="0" smtClean="0">
                <a:solidFill>
                  <a:schemeClr val="accent4">
                    <a:lumMod val="50000"/>
                  </a:schemeClr>
                </a:solidFill>
                <a:latin typeface="Calibri" panose="020F0502020204030204" pitchFamily="34" charset="0"/>
              </a:rPr>
              <a:t>reporting Obligations in Practice</a:t>
            </a:r>
            <a:endParaRPr lang="es-ES" sz="1600" dirty="0">
              <a:solidFill>
                <a:schemeClr val="accent4">
                  <a:lumMod val="50000"/>
                </a:schemeClr>
              </a:solidFill>
            </a:endParaRPr>
          </a:p>
        </p:txBody>
      </p:sp>
      <p:grpSp>
        <p:nvGrpSpPr>
          <p:cNvPr id="9" name="Grupo 8"/>
          <p:cNvGrpSpPr/>
          <p:nvPr/>
        </p:nvGrpSpPr>
        <p:grpSpPr>
          <a:xfrm>
            <a:off x="219306" y="927289"/>
            <a:ext cx="11713514" cy="288000"/>
            <a:chOff x="277982" y="927289"/>
            <a:chExt cx="8986713" cy="288000"/>
          </a:xfrm>
        </p:grpSpPr>
        <p:sp>
          <p:nvSpPr>
            <p:cNvPr id="28" name="Rectángulo 27"/>
            <p:cNvSpPr/>
            <p:nvPr/>
          </p:nvSpPr>
          <p:spPr>
            <a:xfrm>
              <a:off x="3300988"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5</a:t>
              </a:r>
            </a:p>
          </p:txBody>
        </p:sp>
        <p:sp>
          <p:nvSpPr>
            <p:cNvPr id="29" name="Rectángulo 28"/>
            <p:cNvSpPr/>
            <p:nvPr/>
          </p:nvSpPr>
          <p:spPr>
            <a:xfrm>
              <a:off x="277982" y="927289"/>
              <a:ext cx="1429200" cy="288000"/>
            </a:xfrm>
            <a:prstGeom prst="rect">
              <a:avLst/>
            </a:prstGeom>
            <a:solidFill>
              <a:schemeClr val="accent4">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US" sz="2000" b="1" dirty="0">
                  <a:solidFill>
                    <a:schemeClr val="bg1"/>
                  </a:solidFill>
                  <a:latin typeface="Calibri" panose="020F0502020204030204" pitchFamily="34" charset="0"/>
                </a:rPr>
                <a:t>Step 4</a:t>
              </a:r>
            </a:p>
          </p:txBody>
        </p:sp>
        <p:sp>
          <p:nvSpPr>
            <p:cNvPr id="30" name="Rectángulo 29"/>
            <p:cNvSpPr/>
            <p:nvPr/>
          </p:nvSpPr>
          <p:spPr>
            <a:xfrm>
              <a:off x="4812491"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7 </a:t>
              </a:r>
              <a:endParaRPr lang="en-US" sz="1600" dirty="0" smtClean="0">
                <a:solidFill>
                  <a:schemeClr val="tx1">
                    <a:lumMod val="50000"/>
                    <a:lumOff val="50000"/>
                  </a:schemeClr>
                </a:solidFill>
                <a:latin typeface="Calibri" panose="020F0502020204030204" pitchFamily="34" charset="0"/>
              </a:endParaRPr>
            </a:p>
          </p:txBody>
        </p:sp>
        <p:sp>
          <p:nvSpPr>
            <p:cNvPr id="31" name="Rectángulo 30"/>
            <p:cNvSpPr/>
            <p:nvPr/>
          </p:nvSpPr>
          <p:spPr>
            <a:xfrm>
              <a:off x="6323994"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8 </a:t>
              </a:r>
            </a:p>
          </p:txBody>
        </p:sp>
        <p:sp>
          <p:nvSpPr>
            <p:cNvPr id="32" name="Rectángulo 31"/>
            <p:cNvSpPr/>
            <p:nvPr/>
          </p:nvSpPr>
          <p:spPr>
            <a:xfrm>
              <a:off x="7835495"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a:t>
              </a:r>
              <a:r>
                <a:rPr lang="en-US" sz="1600" dirty="0" smtClean="0">
                  <a:solidFill>
                    <a:schemeClr val="tx1">
                      <a:lumMod val="50000"/>
                      <a:lumOff val="50000"/>
                    </a:schemeClr>
                  </a:solidFill>
                  <a:latin typeface="Calibri" panose="020F0502020204030204" pitchFamily="34" charset="0"/>
                </a:rPr>
                <a:t>9</a:t>
              </a:r>
              <a:endParaRPr lang="es-ES" sz="1600" dirty="0">
                <a:solidFill>
                  <a:schemeClr val="tx1">
                    <a:lumMod val="50000"/>
                    <a:lumOff val="50000"/>
                  </a:schemeClr>
                </a:solidFill>
                <a:latin typeface="Calibri" panose="020F0502020204030204" pitchFamily="34" charset="0"/>
              </a:endParaRPr>
            </a:p>
          </p:txBody>
        </p:sp>
        <p:sp>
          <p:nvSpPr>
            <p:cNvPr id="33" name="Rectángulo 32"/>
            <p:cNvSpPr/>
            <p:nvPr/>
          </p:nvSpPr>
          <p:spPr>
            <a:xfrm>
              <a:off x="1789485"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6</a:t>
              </a:r>
            </a:p>
          </p:txBody>
        </p:sp>
      </p:grpSp>
      <p:sp>
        <p:nvSpPr>
          <p:cNvPr id="38" name="Recortar y redondear rectángulo de esquina sencilla 37"/>
          <p:cNvSpPr>
            <a:spLocks noChangeAspect="1"/>
          </p:cNvSpPr>
          <p:nvPr/>
        </p:nvSpPr>
        <p:spPr>
          <a:xfrm>
            <a:off x="282241" y="5232184"/>
            <a:ext cx="516247" cy="252000"/>
          </a:xfrm>
          <a:prstGeom prst="snipRound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s-ES" sz="1200" b="1" dirty="0">
                <a:solidFill>
                  <a:schemeClr val="bg1"/>
                </a:solidFill>
                <a:latin typeface="Calibri" panose="020F0502020204030204" pitchFamily="34" charset="0"/>
              </a:rPr>
              <a:t>Roles</a:t>
            </a:r>
          </a:p>
        </p:txBody>
      </p:sp>
      <p:graphicFrame>
        <p:nvGraphicFramePr>
          <p:cNvPr id="40" name="Tabla 39"/>
          <p:cNvGraphicFramePr>
            <a:graphicFrameLocks noGrp="1"/>
          </p:cNvGraphicFramePr>
          <p:nvPr>
            <p:extLst>
              <p:ext uri="{D42A27DB-BD31-4B8C-83A1-F6EECF244321}">
                <p14:modId xmlns:p14="http://schemas.microsoft.com/office/powerpoint/2010/main" val="2332220090"/>
              </p:ext>
            </p:extLst>
          </p:nvPr>
        </p:nvGraphicFramePr>
        <p:xfrm>
          <a:off x="2948941" y="1494120"/>
          <a:ext cx="4770120" cy="4577299"/>
        </p:xfrm>
        <a:graphic>
          <a:graphicData uri="http://schemas.openxmlformats.org/drawingml/2006/table">
            <a:tbl>
              <a:tblPr firstRow="1" bandRow="1">
                <a:tableStyleId>{00A15C55-8517-42AA-B614-E9B94910E393}</a:tableStyleId>
              </a:tblPr>
              <a:tblGrid>
                <a:gridCol w="204884">
                  <a:extLst>
                    <a:ext uri="{9D8B030D-6E8A-4147-A177-3AD203B41FA5}">
                      <a16:colId xmlns:a16="http://schemas.microsoft.com/office/drawing/2014/main" val="3917562794"/>
                    </a:ext>
                  </a:extLst>
                </a:gridCol>
                <a:gridCol w="4565236">
                  <a:extLst>
                    <a:ext uri="{9D8B030D-6E8A-4147-A177-3AD203B41FA5}">
                      <a16:colId xmlns:a16="http://schemas.microsoft.com/office/drawing/2014/main" val="56879781"/>
                    </a:ext>
                  </a:extLst>
                </a:gridCol>
              </a:tblGrid>
              <a:tr h="0">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200" noProof="0" dirty="0" smtClean="0">
                          <a:latin typeface="Calibri" panose="020F0502020204030204" pitchFamily="34" charset="0"/>
                          <a:cs typeface="Calibri" panose="020F0502020204030204" pitchFamily="34" charset="0"/>
                        </a:rPr>
                        <a:t>Release</a:t>
                      </a:r>
                      <a:r>
                        <a:rPr lang="en-GB" sz="1200" baseline="0" noProof="0" dirty="0" smtClean="0">
                          <a:latin typeface="Calibri" panose="020F0502020204030204" pitchFamily="34" charset="0"/>
                          <a:cs typeface="Calibri" panose="020F0502020204030204" pitchFamily="34" charset="0"/>
                        </a:rPr>
                        <a:t> Candidate 1:  </a:t>
                      </a:r>
                      <a:r>
                        <a:rPr lang="en-GB" sz="1200" noProof="0" dirty="0" smtClean="0">
                          <a:latin typeface="Calibri" panose="020F0502020204030204" pitchFamily="34" charset="0"/>
                          <a:cs typeface="Calibri" panose="020F0502020204030204" pitchFamily="34" charset="0"/>
                        </a:rPr>
                        <a:t>STEP 4 </a:t>
                      </a:r>
                      <a:r>
                        <a:rPr lang="en-GB" sz="1200" baseline="0" noProof="0" dirty="0" smtClean="0">
                          <a:latin typeface="Calibri" panose="020F0502020204030204" pitchFamily="34" charset="0"/>
                          <a:cs typeface="Calibri" panose="020F0502020204030204" pitchFamily="34" charset="0"/>
                        </a:rPr>
                        <a:t> </a:t>
                      </a:r>
                      <a:r>
                        <a:rPr lang="en-GB" sz="1200" noProof="0" dirty="0" smtClean="0">
                          <a:latin typeface="Calibri" panose="020F0502020204030204" pitchFamily="34" charset="0"/>
                          <a:cs typeface="Calibri" panose="020F0502020204030204" pitchFamily="34" charset="0"/>
                        </a:rPr>
                        <a:t>Planned Scope</a:t>
                      </a:r>
                    </a:p>
                  </a:txBody>
                  <a:tcPr marL="36000" marR="36000" marT="72000" marB="72000" anchor="ctr"/>
                </a:tc>
                <a:tc hMerge="1">
                  <a:txBody>
                    <a:bodyPr/>
                    <a:lstStyle/>
                    <a:p>
                      <a:endParaRPr lang="es-ES"/>
                    </a:p>
                  </a:txBody>
                  <a:tcPr/>
                </a:tc>
                <a:extLst>
                  <a:ext uri="{0D108BD9-81ED-4DB2-BD59-A6C34878D82A}">
                    <a16:rowId xmlns:a16="http://schemas.microsoft.com/office/drawing/2014/main" val="469749394"/>
                  </a:ext>
                </a:extLst>
              </a:tr>
              <a:tr h="0">
                <a:tc gridSpan="2">
                  <a:txBody>
                    <a:bodyPr/>
                    <a:lstStyle/>
                    <a:p>
                      <a:pPr>
                        <a:lnSpc>
                          <a:spcPct val="107000"/>
                        </a:lnSpc>
                        <a:spcAft>
                          <a:spcPts val="0"/>
                        </a:spcAft>
                      </a:pPr>
                      <a:r>
                        <a:rPr lang="en-GB" sz="1200" b="1" noProof="0" dirty="0" smtClean="0">
                          <a:effectLst/>
                          <a:latin typeface="Calibri" panose="020F0502020204030204" pitchFamily="34" charset="0"/>
                          <a:cs typeface="Calibri" panose="020F0502020204030204" pitchFamily="34" charset="0"/>
                        </a:rPr>
                        <a:t>EP-STP4-MDF-Manage Data Flows</a:t>
                      </a:r>
                      <a:endParaRPr lang="en-GB" sz="1200" b="1" noProof="0"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72000" marB="72000" anchor="ctr"/>
                </a:tc>
                <a:tc hMerge="1">
                  <a:txBody>
                    <a:bodyPr/>
                    <a:lstStyle/>
                    <a:p>
                      <a:endParaRPr lang="es-ES"/>
                    </a:p>
                  </a:txBody>
                  <a:tcPr/>
                </a:tc>
                <a:extLst>
                  <a:ext uri="{0D108BD9-81ED-4DB2-BD59-A6C34878D82A}">
                    <a16:rowId xmlns:a16="http://schemas.microsoft.com/office/drawing/2014/main" val="3623468738"/>
                  </a:ext>
                </a:extLst>
              </a:tr>
              <a:tr h="558035">
                <a:tc>
                  <a:txBody>
                    <a:bodyPr/>
                    <a:lstStyle/>
                    <a:p>
                      <a:pPr>
                        <a:lnSpc>
                          <a:spcPct val="107000"/>
                        </a:lnSpc>
                        <a:spcAft>
                          <a:spcPts val="0"/>
                        </a:spcAft>
                      </a:pPr>
                      <a:endParaRPr lang="es-ES" sz="10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US" sz="1000" noProof="0" dirty="0" smtClean="0">
                          <a:effectLst/>
                          <a:latin typeface="Calibri" panose="020F0502020204030204" pitchFamily="34" charset="0"/>
                          <a:cs typeface="Calibri" panose="020F0502020204030204" pitchFamily="34" charset="0"/>
                        </a:rPr>
                        <a:t>US-STP4-MDF-01-Data Flow List (Sprint 9) (25%)</a:t>
                      </a:r>
                    </a:p>
                    <a:p>
                      <a:pPr>
                        <a:lnSpc>
                          <a:spcPct val="107000"/>
                        </a:lnSpc>
                        <a:spcAft>
                          <a:spcPts val="0"/>
                        </a:spcAft>
                      </a:pPr>
                      <a:r>
                        <a:rPr lang="en-US" sz="1000" noProof="0" dirty="0" smtClean="0">
                          <a:effectLst/>
                          <a:latin typeface="Calibri" panose="020F0502020204030204" pitchFamily="34" charset="0"/>
                          <a:cs typeface="Calibri" panose="020F0502020204030204" pitchFamily="34" charset="0"/>
                        </a:rPr>
                        <a:t>US-STP4-MDF-02-Create Data Flow (Sprint 9) (50%)</a:t>
                      </a:r>
                    </a:p>
                    <a:p>
                      <a:pPr>
                        <a:lnSpc>
                          <a:spcPct val="107000"/>
                        </a:lnSpc>
                        <a:spcAft>
                          <a:spcPts val="0"/>
                        </a:spcAft>
                      </a:pPr>
                      <a:r>
                        <a:rPr lang="en-US" sz="1000" noProof="0" dirty="0" smtClean="0">
                          <a:effectLst/>
                          <a:latin typeface="Calibri" panose="020F0502020204030204" pitchFamily="34" charset="0"/>
                          <a:cs typeface="Calibri" panose="020F0502020204030204" pitchFamily="34" charset="0"/>
                        </a:rPr>
                        <a:t>US-STP4-MDF-05-Update Data Flow (Sprint 10) </a:t>
                      </a:r>
                    </a:p>
                    <a:p>
                      <a:pPr>
                        <a:lnSpc>
                          <a:spcPct val="107000"/>
                        </a:lnSpc>
                        <a:spcAft>
                          <a:spcPts val="0"/>
                        </a:spcAft>
                      </a:pPr>
                      <a:r>
                        <a:rPr lang="en-US" sz="1000" noProof="0" dirty="0" smtClean="0">
                          <a:effectLst/>
                          <a:latin typeface="Calibri" panose="020F0502020204030204" pitchFamily="34" charset="0"/>
                          <a:cs typeface="Calibri" panose="020F0502020204030204" pitchFamily="34" charset="0"/>
                        </a:rPr>
                        <a:t>US-STP4-MDF-08-Delete Dataflow (Sprint 10) </a:t>
                      </a:r>
                    </a:p>
                  </a:txBody>
                  <a:tcPr marL="36000" marR="36000" marT="72000" marB="72000" anchor="ctr"/>
                </a:tc>
                <a:extLst>
                  <a:ext uri="{0D108BD9-81ED-4DB2-BD59-A6C34878D82A}">
                    <a16:rowId xmlns:a16="http://schemas.microsoft.com/office/drawing/2014/main" val="1207482829"/>
                  </a:ext>
                </a:extLst>
              </a:tr>
              <a:tr h="0">
                <a:tc gridSpan="2">
                  <a:txBody>
                    <a:bodyPr/>
                    <a:lstStyle/>
                    <a:p>
                      <a:pPr marL="0" algn="l" defTabSz="914423" rtl="0" eaLnBrk="1" latinLnBrk="0" hangingPunct="1">
                        <a:lnSpc>
                          <a:spcPct val="107000"/>
                        </a:lnSpc>
                        <a:spcAft>
                          <a:spcPts val="0"/>
                        </a:spcAft>
                      </a:pPr>
                      <a:r>
                        <a:rPr lang="en-GB" sz="1200" b="1" kern="1200" noProof="0" dirty="0" smtClean="0">
                          <a:solidFill>
                            <a:schemeClr val="dk1"/>
                          </a:solidFill>
                          <a:effectLst/>
                          <a:latin typeface="Calibri" panose="020F0502020204030204" pitchFamily="34" charset="0"/>
                          <a:ea typeface="+mn-ea"/>
                          <a:cs typeface="Calibri" panose="020F0502020204030204" pitchFamily="34" charset="0"/>
                        </a:rPr>
                        <a:t>EP-STP4-MDF-DDS-Design Data Set</a:t>
                      </a:r>
                      <a:endParaRPr lang="en-GB" sz="1200" b="1" kern="1200" noProof="0" dirty="0">
                        <a:solidFill>
                          <a:schemeClr val="dk1"/>
                        </a:solidFill>
                        <a:effectLst/>
                        <a:latin typeface="Calibri" panose="020F0502020204030204" pitchFamily="34" charset="0"/>
                        <a:ea typeface="+mn-ea"/>
                        <a:cs typeface="Calibri" panose="020F0502020204030204" pitchFamily="34" charset="0"/>
                      </a:endParaRPr>
                    </a:p>
                  </a:txBody>
                  <a:tcPr marL="36000" marR="36000" marT="72000" marB="72000" anchor="ctr"/>
                </a:tc>
                <a:tc hMerge="1">
                  <a:txBody>
                    <a:bodyPr/>
                    <a:lstStyle/>
                    <a:p>
                      <a:endParaRPr lang="es-ES"/>
                    </a:p>
                  </a:txBody>
                  <a:tcPr/>
                </a:tc>
                <a:extLst>
                  <a:ext uri="{0D108BD9-81ED-4DB2-BD59-A6C34878D82A}">
                    <a16:rowId xmlns:a16="http://schemas.microsoft.com/office/drawing/2014/main" val="3666704428"/>
                  </a:ext>
                </a:extLst>
              </a:tr>
              <a:tr h="0">
                <a:tc>
                  <a:txBody>
                    <a:bodyPr/>
                    <a:lstStyle/>
                    <a:p>
                      <a:pPr>
                        <a:lnSpc>
                          <a:spcPct val="107000"/>
                        </a:lnSpc>
                        <a:spcAft>
                          <a:spcPts val="0"/>
                        </a:spcAft>
                      </a:pPr>
                      <a:endParaRPr lang="es-ES" sz="10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US-STP4-MDF-DDS-10-Create Empty Design Data Set (Sprint 8)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US-STP4-MDF-DDS-40-Update Design Data Set (Sprint 8) (100%)</a:t>
                      </a:r>
                      <a:endParaRPr lang="en-GB" sz="1000" noProof="0"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72000" marB="72000" anchor="ctr"/>
                </a:tc>
                <a:extLst>
                  <a:ext uri="{0D108BD9-81ED-4DB2-BD59-A6C34878D82A}">
                    <a16:rowId xmlns:a16="http://schemas.microsoft.com/office/drawing/2014/main" val="3619849090"/>
                  </a:ext>
                </a:extLst>
              </a:tr>
              <a:tr h="0">
                <a:tc gridSpan="2">
                  <a:txBody>
                    <a:bodyPr/>
                    <a:lstStyle/>
                    <a:p>
                      <a:pPr marL="0" marR="0" lvl="0" indent="0" algn="l" defTabSz="914423" rtl="0" eaLnBrk="1" fontAlgn="auto" latinLnBrk="0" hangingPunct="1">
                        <a:lnSpc>
                          <a:spcPct val="107000"/>
                        </a:lnSpc>
                        <a:spcBef>
                          <a:spcPts val="0"/>
                        </a:spcBef>
                        <a:spcAft>
                          <a:spcPts val="0"/>
                        </a:spcAft>
                        <a:buClrTx/>
                        <a:buSzTx/>
                        <a:buFontTx/>
                        <a:buNone/>
                        <a:tabLst/>
                        <a:defRPr/>
                      </a:pPr>
                      <a:r>
                        <a:rPr lang="en-GB" sz="1200" b="1" kern="1200" noProof="0" dirty="0" smtClean="0">
                          <a:solidFill>
                            <a:schemeClr val="dk1"/>
                          </a:solidFill>
                          <a:effectLst/>
                          <a:latin typeface="Calibri" panose="020F0502020204030204" pitchFamily="34" charset="0"/>
                          <a:ea typeface="+mn-ea"/>
                          <a:cs typeface="Calibri" panose="020F0502020204030204" pitchFamily="34" charset="0"/>
                        </a:rPr>
                        <a:t>EP-STP4-MDF-DDS-TAB-Manage-Tables &amp; </a:t>
                      </a:r>
                    </a:p>
                    <a:p>
                      <a:pPr marL="0" marR="0" lvl="0" indent="0" algn="l" defTabSz="914423" rtl="0" eaLnBrk="1" fontAlgn="auto" latinLnBrk="0" hangingPunct="1">
                        <a:lnSpc>
                          <a:spcPct val="107000"/>
                        </a:lnSpc>
                        <a:spcBef>
                          <a:spcPts val="0"/>
                        </a:spcBef>
                        <a:spcAft>
                          <a:spcPts val="0"/>
                        </a:spcAft>
                        <a:buClrTx/>
                        <a:buSzTx/>
                        <a:buFontTx/>
                        <a:buNone/>
                        <a:tabLst/>
                        <a:defRPr/>
                      </a:pPr>
                      <a:r>
                        <a:rPr lang="en-GB" sz="1200" b="1" kern="1200" noProof="0" dirty="0" smtClean="0">
                          <a:solidFill>
                            <a:schemeClr val="dk1"/>
                          </a:solidFill>
                          <a:effectLst/>
                          <a:latin typeface="Calibri" panose="020F0502020204030204" pitchFamily="34" charset="0"/>
                          <a:ea typeface="+mn-ea"/>
                          <a:cs typeface="Calibri" panose="020F0502020204030204" pitchFamily="34" charset="0"/>
                        </a:rPr>
                        <a:t>EP-STP4-MDF-DDS-TFL-Manage-Table-Fields</a:t>
                      </a:r>
                    </a:p>
                  </a:txBody>
                  <a:tcPr marL="36000" marR="36000" marT="72000" marB="72000" anchor="ctr"/>
                </a:tc>
                <a:tc hMerge="1">
                  <a:txBody>
                    <a:bodyPr/>
                    <a:lstStyle/>
                    <a:p>
                      <a:endParaRPr lang="es-ES"/>
                    </a:p>
                  </a:txBody>
                  <a:tcPr/>
                </a:tc>
                <a:extLst>
                  <a:ext uri="{0D108BD9-81ED-4DB2-BD59-A6C34878D82A}">
                    <a16:rowId xmlns:a16="http://schemas.microsoft.com/office/drawing/2014/main" val="297698150"/>
                  </a:ext>
                </a:extLst>
              </a:tr>
              <a:tr h="763679">
                <a:tc>
                  <a:txBody>
                    <a:bodyPr/>
                    <a:lstStyle/>
                    <a:p>
                      <a:pPr>
                        <a:lnSpc>
                          <a:spcPct val="107000"/>
                        </a:lnSpc>
                        <a:spcAft>
                          <a:spcPts val="0"/>
                        </a:spcAft>
                      </a:pPr>
                      <a:endParaRPr lang="es-ES" sz="1000" b="1"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US-STP4-MDF-DDS-TAB-10-Create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Table</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into</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 Data Set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8)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US-STP4-MDF-DDS-TAB-20-Delete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Table</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from</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 Data Set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8)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US-STP4-MDF-DDS-TAB-30-Change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Table</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from</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 Data Set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US-STP4-MDF-DDS-TFL-10-Create Field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into</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Table</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Set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(50%)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US-STP4-MDF-DDS-TFL-20-Update 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Table</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Field in a Data Set (Sprint 9)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US-STP4-MDF-DDS-TFL-30-Delete Field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from</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Table</a:t>
                      </a:r>
                      <a:r>
                        <a:rPr lang="es-ES" sz="10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Data </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Set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6000" marR="36000" marT="72000" marB="72000" anchor="ctr"/>
                </a:tc>
                <a:extLst>
                  <a:ext uri="{0D108BD9-81ED-4DB2-BD59-A6C34878D82A}">
                    <a16:rowId xmlns:a16="http://schemas.microsoft.com/office/drawing/2014/main" val="4207606868"/>
                  </a:ext>
                </a:extLst>
              </a:tr>
              <a:tr h="0">
                <a:tc gridSpan="2">
                  <a:txBody>
                    <a:bodyPr/>
                    <a:lstStyle/>
                    <a:p>
                      <a:pPr marL="0" algn="l" defTabSz="914423" rtl="0" eaLnBrk="1" latinLnBrk="0" hangingPunct="1">
                        <a:lnSpc>
                          <a:spcPct val="107000"/>
                        </a:lnSpc>
                        <a:spcAft>
                          <a:spcPts val="0"/>
                        </a:spcAft>
                      </a:pPr>
                      <a:r>
                        <a:rPr lang="en-GB" sz="1200" b="1" kern="1200" noProof="0" dirty="0" smtClean="0">
                          <a:solidFill>
                            <a:schemeClr val="dk1"/>
                          </a:solidFill>
                          <a:effectLst/>
                          <a:latin typeface="Calibri" panose="020F0502020204030204" pitchFamily="34" charset="0"/>
                          <a:ea typeface="+mn-ea"/>
                          <a:cs typeface="Calibri" panose="020F0502020204030204" pitchFamily="34" charset="0"/>
                        </a:rPr>
                        <a:t>EP-STP4-MDF-DDS-TEST-Design Data Set</a:t>
                      </a:r>
                    </a:p>
                  </a:txBody>
                  <a:tcPr marL="36000" marR="36000" marT="72000" marB="72000" anchor="ctr"/>
                </a:tc>
                <a:tc hMerge="1">
                  <a:txBody>
                    <a:bodyPr/>
                    <a:lstStyle/>
                    <a:p>
                      <a:pPr>
                        <a:lnSpc>
                          <a:spcPct val="107000"/>
                        </a:lnSpc>
                        <a:spcAft>
                          <a:spcPts val="0"/>
                        </a:spcAft>
                      </a:pPr>
                      <a:endParaRPr lang="en-GB" sz="1000"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3079140222"/>
                  </a:ext>
                </a:extLst>
              </a:tr>
              <a:tr h="0">
                <a:tc>
                  <a:txBody>
                    <a:bodyPr/>
                    <a:lstStyle/>
                    <a:p>
                      <a:pPr>
                        <a:lnSpc>
                          <a:spcPct val="107000"/>
                        </a:lnSpc>
                        <a:spcAft>
                          <a:spcPts val="0"/>
                        </a:spcAft>
                      </a:pPr>
                      <a:endParaRPr lang="es-ES" sz="1000" b="1"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US-STP4-MDF-DDS-TEST-IMPORT-DATA-to-a-Design-Data-Set (Sprint 10)  </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6000" marR="36000" marT="72000" marB="72000" anchor="ctr"/>
                </a:tc>
                <a:extLst>
                  <a:ext uri="{0D108BD9-81ED-4DB2-BD59-A6C34878D82A}">
                    <a16:rowId xmlns:a16="http://schemas.microsoft.com/office/drawing/2014/main" val="1349098267"/>
                  </a:ext>
                </a:extLst>
              </a:tr>
            </a:tbl>
          </a:graphicData>
        </a:graphic>
      </p:graphicFrame>
      <p:graphicFrame>
        <p:nvGraphicFramePr>
          <p:cNvPr id="41" name="Tabla 40"/>
          <p:cNvGraphicFramePr>
            <a:graphicFrameLocks noGrp="1"/>
          </p:cNvGraphicFramePr>
          <p:nvPr>
            <p:extLst>
              <p:ext uri="{D42A27DB-BD31-4B8C-83A1-F6EECF244321}">
                <p14:modId xmlns:p14="http://schemas.microsoft.com/office/powerpoint/2010/main" val="182703554"/>
              </p:ext>
            </p:extLst>
          </p:nvPr>
        </p:nvGraphicFramePr>
        <p:xfrm>
          <a:off x="7879080" y="1494120"/>
          <a:ext cx="4184340" cy="3740314"/>
        </p:xfrm>
        <a:graphic>
          <a:graphicData uri="http://schemas.openxmlformats.org/drawingml/2006/table">
            <a:tbl>
              <a:tblPr firstRow="1" bandRow="1">
                <a:tableStyleId>{00A15C55-8517-42AA-B614-E9B94910E393}</a:tableStyleId>
              </a:tblPr>
              <a:tblGrid>
                <a:gridCol w="179724">
                  <a:extLst>
                    <a:ext uri="{9D8B030D-6E8A-4147-A177-3AD203B41FA5}">
                      <a16:colId xmlns:a16="http://schemas.microsoft.com/office/drawing/2014/main" val="3917562794"/>
                    </a:ext>
                  </a:extLst>
                </a:gridCol>
                <a:gridCol w="4004616">
                  <a:extLst>
                    <a:ext uri="{9D8B030D-6E8A-4147-A177-3AD203B41FA5}">
                      <a16:colId xmlns:a16="http://schemas.microsoft.com/office/drawing/2014/main" val="56879781"/>
                    </a:ext>
                  </a:extLst>
                </a:gridCol>
              </a:tblGrid>
              <a:tr h="0">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smtClean="0">
                          <a:ln>
                            <a:noFill/>
                          </a:ln>
                          <a:solidFill>
                            <a:prstClr val="white"/>
                          </a:solidFill>
                          <a:effectLst/>
                          <a:uLnTx/>
                          <a:uFillTx/>
                          <a:latin typeface="Calibri" panose="020F0502020204030204" pitchFamily="34" charset="0"/>
                          <a:ea typeface="+mn-ea"/>
                          <a:cs typeface="Calibri" panose="020F0502020204030204" pitchFamily="34" charset="0"/>
                        </a:rPr>
                        <a:t>Release Candidate 1:  STEP 4  Planned Scope</a:t>
                      </a:r>
                    </a:p>
                  </a:txBody>
                  <a:tcPr marL="36000" marR="36000" marT="72000" marB="72000" anchor="ctr"/>
                </a:tc>
                <a:tc hMerge="1">
                  <a:txBody>
                    <a:bodyPr/>
                    <a:lstStyle/>
                    <a:p>
                      <a:endParaRPr lang="es-ES"/>
                    </a:p>
                  </a:txBody>
                  <a:tcPr/>
                </a:tc>
                <a:extLst>
                  <a:ext uri="{0D108BD9-81ED-4DB2-BD59-A6C34878D82A}">
                    <a16:rowId xmlns:a16="http://schemas.microsoft.com/office/drawing/2014/main" val="469749394"/>
                  </a:ext>
                </a:extLst>
              </a:tr>
              <a:tr h="0">
                <a:tc gridSpan="2">
                  <a:txBody>
                    <a:bodyPr/>
                    <a:lstStyle/>
                    <a:p>
                      <a:pPr>
                        <a:lnSpc>
                          <a:spcPct val="107000"/>
                        </a:lnSpc>
                        <a:spcAft>
                          <a:spcPts val="0"/>
                        </a:spcAft>
                      </a:pPr>
                      <a:r>
                        <a:rPr lang="en-GB" sz="1200" b="1" noProof="0" dirty="0" smtClean="0">
                          <a:effectLst/>
                          <a:latin typeface="Calibri" panose="020F0502020204030204" pitchFamily="34" charset="0"/>
                          <a:cs typeface="Calibri" panose="020F0502020204030204" pitchFamily="34" charset="0"/>
                        </a:rPr>
                        <a:t>EP-STP4-MDF-DDS-SNP-Snapshots</a:t>
                      </a:r>
                      <a:endParaRPr lang="en-GB" sz="1200" b="1" noProof="0"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72000" marB="72000" anchor="ctr"/>
                </a:tc>
                <a:tc hMerge="1">
                  <a:txBody>
                    <a:bodyPr/>
                    <a:lstStyle/>
                    <a:p>
                      <a:endParaRPr lang="es-ES"/>
                    </a:p>
                  </a:txBody>
                  <a:tcPr/>
                </a:tc>
                <a:extLst>
                  <a:ext uri="{0D108BD9-81ED-4DB2-BD59-A6C34878D82A}">
                    <a16:rowId xmlns:a16="http://schemas.microsoft.com/office/drawing/2014/main" val="3623468738"/>
                  </a:ext>
                </a:extLst>
              </a:tr>
              <a:tr h="558035">
                <a:tc>
                  <a:txBody>
                    <a:bodyPr/>
                    <a:lstStyle/>
                    <a:p>
                      <a:pPr>
                        <a:lnSpc>
                          <a:spcPct val="107000"/>
                        </a:lnSpc>
                        <a:spcAft>
                          <a:spcPts val="0"/>
                        </a:spcAft>
                      </a:pPr>
                      <a:endParaRPr lang="es-ES" sz="10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US-STP4-MDF-DDS-SNP-10-Create Data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Snapshot</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(75%)</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US-STP4-MDF-DDS-SNP-20-List Data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Snapshot</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(75%)</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US-STP4-MDF-DDS-SNP-30-View Data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Snapshot</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(75%)</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US-STP4-MDF-DDS-SNP-40-Delete Data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Snapshot</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(75%)</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US-STP4-MDF-DDS-SNP-50-Restore Data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Snapshot</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(75%)</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6000" marR="36000" marT="72000" marB="72000" anchor="ctr"/>
                </a:tc>
                <a:extLst>
                  <a:ext uri="{0D108BD9-81ED-4DB2-BD59-A6C34878D82A}">
                    <a16:rowId xmlns:a16="http://schemas.microsoft.com/office/drawing/2014/main" val="1207482829"/>
                  </a:ext>
                </a:extLst>
              </a:tr>
              <a:tr h="0">
                <a:tc gridSpan="2">
                  <a:txBody>
                    <a:bodyPr/>
                    <a:lstStyle/>
                    <a:p>
                      <a:pPr marL="0" marR="0" lvl="0" indent="0" algn="l" defTabSz="914423" rtl="0" eaLnBrk="1" fontAlgn="auto" latinLnBrk="0" hangingPunct="1">
                        <a:lnSpc>
                          <a:spcPct val="107000"/>
                        </a:lnSpc>
                        <a:spcBef>
                          <a:spcPts val="0"/>
                        </a:spcBef>
                        <a:spcAft>
                          <a:spcPts val="0"/>
                        </a:spcAft>
                        <a:buClrTx/>
                        <a:buSzTx/>
                        <a:buFontTx/>
                        <a:buNone/>
                        <a:tabLst/>
                        <a:defRPr/>
                      </a:pPr>
                      <a:r>
                        <a:rPr lang="en-GB" sz="1200" b="1" noProof="0" dirty="0" smtClean="0">
                          <a:effectLst/>
                          <a:latin typeface="Calibri" panose="020F0502020204030204" pitchFamily="34" charset="0"/>
                          <a:cs typeface="Calibri" panose="020F0502020204030204" pitchFamily="34" charset="0"/>
                        </a:rPr>
                        <a:t>EP-STP4-MDF-DOC-Manage-Data Flow Supporting Documents</a:t>
                      </a:r>
                      <a:endParaRPr lang="en-GB" sz="1200" b="1"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72000" marB="72000" anchor="ctr"/>
                </a:tc>
                <a:tc hMerge="1">
                  <a:txBody>
                    <a:bodyPr/>
                    <a:lstStyle/>
                    <a:p>
                      <a:endParaRPr lang="es-ES"/>
                    </a:p>
                  </a:txBody>
                  <a:tcPr/>
                </a:tc>
                <a:extLst>
                  <a:ext uri="{0D108BD9-81ED-4DB2-BD59-A6C34878D82A}">
                    <a16:rowId xmlns:a16="http://schemas.microsoft.com/office/drawing/2014/main" val="297698150"/>
                  </a:ext>
                </a:extLst>
              </a:tr>
              <a:tr h="763679">
                <a:tc>
                  <a:txBody>
                    <a:bodyPr/>
                    <a:lstStyle/>
                    <a:p>
                      <a:pPr>
                        <a:lnSpc>
                          <a:spcPct val="107000"/>
                        </a:lnSpc>
                        <a:spcAft>
                          <a:spcPts val="0"/>
                        </a:spcAft>
                      </a:pPr>
                      <a:endParaRPr lang="es-ES" sz="1000" b="1"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US-STP4-MDF-DOC-10-View-Download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Documents</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of a Data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Flow</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4)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US-STP4-MDF-DOC-20-Create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Document</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 a Data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Flow</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(90%)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US-STP4-MDF-DOC-30-Update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Document</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 a Data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Flow</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(90%)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US-STP4-MDF-DOC-40-Delete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Document</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from</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 Data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Flow</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(Sprint 9) (90%)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US-STP4-MDF-DOC-50-List and Access Web Links (Sprint 4)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US-STP4-MDF-DOC-51-Create Web Links (Sprint 9)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US-STP4-MDF-DOC-52-Delete Web Links (Sprint 9)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US-STP4-MDF-DOC-53-Update Web Links (Sprint 9) (100%)</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US-STP4-MDF-DOC-60-Code </a:t>
                      </a:r>
                      <a:r>
                        <a:rPr lang="es-ES" sz="1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Lists</a:t>
                      </a:r>
                      <a:r>
                        <a:rPr lang="es-ES"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(8)</a:t>
                      </a:r>
                      <a:endParaRPr lang="es-E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6000" marR="36000" marT="72000" marB="72000" anchor="ctr"/>
                </a:tc>
                <a:extLst>
                  <a:ext uri="{0D108BD9-81ED-4DB2-BD59-A6C34878D82A}">
                    <a16:rowId xmlns:a16="http://schemas.microsoft.com/office/drawing/2014/main" val="4207606868"/>
                  </a:ext>
                </a:extLst>
              </a:tr>
            </a:tbl>
          </a:graphicData>
        </a:graphic>
      </p:graphicFrame>
      <p:cxnSp>
        <p:nvCxnSpPr>
          <p:cNvPr id="6" name="Conector angular 5"/>
          <p:cNvCxnSpPr>
            <a:stCxn id="10" idx="0"/>
            <a:endCxn id="40" idx="0"/>
          </p:cNvCxnSpPr>
          <p:nvPr/>
        </p:nvCxnSpPr>
        <p:spPr>
          <a:xfrm>
            <a:off x="665246" y="1362274"/>
            <a:ext cx="4668755" cy="131846"/>
          </a:xfrm>
          <a:prstGeom prst="bentConnector2">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ector angular 41"/>
          <p:cNvCxnSpPr>
            <a:stCxn id="10" idx="0"/>
            <a:endCxn id="41" idx="0"/>
          </p:cNvCxnSpPr>
          <p:nvPr/>
        </p:nvCxnSpPr>
        <p:spPr>
          <a:xfrm>
            <a:off x="665246" y="1362274"/>
            <a:ext cx="9306004" cy="131846"/>
          </a:xfrm>
          <a:prstGeom prst="bentConnector2">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5" name="Grupo 14"/>
          <p:cNvGrpSpPr/>
          <p:nvPr/>
        </p:nvGrpSpPr>
        <p:grpSpPr>
          <a:xfrm>
            <a:off x="154703" y="1887832"/>
            <a:ext cx="5478439" cy="1439605"/>
            <a:chOff x="154703" y="1887832"/>
            <a:chExt cx="5478439" cy="1439605"/>
          </a:xfrm>
        </p:grpSpPr>
        <p:sp>
          <p:nvSpPr>
            <p:cNvPr id="26" name="Rectángulo 25"/>
            <p:cNvSpPr/>
            <p:nvPr/>
          </p:nvSpPr>
          <p:spPr>
            <a:xfrm>
              <a:off x="154703" y="3155997"/>
              <a:ext cx="2544462" cy="171440"/>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Elipse 13"/>
            <p:cNvSpPr/>
            <p:nvPr/>
          </p:nvSpPr>
          <p:spPr>
            <a:xfrm>
              <a:off x="5415860" y="1887832"/>
              <a:ext cx="217282" cy="200048"/>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21" name="Grupo 20"/>
          <p:cNvGrpSpPr/>
          <p:nvPr/>
        </p:nvGrpSpPr>
        <p:grpSpPr>
          <a:xfrm>
            <a:off x="154703" y="3007010"/>
            <a:ext cx="5478439" cy="616406"/>
            <a:chOff x="154703" y="3007010"/>
            <a:chExt cx="5478439" cy="616406"/>
          </a:xfrm>
        </p:grpSpPr>
        <p:sp>
          <p:nvSpPr>
            <p:cNvPr id="24" name="Rectángulo 23"/>
            <p:cNvSpPr/>
            <p:nvPr/>
          </p:nvSpPr>
          <p:spPr>
            <a:xfrm>
              <a:off x="154703" y="3479858"/>
              <a:ext cx="2540298" cy="143558"/>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Elipse 42"/>
            <p:cNvSpPr/>
            <p:nvPr/>
          </p:nvSpPr>
          <p:spPr>
            <a:xfrm>
              <a:off x="5415860" y="3007010"/>
              <a:ext cx="217282" cy="200048"/>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18" name="Grupo 17"/>
          <p:cNvGrpSpPr/>
          <p:nvPr/>
        </p:nvGrpSpPr>
        <p:grpSpPr>
          <a:xfrm>
            <a:off x="154703" y="3775837"/>
            <a:ext cx="6083640" cy="332371"/>
            <a:chOff x="154703" y="3775837"/>
            <a:chExt cx="6083640" cy="332371"/>
          </a:xfrm>
        </p:grpSpPr>
        <p:sp>
          <p:nvSpPr>
            <p:cNvPr id="25" name="Rectángulo 24"/>
            <p:cNvSpPr/>
            <p:nvPr/>
          </p:nvSpPr>
          <p:spPr>
            <a:xfrm>
              <a:off x="154703" y="3775837"/>
              <a:ext cx="2544462" cy="136663"/>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Elipse 43"/>
            <p:cNvSpPr/>
            <p:nvPr/>
          </p:nvSpPr>
          <p:spPr>
            <a:xfrm>
              <a:off x="6021061" y="3908160"/>
              <a:ext cx="217282" cy="200048"/>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19" name="Grupo 18"/>
          <p:cNvGrpSpPr/>
          <p:nvPr/>
        </p:nvGrpSpPr>
        <p:grpSpPr>
          <a:xfrm>
            <a:off x="154704" y="4532312"/>
            <a:ext cx="5763599" cy="1107228"/>
            <a:chOff x="154704" y="4532312"/>
            <a:chExt cx="5763599" cy="1107228"/>
          </a:xfrm>
        </p:grpSpPr>
        <p:sp>
          <p:nvSpPr>
            <p:cNvPr id="34" name="Rectángulo 33"/>
            <p:cNvSpPr/>
            <p:nvPr/>
          </p:nvSpPr>
          <p:spPr>
            <a:xfrm>
              <a:off x="154704" y="4532312"/>
              <a:ext cx="2540298" cy="143558"/>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Elipse 44"/>
            <p:cNvSpPr/>
            <p:nvPr/>
          </p:nvSpPr>
          <p:spPr>
            <a:xfrm>
              <a:off x="5701021" y="5439492"/>
              <a:ext cx="217282" cy="200048"/>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20" name="Grupo 19"/>
          <p:cNvGrpSpPr/>
          <p:nvPr/>
        </p:nvGrpSpPr>
        <p:grpSpPr>
          <a:xfrm>
            <a:off x="154704" y="1887832"/>
            <a:ext cx="10248558" cy="2488059"/>
            <a:chOff x="154704" y="1887832"/>
            <a:chExt cx="10248558" cy="2488059"/>
          </a:xfrm>
        </p:grpSpPr>
        <p:sp>
          <p:nvSpPr>
            <p:cNvPr id="27" name="Rectángulo 26"/>
            <p:cNvSpPr/>
            <p:nvPr/>
          </p:nvSpPr>
          <p:spPr>
            <a:xfrm>
              <a:off x="154704" y="4232333"/>
              <a:ext cx="2540298" cy="143558"/>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Elipse 45"/>
            <p:cNvSpPr/>
            <p:nvPr/>
          </p:nvSpPr>
          <p:spPr>
            <a:xfrm>
              <a:off x="10185980" y="1887832"/>
              <a:ext cx="217282" cy="200048"/>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22" name="Grupo 21"/>
          <p:cNvGrpSpPr/>
          <p:nvPr/>
        </p:nvGrpSpPr>
        <p:grpSpPr>
          <a:xfrm>
            <a:off x="154704" y="3193135"/>
            <a:ext cx="11931576" cy="1649629"/>
            <a:chOff x="154704" y="3193135"/>
            <a:chExt cx="11931576" cy="1649629"/>
          </a:xfrm>
        </p:grpSpPr>
        <p:sp>
          <p:nvSpPr>
            <p:cNvPr id="35" name="Rectángulo 34"/>
            <p:cNvSpPr/>
            <p:nvPr/>
          </p:nvSpPr>
          <p:spPr>
            <a:xfrm>
              <a:off x="154704" y="4699206"/>
              <a:ext cx="2540298" cy="143558"/>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7" name="Elipse 46"/>
            <p:cNvSpPr/>
            <p:nvPr/>
          </p:nvSpPr>
          <p:spPr>
            <a:xfrm>
              <a:off x="11868998" y="3193135"/>
              <a:ext cx="217282" cy="200048"/>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sp>
        <p:nvSpPr>
          <p:cNvPr id="37" name="Rectángulo 36"/>
          <p:cNvSpPr/>
          <p:nvPr/>
        </p:nvSpPr>
        <p:spPr>
          <a:xfrm>
            <a:off x="231132" y="2658184"/>
            <a:ext cx="2463869" cy="2700000"/>
          </a:xfrm>
          <a:prstGeom prst="rect">
            <a:avLst/>
          </a:prstGeom>
          <a:no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a:solidFill>
                  <a:schemeClr val="tx1"/>
                </a:solidFill>
                <a:latin typeface="Calibri" panose="020F0502020204030204" pitchFamily="34" charset="0"/>
              </a:rPr>
              <a:t>Manage Submission Agreements</a:t>
            </a:r>
          </a:p>
          <a:p>
            <a:pPr marL="180975" indent="-180975">
              <a:buFont typeface="+mj-lt"/>
              <a:buAutoNum type="arabicPeriod"/>
            </a:pPr>
            <a:r>
              <a:rPr lang="en-US" sz="1000" dirty="0">
                <a:solidFill>
                  <a:schemeClr val="tx1"/>
                </a:solidFill>
                <a:latin typeface="Calibri" panose="020F0502020204030204" pitchFamily="34" charset="0"/>
              </a:rPr>
              <a:t>ROD3 </a:t>
            </a:r>
            <a:r>
              <a:rPr lang="en-US" sz="1000" dirty="0" smtClean="0">
                <a:solidFill>
                  <a:schemeClr val="tx1"/>
                </a:solidFill>
                <a:latin typeface="Calibri" panose="020F0502020204030204" pitchFamily="34" charset="0"/>
              </a:rPr>
              <a:t>Interface</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smtClean="0">
                <a:solidFill>
                  <a:schemeClr val="tx1"/>
                </a:solidFill>
                <a:latin typeface="Calibri" panose="020F0502020204030204" pitchFamily="34" charset="0"/>
              </a:rPr>
              <a:t>Data </a:t>
            </a:r>
            <a:r>
              <a:rPr lang="en-US" sz="1000" dirty="0">
                <a:solidFill>
                  <a:schemeClr val="tx1"/>
                </a:solidFill>
                <a:latin typeface="Calibri" panose="020F0502020204030204" pitchFamily="34" charset="0"/>
              </a:rPr>
              <a:t>flow Creation &amp; Management</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Create/Manage Data Flows </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Manage-DF-Work-Groups</a:t>
            </a:r>
          </a:p>
          <a:p>
            <a:pPr marL="180975" indent="-180975">
              <a:buFont typeface="+mj-lt"/>
              <a:buAutoNum type="arabicPeriod"/>
            </a:pPr>
            <a:r>
              <a:rPr lang="en-US" sz="1000" dirty="0">
                <a:solidFill>
                  <a:schemeClr val="tx1"/>
                </a:solidFill>
                <a:latin typeface="Calibri" panose="020F0502020204030204" pitchFamily="34" charset="0"/>
              </a:rPr>
              <a:t>DF Data Schema Design</a:t>
            </a:r>
          </a:p>
          <a:p>
            <a:pPr marL="180975" indent="-180975">
              <a:buFont typeface="+mj-lt"/>
              <a:buAutoNum type="arabicPeriod"/>
            </a:pPr>
            <a:r>
              <a:rPr lang="en-US" sz="1000" dirty="0">
                <a:solidFill>
                  <a:schemeClr val="tx1"/>
                </a:solidFill>
                <a:latin typeface="Calibri" panose="020F0502020204030204" pitchFamily="34" charset="0"/>
              </a:rPr>
              <a:t>Design Data Set</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Manage-Tables-Fields-View</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Manage Validations QC-Quality Control</a:t>
            </a:r>
          </a:p>
          <a:p>
            <a:pPr marL="266700" lvl="1" indent="-87313">
              <a:buFont typeface="Arial" panose="020B0604020202020204" pitchFamily="34" charset="0"/>
              <a:buChar char="•"/>
            </a:pPr>
            <a:r>
              <a:rPr lang="en-US" sz="1000" dirty="0" smtClean="0">
                <a:solidFill>
                  <a:schemeClr val="tx1"/>
                </a:solidFill>
                <a:latin typeface="Calibri" panose="020F0502020204030204" pitchFamily="34" charset="0"/>
              </a:rPr>
              <a:t>Manage Events</a:t>
            </a:r>
          </a:p>
          <a:p>
            <a:pPr marL="266700" lvl="1" indent="-87313">
              <a:buFont typeface="Arial" panose="020B0604020202020204" pitchFamily="34" charset="0"/>
              <a:buChar char="•"/>
            </a:pPr>
            <a:r>
              <a:rPr lang="en-US" sz="1000" dirty="0" smtClean="0">
                <a:solidFill>
                  <a:schemeClr val="tx1"/>
                </a:solidFill>
                <a:latin typeface="Calibri" panose="020F0502020204030204" pitchFamily="34" charset="0"/>
              </a:rPr>
              <a:t>Manage Snapshots</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a:solidFill>
                  <a:schemeClr val="tx1"/>
                </a:solidFill>
                <a:latin typeface="Calibri" panose="020F0502020204030204" pitchFamily="34" charset="0"/>
              </a:rPr>
              <a:t>Manage-Dashboards/Visualizations</a:t>
            </a:r>
          </a:p>
          <a:p>
            <a:pPr marL="180975" indent="-180975">
              <a:buFont typeface="+mj-lt"/>
              <a:buAutoNum type="arabicPeriod"/>
            </a:pPr>
            <a:r>
              <a:rPr lang="en-US" sz="1000" dirty="0">
                <a:solidFill>
                  <a:schemeClr val="tx1"/>
                </a:solidFill>
                <a:latin typeface="Calibri" panose="020F0502020204030204" pitchFamily="34" charset="0"/>
              </a:rPr>
              <a:t>Testing Design Data Set</a:t>
            </a:r>
          </a:p>
          <a:p>
            <a:pPr marL="180975" indent="-180975">
              <a:buFont typeface="+mj-lt"/>
              <a:buAutoNum type="arabicPeriod"/>
            </a:pPr>
            <a:r>
              <a:rPr lang="en-US" sz="1000" dirty="0">
                <a:solidFill>
                  <a:schemeClr val="tx1"/>
                </a:solidFill>
                <a:latin typeface="Calibri" panose="020F0502020204030204" pitchFamily="34" charset="0"/>
              </a:rPr>
              <a:t>Manage Supporting Documentation</a:t>
            </a:r>
          </a:p>
          <a:p>
            <a:pPr marL="180975" indent="-180975">
              <a:buFont typeface="+mj-lt"/>
              <a:buAutoNum type="arabicPeriod"/>
            </a:pPr>
            <a:r>
              <a:rPr lang="en-US" sz="1000" dirty="0">
                <a:solidFill>
                  <a:schemeClr val="tx1"/>
                </a:solidFill>
                <a:latin typeface="Calibri" panose="020F0502020204030204" pitchFamily="34" charset="0"/>
              </a:rPr>
              <a:t>Auto Generate Supporting </a:t>
            </a:r>
            <a:r>
              <a:rPr lang="en-US" sz="1000" dirty="0" smtClean="0">
                <a:solidFill>
                  <a:schemeClr val="tx1"/>
                </a:solidFill>
                <a:latin typeface="Calibri" panose="020F0502020204030204" pitchFamily="34" charset="0"/>
              </a:rPr>
              <a:t>Documentation</a:t>
            </a:r>
            <a:endParaRPr lang="en-US" sz="1000" dirty="0">
              <a:solidFill>
                <a:schemeClr val="tx1"/>
              </a:solidFill>
              <a:latin typeface="Calibri" panose="020F0502020204030204" pitchFamily="34" charset="0"/>
            </a:endParaRPr>
          </a:p>
        </p:txBody>
      </p:sp>
      <p:sp>
        <p:nvSpPr>
          <p:cNvPr id="39" name="Rectángulo 38"/>
          <p:cNvSpPr>
            <a:spLocks noChangeAspect="1"/>
          </p:cNvSpPr>
          <p:nvPr/>
        </p:nvSpPr>
        <p:spPr>
          <a:xfrm>
            <a:off x="844497" y="5232184"/>
            <a:ext cx="1792995" cy="393664"/>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GB" sz="1000" i="1" dirty="0">
                <a:solidFill>
                  <a:schemeClr val="bg1"/>
                </a:solidFill>
                <a:latin typeface="Calibri" panose="020F0502020204030204" pitchFamily="34" charset="0"/>
              </a:rPr>
              <a:t>Steward</a:t>
            </a:r>
            <a:r>
              <a:rPr lang="es-ES" sz="1000" i="1" dirty="0">
                <a:solidFill>
                  <a:schemeClr val="bg1"/>
                </a:solidFill>
                <a:latin typeface="Calibri" panose="020F0502020204030204" pitchFamily="34" charset="0"/>
              </a:rPr>
              <a:t>; Custodian; </a:t>
            </a:r>
            <a:r>
              <a:rPr lang="en-GB" sz="1000" i="1" dirty="0">
                <a:solidFill>
                  <a:schemeClr val="bg1"/>
                </a:solidFill>
                <a:latin typeface="Calibri" panose="020F0502020204030204" pitchFamily="34" charset="0"/>
              </a:rPr>
              <a:t>Requester</a:t>
            </a:r>
            <a:r>
              <a:rPr lang="es-ES" sz="1000" i="1" dirty="0">
                <a:solidFill>
                  <a:schemeClr val="bg1"/>
                </a:solidFill>
                <a:latin typeface="Calibri" panose="020F0502020204030204" pitchFamily="34" charset="0"/>
              </a:rPr>
              <a:t>; </a:t>
            </a:r>
            <a:r>
              <a:rPr lang="en-GB" sz="1000" i="1" dirty="0">
                <a:solidFill>
                  <a:schemeClr val="bg1"/>
                </a:solidFill>
                <a:latin typeface="Calibri" panose="020F0502020204030204" pitchFamily="34" charset="0"/>
              </a:rPr>
              <a:t>DDS Contributor</a:t>
            </a:r>
          </a:p>
        </p:txBody>
      </p:sp>
      <p:sp>
        <p:nvSpPr>
          <p:cNvPr id="49" name="Rectángulo 48"/>
          <p:cNvSpPr/>
          <p:nvPr/>
        </p:nvSpPr>
        <p:spPr>
          <a:xfrm>
            <a:off x="2948940" y="66260"/>
            <a:ext cx="9114479" cy="646331"/>
          </a:xfrm>
          <a:prstGeom prst="rect">
            <a:avLst/>
          </a:prstGeom>
        </p:spPr>
        <p:txBody>
          <a:bodyPr wrap="square">
            <a:spAutoFit/>
          </a:bodyPr>
          <a:lstStyle/>
          <a:p>
            <a:pPr algn="r">
              <a:spcBef>
                <a:spcPts val="300"/>
              </a:spcBef>
              <a:spcAft>
                <a:spcPts val="300"/>
              </a:spcAft>
            </a:pPr>
            <a:r>
              <a:rPr lang="en-US" sz="3600" dirty="0" smtClean="0">
                <a:solidFill>
                  <a:schemeClr val="bg1"/>
                </a:solidFill>
                <a:latin typeface="Calibri" panose="020F0502020204030204" pitchFamily="34" charset="0"/>
              </a:rPr>
              <a:t>SW </a:t>
            </a:r>
            <a:r>
              <a:rPr lang="en-US" sz="3600" dirty="0">
                <a:solidFill>
                  <a:schemeClr val="bg1"/>
                </a:solidFill>
                <a:latin typeface="Calibri" panose="020F0502020204030204" pitchFamily="34" charset="0"/>
              </a:rPr>
              <a:t>Development focus Release Candidate </a:t>
            </a:r>
            <a:r>
              <a:rPr lang="en-US" sz="3600" dirty="0" smtClean="0">
                <a:solidFill>
                  <a:schemeClr val="bg1"/>
                </a:solidFill>
                <a:latin typeface="Calibri" panose="020F0502020204030204" pitchFamily="34" charset="0"/>
              </a:rPr>
              <a:t>- 1</a:t>
            </a:r>
            <a:endParaRPr lang="es-ES" sz="3600" kern="50" dirty="0">
              <a:solidFill>
                <a:schemeClr val="bg1"/>
              </a:solidFill>
              <a:latin typeface="Verdana" panose="020B0604030504040204" pitchFamily="34" charset="0"/>
              <a:ea typeface="Times New Roman" panose="02020603050405020304" pitchFamily="18" charset="0"/>
              <a:cs typeface="CG Times (W1)"/>
            </a:endParaRPr>
          </a:p>
        </p:txBody>
      </p:sp>
      <p:sp>
        <p:nvSpPr>
          <p:cNvPr id="50" name="Paralelogramo 49"/>
          <p:cNvSpPr/>
          <p:nvPr/>
        </p:nvSpPr>
        <p:spPr>
          <a:xfrm>
            <a:off x="358778" y="66259"/>
            <a:ext cx="2397122"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Product Backlog RC1  </a:t>
            </a:r>
            <a:endParaRPr lang="en-GB" sz="1600" b="1" dirty="0">
              <a:solidFill>
                <a:srgbClr val="016357"/>
              </a:solidFill>
            </a:endParaRPr>
          </a:p>
        </p:txBody>
      </p:sp>
    </p:spTree>
    <p:extLst>
      <p:ext uri="{BB962C8B-B14F-4D97-AF65-F5344CB8AC3E}">
        <p14:creationId xmlns:p14="http://schemas.microsoft.com/office/powerpoint/2010/main" val="151940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1000"/>
                                        <p:tgtEl>
                                          <p:spTgt spid="18"/>
                                        </p:tgtEl>
                                      </p:cBhvr>
                                    </p:animEffect>
                                    <p:anim calcmode="lin" valueType="num">
                                      <p:cBhvr>
                                        <p:cTn id="22" dur="1000" fill="hold"/>
                                        <p:tgtEl>
                                          <p:spTgt spid="18"/>
                                        </p:tgtEl>
                                        <p:attrNameLst>
                                          <p:attrName>ppt_x</p:attrName>
                                        </p:attrNameLst>
                                      </p:cBhvr>
                                      <p:tavLst>
                                        <p:tav tm="0">
                                          <p:val>
                                            <p:strVal val="#ppt_x"/>
                                          </p:val>
                                        </p:tav>
                                        <p:tav tm="100000">
                                          <p:val>
                                            <p:strVal val="#ppt_x"/>
                                          </p:val>
                                        </p:tav>
                                      </p:tavLst>
                                    </p:anim>
                                    <p:anim calcmode="lin" valueType="num">
                                      <p:cBhvr>
                                        <p:cTn id="2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1000"/>
                                        <p:tgtEl>
                                          <p:spTgt spid="20"/>
                                        </p:tgtEl>
                                      </p:cBhvr>
                                    </p:animEffect>
                                    <p:anim calcmode="lin" valueType="num">
                                      <p:cBhvr>
                                        <p:cTn id="29" dur="1000" fill="hold"/>
                                        <p:tgtEl>
                                          <p:spTgt spid="20"/>
                                        </p:tgtEl>
                                        <p:attrNameLst>
                                          <p:attrName>ppt_x</p:attrName>
                                        </p:attrNameLst>
                                      </p:cBhvr>
                                      <p:tavLst>
                                        <p:tav tm="0">
                                          <p:val>
                                            <p:strVal val="#ppt_x"/>
                                          </p:val>
                                        </p:tav>
                                        <p:tav tm="100000">
                                          <p:val>
                                            <p:strVal val="#ppt_x"/>
                                          </p:val>
                                        </p:tav>
                                      </p:tavLst>
                                    </p:anim>
                                    <p:anim calcmode="lin" valueType="num">
                                      <p:cBhvr>
                                        <p:cTn id="30"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1000"/>
                                        <p:tgtEl>
                                          <p:spTgt spid="19"/>
                                        </p:tgtEl>
                                      </p:cBhvr>
                                    </p:animEffect>
                                    <p:anim calcmode="lin" valueType="num">
                                      <p:cBhvr>
                                        <p:cTn id="36" dur="1000" fill="hold"/>
                                        <p:tgtEl>
                                          <p:spTgt spid="19"/>
                                        </p:tgtEl>
                                        <p:attrNameLst>
                                          <p:attrName>ppt_x</p:attrName>
                                        </p:attrNameLst>
                                      </p:cBhvr>
                                      <p:tavLst>
                                        <p:tav tm="0">
                                          <p:val>
                                            <p:strVal val="#ppt_x"/>
                                          </p:val>
                                        </p:tav>
                                        <p:tav tm="100000">
                                          <p:val>
                                            <p:strVal val="#ppt_x"/>
                                          </p:val>
                                        </p:tav>
                                      </p:tavLst>
                                    </p:anim>
                                    <p:anim calcmode="lin" valueType="num">
                                      <p:cBhvr>
                                        <p:cTn id="3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1000"/>
                                        <p:tgtEl>
                                          <p:spTgt spid="22"/>
                                        </p:tgtEl>
                                      </p:cBhvr>
                                    </p:animEffect>
                                    <p:anim calcmode="lin" valueType="num">
                                      <p:cBhvr>
                                        <p:cTn id="43" dur="1000" fill="hold"/>
                                        <p:tgtEl>
                                          <p:spTgt spid="22"/>
                                        </p:tgtEl>
                                        <p:attrNameLst>
                                          <p:attrName>ppt_x</p:attrName>
                                        </p:attrNameLst>
                                      </p:cBhvr>
                                      <p:tavLst>
                                        <p:tav tm="0">
                                          <p:val>
                                            <p:strVal val="#ppt_x"/>
                                          </p:val>
                                        </p:tav>
                                        <p:tav tm="100000">
                                          <p:val>
                                            <p:strVal val="#ppt_x"/>
                                          </p:val>
                                        </p:tav>
                                      </p:tavLst>
                                    </p:anim>
                                    <p:anim calcmode="lin" valueType="num">
                                      <p:cBhvr>
                                        <p:cTn id="4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lecha derecha 24"/>
          <p:cNvSpPr/>
          <p:nvPr/>
        </p:nvSpPr>
        <p:spPr>
          <a:xfrm rot="5400000">
            <a:off x="2555678" y="1138903"/>
            <a:ext cx="366060" cy="263692"/>
          </a:xfrm>
          <a:prstGeom prst="rightArrow">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endParaRPr lang="es-ES" sz="2000" b="1">
              <a:solidFill>
                <a:schemeClr val="bg1"/>
              </a:solidFill>
              <a:latin typeface="Calibri" panose="020F0502020204030204" pitchFamily="34" charset="0"/>
            </a:endParaRPr>
          </a:p>
        </p:txBody>
      </p:sp>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16</a:t>
            </a:fld>
            <a:endParaRPr lang="en-US" dirty="0">
              <a:solidFill>
                <a:schemeClr val="bg1"/>
              </a:solidFill>
            </a:endParaRPr>
          </a:p>
        </p:txBody>
      </p:sp>
      <p:graphicFrame>
        <p:nvGraphicFramePr>
          <p:cNvPr id="4" name="Tabla 3"/>
          <p:cNvGraphicFramePr>
            <a:graphicFrameLocks noGrp="1"/>
          </p:cNvGraphicFramePr>
          <p:nvPr>
            <p:extLst>
              <p:ext uri="{D42A27DB-BD31-4B8C-83A1-F6EECF244321}">
                <p14:modId xmlns:p14="http://schemas.microsoft.com/office/powerpoint/2010/main" val="1971126619"/>
              </p:ext>
            </p:extLst>
          </p:nvPr>
        </p:nvGraphicFramePr>
        <p:xfrm>
          <a:off x="3311435" y="1469002"/>
          <a:ext cx="4372065" cy="4600512"/>
        </p:xfrm>
        <a:graphic>
          <a:graphicData uri="http://schemas.openxmlformats.org/drawingml/2006/table">
            <a:tbl>
              <a:tblPr firstRow="1" bandRow="1">
                <a:tableStyleId>{00A15C55-8517-42AA-B614-E9B94910E393}</a:tableStyleId>
              </a:tblPr>
              <a:tblGrid>
                <a:gridCol w="204229">
                  <a:extLst>
                    <a:ext uri="{9D8B030D-6E8A-4147-A177-3AD203B41FA5}">
                      <a16:colId xmlns:a16="http://schemas.microsoft.com/office/drawing/2014/main" val="3917562794"/>
                    </a:ext>
                  </a:extLst>
                </a:gridCol>
                <a:gridCol w="4167836">
                  <a:extLst>
                    <a:ext uri="{9D8B030D-6E8A-4147-A177-3AD203B41FA5}">
                      <a16:colId xmlns:a16="http://schemas.microsoft.com/office/drawing/2014/main" val="56879781"/>
                    </a:ext>
                  </a:extLst>
                </a:gridCol>
              </a:tblGrid>
              <a:tr h="156718">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200" noProof="0" dirty="0" smtClean="0">
                          <a:latin typeface="Calibri" panose="020F0502020204030204" pitchFamily="34" charset="0"/>
                          <a:cs typeface="Calibri" panose="020F0502020204030204" pitchFamily="34" charset="0"/>
                        </a:rPr>
                        <a:t>Release</a:t>
                      </a:r>
                      <a:r>
                        <a:rPr lang="en-GB" sz="1200" baseline="0" noProof="0" dirty="0" smtClean="0">
                          <a:latin typeface="Calibri" panose="020F0502020204030204" pitchFamily="34" charset="0"/>
                          <a:cs typeface="Calibri" panose="020F0502020204030204" pitchFamily="34" charset="0"/>
                        </a:rPr>
                        <a:t> Candidate 1 - </a:t>
                      </a:r>
                      <a:r>
                        <a:rPr lang="en-GB" sz="1200" noProof="0" dirty="0" smtClean="0">
                          <a:latin typeface="Calibri" panose="020F0502020204030204" pitchFamily="34" charset="0"/>
                          <a:cs typeface="Calibri" panose="020F0502020204030204" pitchFamily="34" charset="0"/>
                        </a:rPr>
                        <a:t>STEP 6 </a:t>
                      </a:r>
                      <a:r>
                        <a:rPr lang="en-GB" sz="1200" baseline="0" noProof="0" dirty="0" smtClean="0">
                          <a:latin typeface="Calibri" panose="020F0502020204030204" pitchFamily="34" charset="0"/>
                          <a:cs typeface="Calibri" panose="020F0502020204030204" pitchFamily="34" charset="0"/>
                        </a:rPr>
                        <a:t> </a:t>
                      </a:r>
                      <a:r>
                        <a:rPr lang="en-GB" sz="1200" noProof="0" dirty="0" smtClean="0">
                          <a:latin typeface="Calibri" panose="020F0502020204030204" pitchFamily="34" charset="0"/>
                          <a:cs typeface="Calibri" panose="020F0502020204030204" pitchFamily="34" charset="0"/>
                        </a:rPr>
                        <a:t>Planned Scope</a:t>
                      </a:r>
                    </a:p>
                  </a:txBody>
                  <a:tcPr marL="36000" marR="36000" marT="36000" marB="36000" anchor="ctr"/>
                </a:tc>
                <a:tc hMerge="1">
                  <a:txBody>
                    <a:bodyPr/>
                    <a:lstStyle/>
                    <a:p>
                      <a:endParaRPr lang="es-ES"/>
                    </a:p>
                  </a:txBody>
                  <a:tcPr/>
                </a:tc>
                <a:extLst>
                  <a:ext uri="{0D108BD9-81ED-4DB2-BD59-A6C34878D82A}">
                    <a16:rowId xmlns:a16="http://schemas.microsoft.com/office/drawing/2014/main" val="469749394"/>
                  </a:ext>
                </a:extLst>
              </a:tr>
              <a:tr h="0">
                <a:tc gridSpan="2">
                  <a:txBody>
                    <a:bodyPr/>
                    <a:lstStyle/>
                    <a:p>
                      <a:pPr>
                        <a:lnSpc>
                          <a:spcPct val="107000"/>
                        </a:lnSpc>
                        <a:spcAft>
                          <a:spcPts val="0"/>
                        </a:spcAft>
                      </a:pPr>
                      <a:r>
                        <a:rPr lang="es-ES" sz="1000" b="1" dirty="0" smtClean="0">
                          <a:effectLst/>
                          <a:latin typeface="Calibri" panose="020F0502020204030204" pitchFamily="34" charset="0"/>
                          <a:cs typeface="Calibri" panose="020F0502020204030204" pitchFamily="34" charset="0"/>
                        </a:rPr>
                        <a:t>EP-STP6-DC Data </a:t>
                      </a:r>
                      <a:r>
                        <a:rPr lang="es-ES" sz="1000" b="1" dirty="0" err="1" smtClean="0">
                          <a:effectLst/>
                          <a:latin typeface="Calibri" panose="020F0502020204030204" pitchFamily="34" charset="0"/>
                          <a:cs typeface="Calibri" panose="020F0502020204030204" pitchFamily="34" charset="0"/>
                        </a:rPr>
                        <a:t>Collection</a:t>
                      </a:r>
                      <a:endParaRPr lang="es-ES" sz="10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23468738"/>
                  </a:ext>
                </a:extLst>
              </a:tr>
              <a:tr h="558035">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1000" dirty="0">
                          <a:effectLst/>
                          <a:latin typeface="Calibri" panose="020F0502020204030204" pitchFamily="34" charset="0"/>
                          <a:cs typeface="Calibri" panose="020F0502020204030204" pitchFamily="34" charset="0"/>
                        </a:rPr>
                        <a:t>US-STP6-DC-01-Create </a:t>
                      </a:r>
                      <a:r>
                        <a:rPr lang="es-ES" sz="1000" dirty="0" err="1">
                          <a:effectLst/>
                          <a:latin typeface="Calibri" panose="020F0502020204030204" pitchFamily="34" charset="0"/>
                          <a:cs typeface="Calibri" panose="020F0502020204030204" pitchFamily="34" charset="0"/>
                        </a:rPr>
                        <a:t>an</a:t>
                      </a:r>
                      <a:r>
                        <a:rPr lang="es-ES" sz="1000" dirty="0">
                          <a:effectLst/>
                          <a:latin typeface="Calibri" panose="020F0502020204030204" pitchFamily="34" charset="0"/>
                          <a:cs typeface="Calibri" panose="020F0502020204030204" pitchFamily="34" charset="0"/>
                        </a:rPr>
                        <a:t> </a:t>
                      </a:r>
                      <a:r>
                        <a:rPr lang="es-ES" sz="1000" dirty="0" err="1">
                          <a:effectLst/>
                          <a:latin typeface="Calibri" panose="020F0502020204030204" pitchFamily="34" charset="0"/>
                          <a:cs typeface="Calibri" panose="020F0502020204030204" pitchFamily="34" charset="0"/>
                        </a:rPr>
                        <a:t>empty</a:t>
                      </a:r>
                      <a:r>
                        <a:rPr lang="es-ES" sz="1000" dirty="0">
                          <a:effectLst/>
                          <a:latin typeface="Calibri" panose="020F0502020204030204" pitchFamily="34" charset="0"/>
                          <a:cs typeface="Calibri" panose="020F0502020204030204" pitchFamily="34" charset="0"/>
                        </a:rPr>
                        <a:t> Data </a:t>
                      </a:r>
                      <a:r>
                        <a:rPr lang="es-ES" sz="1000" dirty="0" err="1">
                          <a:effectLst/>
                          <a:latin typeface="Calibri" panose="020F0502020204030204" pitchFamily="34" charset="0"/>
                          <a:cs typeface="Calibri" panose="020F0502020204030204" pitchFamily="34" charset="0"/>
                        </a:rPr>
                        <a:t>Collection</a:t>
                      </a:r>
                      <a:r>
                        <a:rPr lang="es-ES" sz="1000" dirty="0">
                          <a:effectLst/>
                          <a:latin typeface="Calibri" panose="020F0502020204030204" pitchFamily="34" charset="0"/>
                          <a:cs typeface="Calibri" panose="020F0502020204030204" pitchFamily="34" charset="0"/>
                        </a:rPr>
                        <a:t> (Sprint 10) </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US-STP6-DC-02-Delete Data </a:t>
                      </a:r>
                      <a:r>
                        <a:rPr lang="es-ES" sz="1000" dirty="0" err="1">
                          <a:effectLst/>
                          <a:latin typeface="Calibri" panose="020F0502020204030204" pitchFamily="34" charset="0"/>
                          <a:cs typeface="Calibri" panose="020F0502020204030204" pitchFamily="34" charset="0"/>
                        </a:rPr>
                        <a:t>Collection</a:t>
                      </a:r>
                      <a:r>
                        <a:rPr lang="es-ES" sz="1000" dirty="0">
                          <a:effectLst/>
                          <a:latin typeface="Calibri" panose="020F0502020204030204" pitchFamily="34" charset="0"/>
                          <a:cs typeface="Calibri" panose="020F0502020204030204" pitchFamily="34" charset="0"/>
                        </a:rPr>
                        <a:t> (6)</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US-STP6-DC-05-View </a:t>
                      </a:r>
                      <a:r>
                        <a:rPr lang="es-ES" sz="1000" dirty="0" err="1">
                          <a:effectLst/>
                          <a:latin typeface="Calibri" panose="020F0502020204030204" pitchFamily="34" charset="0"/>
                          <a:cs typeface="Calibri" panose="020F0502020204030204" pitchFamily="34" charset="0"/>
                        </a:rPr>
                        <a:t>properties</a:t>
                      </a:r>
                      <a:r>
                        <a:rPr lang="es-ES" sz="1000" dirty="0">
                          <a:effectLst/>
                          <a:latin typeface="Calibri" panose="020F0502020204030204" pitchFamily="34" charset="0"/>
                          <a:cs typeface="Calibri" panose="020F0502020204030204" pitchFamily="34" charset="0"/>
                        </a:rPr>
                        <a:t> of a Data </a:t>
                      </a:r>
                      <a:r>
                        <a:rPr lang="es-ES" sz="1000" dirty="0" err="1">
                          <a:effectLst/>
                          <a:latin typeface="Calibri" panose="020F0502020204030204" pitchFamily="34" charset="0"/>
                          <a:cs typeface="Calibri" panose="020F0502020204030204" pitchFamily="34" charset="0"/>
                        </a:rPr>
                        <a:t>Collection</a:t>
                      </a:r>
                      <a:r>
                        <a:rPr lang="es-ES" sz="1000" dirty="0">
                          <a:effectLst/>
                          <a:latin typeface="Calibri" panose="020F0502020204030204" pitchFamily="34" charset="0"/>
                          <a:cs typeface="Calibri" panose="020F0502020204030204" pitchFamily="34" charset="0"/>
                        </a:rPr>
                        <a:t> (1)</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US-STP6-DC-06-View </a:t>
                      </a:r>
                      <a:r>
                        <a:rPr lang="es-ES" sz="1000" dirty="0" err="1">
                          <a:effectLst/>
                          <a:latin typeface="Calibri" panose="020F0502020204030204" pitchFamily="34" charset="0"/>
                          <a:cs typeface="Calibri" panose="020F0502020204030204" pitchFamily="34" charset="0"/>
                        </a:rPr>
                        <a:t>Delivery</a:t>
                      </a:r>
                      <a:r>
                        <a:rPr lang="es-ES" sz="1000" dirty="0">
                          <a:effectLst/>
                          <a:latin typeface="Calibri" panose="020F0502020204030204" pitchFamily="34" charset="0"/>
                          <a:cs typeface="Calibri" panose="020F0502020204030204" pitchFamily="34" charset="0"/>
                        </a:rPr>
                        <a:t> Status of a Data </a:t>
                      </a:r>
                      <a:r>
                        <a:rPr lang="es-ES" sz="1000" dirty="0" err="1">
                          <a:effectLst/>
                          <a:latin typeface="Calibri" panose="020F0502020204030204" pitchFamily="34" charset="0"/>
                          <a:cs typeface="Calibri" panose="020F0502020204030204" pitchFamily="34" charset="0"/>
                        </a:rPr>
                        <a:t>Collection</a:t>
                      </a:r>
                      <a:r>
                        <a:rPr lang="es-ES" sz="1000" dirty="0">
                          <a:effectLst/>
                          <a:latin typeface="Calibri" panose="020F0502020204030204" pitchFamily="34" charset="0"/>
                          <a:cs typeface="Calibri" panose="020F0502020204030204" pitchFamily="34" charset="0"/>
                        </a:rPr>
                        <a:t> (2)</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US-STP6-DC-07-View Data of a Data </a:t>
                      </a:r>
                      <a:r>
                        <a:rPr lang="es-ES" sz="1000" dirty="0" err="1">
                          <a:effectLst/>
                          <a:latin typeface="Calibri" panose="020F0502020204030204" pitchFamily="34" charset="0"/>
                          <a:cs typeface="Calibri" panose="020F0502020204030204" pitchFamily="34" charset="0"/>
                        </a:rPr>
                        <a:t>Collection</a:t>
                      </a:r>
                      <a:r>
                        <a:rPr lang="es-ES" sz="1000" dirty="0">
                          <a:effectLst/>
                          <a:latin typeface="Calibri" panose="020F0502020204030204" pitchFamily="34" charset="0"/>
                          <a:cs typeface="Calibri" panose="020F0502020204030204" pitchFamily="34" charset="0"/>
                        </a:rPr>
                        <a:t> (3)</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US-STP6-DC-08-View Data Set </a:t>
                      </a:r>
                      <a:r>
                        <a:rPr lang="es-ES" sz="1000" dirty="0" err="1">
                          <a:effectLst/>
                          <a:latin typeface="Calibri" panose="020F0502020204030204" pitchFamily="34" charset="0"/>
                          <a:cs typeface="Calibri" panose="020F0502020204030204" pitchFamily="34" charset="0"/>
                        </a:rPr>
                        <a:t>released</a:t>
                      </a:r>
                      <a:r>
                        <a:rPr lang="es-ES" sz="1000" dirty="0">
                          <a:effectLst/>
                          <a:latin typeface="Calibri" panose="020F0502020204030204" pitchFamily="34" charset="0"/>
                          <a:cs typeface="Calibri" panose="020F0502020204030204" pitchFamily="34" charset="0"/>
                        </a:rPr>
                        <a:t> </a:t>
                      </a:r>
                      <a:r>
                        <a:rPr lang="es-ES" sz="1000" dirty="0" err="1">
                          <a:effectLst/>
                          <a:latin typeface="Calibri" panose="020F0502020204030204" pitchFamily="34" charset="0"/>
                          <a:cs typeface="Calibri" panose="020F0502020204030204" pitchFamily="34" charset="0"/>
                        </a:rPr>
                        <a:t>by</a:t>
                      </a:r>
                      <a:r>
                        <a:rPr lang="es-ES" sz="1000" dirty="0">
                          <a:effectLst/>
                          <a:latin typeface="Calibri" panose="020F0502020204030204" pitchFamily="34" charset="0"/>
                          <a:cs typeface="Calibri" panose="020F0502020204030204" pitchFamily="34" charset="0"/>
                        </a:rPr>
                        <a:t> Data </a:t>
                      </a:r>
                      <a:r>
                        <a:rPr lang="es-ES" sz="1000" dirty="0" err="1">
                          <a:effectLst/>
                          <a:latin typeface="Calibri" panose="020F0502020204030204" pitchFamily="34" charset="0"/>
                          <a:cs typeface="Calibri" panose="020F0502020204030204" pitchFamily="34" charset="0"/>
                        </a:rPr>
                        <a:t>Collection</a:t>
                      </a:r>
                      <a:r>
                        <a:rPr lang="es-ES" sz="1000" dirty="0">
                          <a:effectLst/>
                          <a:latin typeface="Calibri" panose="020F0502020204030204" pitchFamily="34" charset="0"/>
                          <a:cs typeface="Calibri" panose="020F0502020204030204" pitchFamily="34" charset="0"/>
                        </a:rPr>
                        <a:t> (4)</a:t>
                      </a:r>
                      <a:endParaRPr lang="es-ES" sz="1000"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1207482829"/>
                  </a:ext>
                </a:extLst>
              </a:tr>
              <a:tr h="0">
                <a:tc gridSpan="2">
                  <a:txBody>
                    <a:bodyPr/>
                    <a:lstStyle/>
                    <a:p>
                      <a:pPr>
                        <a:lnSpc>
                          <a:spcPct val="107000"/>
                        </a:lnSpc>
                        <a:spcAft>
                          <a:spcPts val="0"/>
                        </a:spcAft>
                      </a:pPr>
                      <a:r>
                        <a:rPr lang="es-ES" sz="1000" b="1" dirty="0" smtClean="0">
                          <a:effectLst/>
                          <a:latin typeface="Calibri" panose="020F0502020204030204" pitchFamily="34" charset="0"/>
                          <a:cs typeface="Calibri" panose="020F0502020204030204" pitchFamily="34" charset="0"/>
                        </a:rPr>
                        <a:t>EP-STP6-DSM-DSC-TAB </a:t>
                      </a:r>
                      <a:r>
                        <a:rPr lang="es-ES" sz="1000" b="1" dirty="0" err="1" smtClean="0">
                          <a:effectLst/>
                          <a:latin typeface="Calibri" panose="020F0502020204030204" pitchFamily="34" charset="0"/>
                          <a:cs typeface="Calibri" panose="020F0502020204030204" pitchFamily="34" charset="0"/>
                        </a:rPr>
                        <a:t>Tables</a:t>
                      </a:r>
                      <a:r>
                        <a:rPr lang="es-ES" sz="1000" b="1" dirty="0" smtClean="0">
                          <a:effectLst/>
                          <a:latin typeface="Calibri" panose="020F0502020204030204" pitchFamily="34" charset="0"/>
                          <a:cs typeface="Calibri" panose="020F0502020204030204" pitchFamily="34" charset="0"/>
                        </a:rPr>
                        <a:t>  &amp;  EP-STP6-DSM Data Set Management </a:t>
                      </a:r>
                      <a:r>
                        <a:rPr lang="es-ES" sz="1000" b="1" dirty="0" err="1" smtClean="0">
                          <a:effectLst/>
                          <a:latin typeface="Calibri" panose="020F0502020204030204" pitchFamily="34" charset="0"/>
                          <a:cs typeface="Calibri" panose="020F0502020204030204" pitchFamily="34" charset="0"/>
                        </a:rPr>
                        <a:t>Tool</a:t>
                      </a:r>
                      <a:endParaRPr lang="es-ES" sz="1000" b="1"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66704428"/>
                  </a:ext>
                </a:extLst>
              </a:tr>
              <a:tr h="963403">
                <a:tc>
                  <a:txBody>
                    <a:bodyPr/>
                    <a:lstStyle/>
                    <a:p>
                      <a:pPr>
                        <a:lnSpc>
                          <a:spcPct val="107000"/>
                        </a:lnSpc>
                        <a:spcAft>
                          <a:spcPts val="0"/>
                        </a:spcAft>
                      </a:pPr>
                      <a:endParaRPr lang="es-ES" sz="900" b="1"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US-STP6-DSM-DSC-TAB-01-View </a:t>
                      </a:r>
                      <a:r>
                        <a:rPr lang="es-ES" sz="1000" dirty="0" err="1">
                          <a:effectLst/>
                          <a:latin typeface="Calibri" panose="020F0502020204030204" pitchFamily="34" charset="0"/>
                          <a:cs typeface="Calibri" panose="020F0502020204030204" pitchFamily="34" charset="0"/>
                        </a:rPr>
                        <a:t>Tables</a:t>
                      </a:r>
                      <a:r>
                        <a:rPr lang="es-ES" sz="1000" dirty="0">
                          <a:effectLst/>
                          <a:latin typeface="Calibri" panose="020F0502020204030204" pitchFamily="34" charset="0"/>
                          <a:cs typeface="Calibri" panose="020F0502020204030204" pitchFamily="34" charset="0"/>
                        </a:rPr>
                        <a:t> (Sprint 1) (100%)</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US-STP6-DSM-DSC-TAB-03-Export </a:t>
                      </a:r>
                      <a:r>
                        <a:rPr lang="es-ES" sz="1000" dirty="0" err="1">
                          <a:effectLst/>
                          <a:latin typeface="Calibri" panose="020F0502020204030204" pitchFamily="34" charset="0"/>
                          <a:cs typeface="Calibri" panose="020F0502020204030204" pitchFamily="34" charset="0"/>
                        </a:rPr>
                        <a:t>the</a:t>
                      </a:r>
                      <a:r>
                        <a:rPr lang="es-ES" sz="1000" dirty="0">
                          <a:effectLst/>
                          <a:latin typeface="Calibri" panose="020F0502020204030204" pitchFamily="34" charset="0"/>
                          <a:cs typeface="Calibri" panose="020F0502020204030204" pitchFamily="34" charset="0"/>
                        </a:rPr>
                        <a:t> </a:t>
                      </a:r>
                      <a:r>
                        <a:rPr lang="es-ES" sz="1000" dirty="0" err="1">
                          <a:effectLst/>
                          <a:latin typeface="Calibri" panose="020F0502020204030204" pitchFamily="34" charset="0"/>
                          <a:cs typeface="Calibri" panose="020F0502020204030204" pitchFamily="34" charset="0"/>
                        </a:rPr>
                        <a:t>dataset</a:t>
                      </a:r>
                      <a:r>
                        <a:rPr lang="es-ES" sz="1000" dirty="0">
                          <a:effectLst/>
                          <a:latin typeface="Calibri" panose="020F0502020204030204" pitchFamily="34" charset="0"/>
                          <a:cs typeface="Calibri" panose="020F0502020204030204" pitchFamily="34" charset="0"/>
                        </a:rPr>
                        <a:t> (Sprint 6) (75%)</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US-STP6-DSM-DSC-TAB-04-Import CSV data to </a:t>
                      </a:r>
                      <a:r>
                        <a:rPr lang="es-ES" sz="1000" dirty="0" err="1">
                          <a:effectLst/>
                          <a:latin typeface="Calibri" panose="020F0502020204030204" pitchFamily="34" charset="0"/>
                          <a:cs typeface="Calibri" panose="020F0502020204030204" pitchFamily="34" charset="0"/>
                        </a:rPr>
                        <a:t>the</a:t>
                      </a:r>
                      <a:r>
                        <a:rPr lang="es-ES" sz="1000" dirty="0">
                          <a:effectLst/>
                          <a:latin typeface="Calibri" panose="020F0502020204030204" pitchFamily="34" charset="0"/>
                          <a:cs typeface="Calibri" panose="020F0502020204030204" pitchFamily="34" charset="0"/>
                        </a:rPr>
                        <a:t> </a:t>
                      </a:r>
                      <a:r>
                        <a:rPr lang="es-ES" sz="1000" dirty="0" err="1">
                          <a:effectLst/>
                          <a:latin typeface="Calibri" panose="020F0502020204030204" pitchFamily="34" charset="0"/>
                          <a:cs typeface="Calibri" panose="020F0502020204030204" pitchFamily="34" charset="0"/>
                        </a:rPr>
                        <a:t>dataset</a:t>
                      </a:r>
                      <a:r>
                        <a:rPr lang="es-ES" sz="1000" dirty="0">
                          <a:effectLst/>
                          <a:latin typeface="Calibri" panose="020F0502020204030204" pitchFamily="34" charset="0"/>
                          <a:cs typeface="Calibri" panose="020F0502020204030204" pitchFamily="34" charset="0"/>
                        </a:rPr>
                        <a:t> (Sprint 2) (100%)</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US-STP6-DSM-DSC-TAB-04-Import data to </a:t>
                      </a:r>
                      <a:r>
                        <a:rPr lang="es-ES" sz="1000" dirty="0" err="1">
                          <a:effectLst/>
                          <a:latin typeface="Calibri" panose="020F0502020204030204" pitchFamily="34" charset="0"/>
                          <a:cs typeface="Calibri" panose="020F0502020204030204" pitchFamily="34" charset="0"/>
                        </a:rPr>
                        <a:t>the</a:t>
                      </a:r>
                      <a:r>
                        <a:rPr lang="es-ES" sz="1000" dirty="0">
                          <a:effectLst/>
                          <a:latin typeface="Calibri" panose="020F0502020204030204" pitchFamily="34" charset="0"/>
                          <a:cs typeface="Calibri" panose="020F0502020204030204" pitchFamily="34" charset="0"/>
                        </a:rPr>
                        <a:t> data set (Sprint 1) (25%)</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US-STP6-DSM-DSC-TAB-10-Filter </a:t>
                      </a:r>
                      <a:r>
                        <a:rPr lang="es-ES" sz="1000" dirty="0" err="1">
                          <a:effectLst/>
                          <a:latin typeface="Calibri" panose="020F0502020204030204" pitchFamily="34" charset="0"/>
                          <a:cs typeface="Calibri" panose="020F0502020204030204" pitchFamily="34" charset="0"/>
                        </a:rPr>
                        <a:t>Table</a:t>
                      </a:r>
                      <a:r>
                        <a:rPr lang="es-ES" sz="1000" dirty="0">
                          <a:effectLst/>
                          <a:latin typeface="Calibri" panose="020F0502020204030204" pitchFamily="34" charset="0"/>
                          <a:cs typeface="Calibri" panose="020F0502020204030204" pitchFamily="34" charset="0"/>
                        </a:rPr>
                        <a:t> (Sprint 9) (25%)</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US-STP6-DSM-DSC-TAB-10-Filter </a:t>
                      </a:r>
                      <a:r>
                        <a:rPr lang="es-ES" sz="1000" dirty="0" err="1">
                          <a:effectLst/>
                          <a:latin typeface="Calibri" panose="020F0502020204030204" pitchFamily="34" charset="0"/>
                          <a:cs typeface="Calibri" panose="020F0502020204030204" pitchFamily="34" charset="0"/>
                        </a:rPr>
                        <a:t>Table</a:t>
                      </a:r>
                      <a:r>
                        <a:rPr lang="es-ES" sz="1000" dirty="0">
                          <a:effectLst/>
                          <a:latin typeface="Calibri" panose="020F0502020204030204" pitchFamily="34" charset="0"/>
                          <a:cs typeface="Calibri" panose="020F0502020204030204" pitchFamily="34" charset="0"/>
                        </a:rPr>
                        <a:t> </a:t>
                      </a:r>
                      <a:r>
                        <a:rPr lang="es-ES" sz="1000" dirty="0" err="1">
                          <a:effectLst/>
                          <a:latin typeface="Calibri" panose="020F0502020204030204" pitchFamily="34" charset="0"/>
                          <a:cs typeface="Calibri" panose="020F0502020204030204" pitchFamily="34" charset="0"/>
                        </a:rPr>
                        <a:t>Errors</a:t>
                      </a:r>
                      <a:r>
                        <a:rPr lang="es-ES" sz="1000" dirty="0">
                          <a:effectLst/>
                          <a:latin typeface="Calibri" panose="020F0502020204030204" pitchFamily="34" charset="0"/>
                          <a:cs typeface="Calibri" panose="020F0502020204030204" pitchFamily="34" charset="0"/>
                        </a:rPr>
                        <a:t>/</a:t>
                      </a:r>
                      <a:r>
                        <a:rPr lang="es-ES" sz="1000" dirty="0" err="1">
                          <a:effectLst/>
                          <a:latin typeface="Calibri" panose="020F0502020204030204" pitchFamily="34" charset="0"/>
                          <a:cs typeface="Calibri" panose="020F0502020204030204" pitchFamily="34" charset="0"/>
                        </a:rPr>
                        <a:t>Warnings</a:t>
                      </a:r>
                      <a:r>
                        <a:rPr lang="es-ES" sz="1000" dirty="0">
                          <a:effectLst/>
                          <a:latin typeface="Calibri" panose="020F0502020204030204" pitchFamily="34" charset="0"/>
                          <a:cs typeface="Calibri" panose="020F0502020204030204" pitchFamily="34" charset="0"/>
                        </a:rPr>
                        <a:t> (Sprint 8) (75%)</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US-STP6-DSM-DSC-TAB-20-Set </a:t>
                      </a:r>
                      <a:r>
                        <a:rPr lang="es-ES" sz="1000" dirty="0" err="1">
                          <a:effectLst/>
                          <a:latin typeface="Calibri" panose="020F0502020204030204" pitchFamily="34" charset="0"/>
                          <a:cs typeface="Calibri" panose="020F0502020204030204" pitchFamily="34" charset="0"/>
                        </a:rPr>
                        <a:t>Visibility</a:t>
                      </a:r>
                      <a:r>
                        <a:rPr lang="es-ES" sz="1000" dirty="0">
                          <a:effectLst/>
                          <a:latin typeface="Calibri" panose="020F0502020204030204" pitchFamily="34" charset="0"/>
                          <a:cs typeface="Calibri" panose="020F0502020204030204" pitchFamily="34" charset="0"/>
                        </a:rPr>
                        <a:t> </a:t>
                      </a:r>
                      <a:r>
                        <a:rPr lang="es-ES" sz="1000" dirty="0" err="1">
                          <a:effectLst/>
                          <a:latin typeface="Calibri" panose="020F0502020204030204" pitchFamily="34" charset="0"/>
                          <a:cs typeface="Calibri" panose="020F0502020204030204" pitchFamily="34" charset="0"/>
                        </a:rPr>
                        <a:t>Fields</a:t>
                      </a:r>
                      <a:r>
                        <a:rPr lang="es-ES" sz="1000" dirty="0">
                          <a:effectLst/>
                          <a:latin typeface="Calibri" panose="020F0502020204030204" pitchFamily="34" charset="0"/>
                          <a:cs typeface="Calibri" panose="020F0502020204030204" pitchFamily="34" charset="0"/>
                        </a:rPr>
                        <a:t> </a:t>
                      </a:r>
                      <a:r>
                        <a:rPr lang="es-ES" sz="1000" dirty="0" err="1">
                          <a:effectLst/>
                          <a:latin typeface="Calibri" panose="020F0502020204030204" pitchFamily="34" charset="0"/>
                          <a:cs typeface="Calibri" panose="020F0502020204030204" pitchFamily="34" charset="0"/>
                        </a:rPr>
                        <a:t>Table</a:t>
                      </a:r>
                      <a:r>
                        <a:rPr lang="es-ES" sz="1000" dirty="0">
                          <a:effectLst/>
                          <a:latin typeface="Calibri" panose="020F0502020204030204" pitchFamily="34" charset="0"/>
                          <a:cs typeface="Calibri" panose="020F0502020204030204" pitchFamily="34" charset="0"/>
                        </a:rPr>
                        <a:t> (Sprint 7) (100%)</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US-STP6-DSM-DSC-TAB-40-Sort Data </a:t>
                      </a:r>
                      <a:r>
                        <a:rPr lang="es-ES" sz="1000" dirty="0" err="1">
                          <a:effectLst/>
                          <a:latin typeface="Calibri" panose="020F0502020204030204" pitchFamily="34" charset="0"/>
                          <a:cs typeface="Calibri" panose="020F0502020204030204" pitchFamily="34" charset="0"/>
                        </a:rPr>
                        <a:t>Table</a:t>
                      </a:r>
                      <a:r>
                        <a:rPr lang="es-ES" sz="1000" dirty="0">
                          <a:effectLst/>
                          <a:latin typeface="Calibri" panose="020F0502020204030204" pitchFamily="34" charset="0"/>
                          <a:cs typeface="Calibri" panose="020F0502020204030204" pitchFamily="34" charset="0"/>
                        </a:rPr>
                        <a:t> (Sprint 9) (50%)</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US-STP6-DSM-DSC-TAB-50-Delete Record </a:t>
                      </a:r>
                      <a:r>
                        <a:rPr lang="es-ES" sz="1000" dirty="0" err="1">
                          <a:effectLst/>
                          <a:latin typeface="Calibri" panose="020F0502020204030204" pitchFamily="34" charset="0"/>
                          <a:cs typeface="Calibri" panose="020F0502020204030204" pitchFamily="34" charset="0"/>
                        </a:rPr>
                        <a:t>Table</a:t>
                      </a:r>
                      <a:r>
                        <a:rPr lang="es-ES" sz="1000" dirty="0">
                          <a:effectLst/>
                          <a:latin typeface="Calibri" panose="020F0502020204030204" pitchFamily="34" charset="0"/>
                          <a:cs typeface="Calibri" panose="020F0502020204030204" pitchFamily="34" charset="0"/>
                        </a:rPr>
                        <a:t> (Sprint4) (100%)</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US-STP6-DSM-DSC-TAB-Delete </a:t>
                      </a:r>
                      <a:r>
                        <a:rPr lang="es-ES" sz="1000" dirty="0" err="1">
                          <a:effectLst/>
                          <a:latin typeface="Calibri" panose="020F0502020204030204" pitchFamily="34" charset="0"/>
                          <a:cs typeface="Calibri" panose="020F0502020204030204" pitchFamily="34" charset="0"/>
                        </a:rPr>
                        <a:t>table</a:t>
                      </a:r>
                      <a:r>
                        <a:rPr lang="es-ES" sz="1000" dirty="0">
                          <a:effectLst/>
                          <a:latin typeface="Calibri" panose="020F0502020204030204" pitchFamily="34" charset="0"/>
                          <a:cs typeface="Calibri" panose="020F0502020204030204" pitchFamily="34" charset="0"/>
                        </a:rPr>
                        <a:t> </a:t>
                      </a:r>
                      <a:r>
                        <a:rPr lang="es-ES" sz="1000" dirty="0" err="1">
                          <a:effectLst/>
                          <a:latin typeface="Calibri" panose="020F0502020204030204" pitchFamily="34" charset="0"/>
                          <a:cs typeface="Calibri" panose="020F0502020204030204" pitchFamily="34" charset="0"/>
                        </a:rPr>
                        <a:t>button</a:t>
                      </a:r>
                      <a:r>
                        <a:rPr lang="es-ES" sz="1000" dirty="0">
                          <a:effectLst/>
                          <a:latin typeface="Calibri" panose="020F0502020204030204" pitchFamily="34" charset="0"/>
                          <a:cs typeface="Calibri" panose="020F0502020204030204" pitchFamily="34" charset="0"/>
                        </a:rPr>
                        <a:t> (Sprint 3) (100</a:t>
                      </a:r>
                      <a:r>
                        <a:rPr lang="es-ES" sz="1000" dirty="0" smtClean="0">
                          <a:effectLst/>
                          <a:latin typeface="Calibri" panose="020F0502020204030204" pitchFamily="34" charset="0"/>
                          <a:cs typeface="Calibri" panose="020F0502020204030204" pitchFamily="34" charset="0"/>
                        </a:rPr>
                        <a:t>%)</a:t>
                      </a:r>
                    </a:p>
                    <a:p>
                      <a:pPr marL="0" marR="0" lvl="0" indent="0" algn="l" defTabSz="914423" rtl="0" eaLnBrk="1" fontAlgn="auto" latinLnBrk="0" hangingPunct="1">
                        <a:lnSpc>
                          <a:spcPct val="107000"/>
                        </a:lnSpc>
                        <a:spcBef>
                          <a:spcPts val="0"/>
                        </a:spcBef>
                        <a:spcAft>
                          <a:spcPts val="0"/>
                        </a:spcAft>
                        <a:buClrTx/>
                        <a:buSzTx/>
                        <a:buFontTx/>
                        <a:buNone/>
                        <a:tabLst/>
                        <a:defRPr/>
                      </a:pPr>
                      <a:r>
                        <a:rPr lang="es-ES" sz="1000" dirty="0" smtClean="0">
                          <a:effectLst/>
                          <a:latin typeface="Calibri" panose="020F0502020204030204" pitchFamily="34" charset="0"/>
                          <a:cs typeface="Calibri" panose="020F0502020204030204" pitchFamily="34" charset="0"/>
                        </a:rPr>
                        <a:t>US-STP6-DSM-03- View web </a:t>
                      </a:r>
                      <a:r>
                        <a:rPr lang="es-ES" sz="1000" dirty="0" err="1" smtClean="0">
                          <a:effectLst/>
                          <a:latin typeface="Calibri" panose="020F0502020204030204" pitchFamily="34" charset="0"/>
                          <a:cs typeface="Calibri" panose="020F0502020204030204" pitchFamily="34" charset="0"/>
                        </a:rPr>
                        <a:t>forms</a:t>
                      </a:r>
                      <a:r>
                        <a:rPr lang="es-ES" sz="1000" dirty="0" smtClean="0">
                          <a:effectLst/>
                          <a:latin typeface="Calibri" panose="020F0502020204030204" pitchFamily="34" charset="0"/>
                          <a:cs typeface="Calibri" panose="020F0502020204030204" pitchFamily="34" charset="0"/>
                        </a:rPr>
                        <a:t> (Sprint 2) (50%)</a:t>
                      </a:r>
                      <a:endParaRPr lang="es-ES" sz="100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3619849090"/>
                  </a:ext>
                </a:extLst>
              </a:tr>
              <a:tr h="0">
                <a:tc gridSpan="2">
                  <a:txBody>
                    <a:bodyPr/>
                    <a:lstStyle/>
                    <a:p>
                      <a:pPr>
                        <a:lnSpc>
                          <a:spcPct val="107000"/>
                        </a:lnSpc>
                        <a:spcAft>
                          <a:spcPts val="0"/>
                        </a:spcAft>
                      </a:pPr>
                      <a:r>
                        <a:rPr lang="es-ES" sz="1000" b="1" dirty="0" smtClean="0">
                          <a:effectLst/>
                          <a:latin typeface="Calibri" panose="020F0502020204030204" pitchFamily="34" charset="0"/>
                          <a:cs typeface="Calibri" panose="020F0502020204030204" pitchFamily="34" charset="0"/>
                        </a:rPr>
                        <a:t>EP-STP6-DFW-RDS </a:t>
                      </a:r>
                      <a:r>
                        <a:rPr lang="es-ES" sz="1000" b="1" dirty="0" err="1" smtClean="0">
                          <a:effectLst/>
                          <a:latin typeface="Calibri" panose="020F0502020204030204" pitchFamily="34" charset="0"/>
                          <a:cs typeface="Calibri" panose="020F0502020204030204" pitchFamily="34" charset="0"/>
                        </a:rPr>
                        <a:t>Manage</a:t>
                      </a:r>
                      <a:r>
                        <a:rPr lang="es-ES" sz="1000" b="1" dirty="0" smtClean="0">
                          <a:effectLst/>
                          <a:latin typeface="Calibri" panose="020F0502020204030204" pitchFamily="34" charset="0"/>
                          <a:cs typeface="Calibri" panose="020F0502020204030204" pitchFamily="34" charset="0"/>
                        </a:rPr>
                        <a:t> </a:t>
                      </a:r>
                      <a:r>
                        <a:rPr lang="es-ES" sz="1000" b="1" dirty="0" err="1" smtClean="0">
                          <a:effectLst/>
                          <a:latin typeface="Calibri" panose="020F0502020204030204" pitchFamily="34" charset="0"/>
                          <a:cs typeface="Calibri" panose="020F0502020204030204" pitchFamily="34" charset="0"/>
                        </a:rPr>
                        <a:t>reporting</a:t>
                      </a:r>
                      <a:r>
                        <a:rPr lang="es-ES" sz="1000" b="1" dirty="0" smtClean="0">
                          <a:effectLst/>
                          <a:latin typeface="Calibri" panose="020F0502020204030204" pitchFamily="34" charset="0"/>
                          <a:cs typeface="Calibri" panose="020F0502020204030204" pitchFamily="34" charset="0"/>
                        </a:rPr>
                        <a:t> data set</a:t>
                      </a:r>
                      <a:endParaRPr lang="es-ES" sz="10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297698150"/>
                  </a:ext>
                </a:extLst>
              </a:tr>
              <a:tr h="395888">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1000" dirty="0">
                          <a:effectLst/>
                          <a:latin typeface="Calibri" panose="020F0502020204030204" pitchFamily="34" charset="0"/>
                          <a:cs typeface="Calibri" panose="020F0502020204030204" pitchFamily="34" charset="0"/>
                        </a:rPr>
                        <a:t>US-STP6-DFW-RDS-02-Submit new data to </a:t>
                      </a:r>
                      <a:r>
                        <a:rPr lang="es-ES" sz="1000" dirty="0" err="1">
                          <a:effectLst/>
                          <a:latin typeface="Calibri" panose="020F0502020204030204" pitchFamily="34" charset="0"/>
                          <a:cs typeface="Calibri" panose="020F0502020204030204" pitchFamily="34" charset="0"/>
                        </a:rPr>
                        <a:t>reporting</a:t>
                      </a:r>
                      <a:r>
                        <a:rPr lang="es-ES" sz="1000" dirty="0">
                          <a:effectLst/>
                          <a:latin typeface="Calibri" panose="020F0502020204030204" pitchFamily="34" charset="0"/>
                          <a:cs typeface="Calibri" panose="020F0502020204030204" pitchFamily="34" charset="0"/>
                        </a:rPr>
                        <a:t> data set (Sprint4) (100%)</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US-STP6-DFW-RDS-03-Delete </a:t>
                      </a:r>
                      <a:r>
                        <a:rPr lang="es-ES" sz="1000" dirty="0" err="1">
                          <a:effectLst/>
                          <a:latin typeface="Calibri" panose="020F0502020204030204" pitchFamily="34" charset="0"/>
                          <a:cs typeface="Calibri" panose="020F0502020204030204" pitchFamily="34" charset="0"/>
                        </a:rPr>
                        <a:t>reporting</a:t>
                      </a:r>
                      <a:r>
                        <a:rPr lang="es-ES" sz="1000" dirty="0">
                          <a:effectLst/>
                          <a:latin typeface="Calibri" panose="020F0502020204030204" pitchFamily="34" charset="0"/>
                          <a:cs typeface="Calibri" panose="020F0502020204030204" pitchFamily="34" charset="0"/>
                        </a:rPr>
                        <a:t> data set (Sprint 2) (100%)</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US-STP6-DFW-RDS-05-Edit Data in Data Set Management </a:t>
                      </a:r>
                      <a:r>
                        <a:rPr lang="es-ES" sz="1000" dirty="0" err="1">
                          <a:effectLst/>
                          <a:latin typeface="Calibri" panose="020F0502020204030204" pitchFamily="34" charset="0"/>
                          <a:cs typeface="Calibri" panose="020F0502020204030204" pitchFamily="34" charset="0"/>
                        </a:rPr>
                        <a:t>Tool</a:t>
                      </a:r>
                      <a:r>
                        <a:rPr lang="es-ES" sz="1000" dirty="0">
                          <a:effectLst/>
                          <a:latin typeface="Calibri" panose="020F0502020204030204" pitchFamily="34" charset="0"/>
                          <a:cs typeface="Calibri" panose="020F0502020204030204" pitchFamily="34" charset="0"/>
                        </a:rPr>
                        <a:t> (Sprint 6) (100%)</a:t>
                      </a:r>
                    </a:p>
                    <a:p>
                      <a:pPr>
                        <a:lnSpc>
                          <a:spcPct val="107000"/>
                        </a:lnSpc>
                        <a:spcAft>
                          <a:spcPts val="0"/>
                        </a:spcAft>
                      </a:pPr>
                      <a:r>
                        <a:rPr lang="es-ES" sz="1000" dirty="0">
                          <a:effectLst/>
                          <a:latin typeface="Calibri" panose="020F0502020204030204" pitchFamily="34" charset="0"/>
                          <a:cs typeface="Calibri" panose="020F0502020204030204" pitchFamily="34" charset="0"/>
                        </a:rPr>
                        <a:t>US-STP6-DFW-RDS-06-Release data set to data </a:t>
                      </a:r>
                      <a:r>
                        <a:rPr lang="es-ES" sz="1000" dirty="0" err="1">
                          <a:effectLst/>
                          <a:latin typeface="Calibri" panose="020F0502020204030204" pitchFamily="34" charset="0"/>
                          <a:cs typeface="Calibri" panose="020F0502020204030204" pitchFamily="34" charset="0"/>
                        </a:rPr>
                        <a:t>collection</a:t>
                      </a:r>
                      <a:r>
                        <a:rPr lang="es-ES" sz="1000" dirty="0">
                          <a:effectLst/>
                          <a:latin typeface="Calibri" panose="020F0502020204030204" pitchFamily="34" charset="0"/>
                          <a:cs typeface="Calibri" panose="020F0502020204030204" pitchFamily="34" charset="0"/>
                        </a:rPr>
                        <a:t> (Sprint 6) (50</a:t>
                      </a:r>
                      <a:r>
                        <a:rPr lang="es-ES" sz="1000" dirty="0" smtClean="0">
                          <a:effectLst/>
                          <a:latin typeface="Calibri" panose="020F0502020204030204" pitchFamily="34" charset="0"/>
                          <a:cs typeface="Calibri" panose="020F0502020204030204" pitchFamily="34" charset="0"/>
                        </a:rPr>
                        <a:t>%)</a:t>
                      </a:r>
                    </a:p>
                  </a:txBody>
                  <a:tcPr marL="36000" marR="36000" marT="36000" marB="36000" anchor="ctr"/>
                </a:tc>
                <a:extLst>
                  <a:ext uri="{0D108BD9-81ED-4DB2-BD59-A6C34878D82A}">
                    <a16:rowId xmlns:a16="http://schemas.microsoft.com/office/drawing/2014/main" val="4207606868"/>
                  </a:ext>
                </a:extLst>
              </a:tr>
            </a:tbl>
          </a:graphicData>
        </a:graphic>
      </p:graphicFrame>
      <p:sp>
        <p:nvSpPr>
          <p:cNvPr id="18" name="Rectángulo 17"/>
          <p:cNvSpPr/>
          <p:nvPr/>
        </p:nvSpPr>
        <p:spPr>
          <a:xfrm>
            <a:off x="107021" y="1574231"/>
            <a:ext cx="3027480" cy="1043189"/>
          </a:xfrm>
          <a:prstGeom prst="rect">
            <a:avLst/>
          </a:prstGeom>
          <a:solidFill>
            <a:schemeClr val="accent4">
              <a:lumMod val="20000"/>
              <a:lumOff val="80000"/>
            </a:schemeClr>
          </a:solid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US" sz="1600" dirty="0">
                <a:solidFill>
                  <a:schemeClr val="accent4">
                    <a:lumMod val="50000"/>
                  </a:schemeClr>
                </a:solidFill>
                <a:latin typeface="Calibri" panose="020F0502020204030204" pitchFamily="34" charset="0"/>
              </a:rPr>
              <a:t>Step 6</a:t>
            </a:r>
          </a:p>
          <a:p>
            <a:pPr algn="ctr"/>
            <a:r>
              <a:rPr lang="en-US" sz="1600" dirty="0">
                <a:solidFill>
                  <a:schemeClr val="accent4">
                    <a:lumMod val="50000"/>
                  </a:schemeClr>
                </a:solidFill>
                <a:latin typeface="Calibri" panose="020F0502020204030204" pitchFamily="34" charset="0"/>
              </a:rPr>
              <a:t>Organizing the data </a:t>
            </a:r>
          </a:p>
          <a:p>
            <a:pPr algn="ctr"/>
            <a:r>
              <a:rPr lang="en-US" sz="1600" dirty="0">
                <a:solidFill>
                  <a:schemeClr val="accent4">
                    <a:lumMod val="50000"/>
                  </a:schemeClr>
                </a:solidFill>
                <a:latin typeface="Calibri" panose="020F0502020204030204" pitchFamily="34" charset="0"/>
              </a:rPr>
              <a:t>Submission or harvesting</a:t>
            </a:r>
            <a:endParaRPr lang="es-ES" sz="1600" dirty="0">
              <a:solidFill>
                <a:schemeClr val="accent4">
                  <a:lumMod val="50000"/>
                </a:schemeClr>
              </a:solidFill>
              <a:latin typeface="Calibri" panose="020F0502020204030204" pitchFamily="34" charset="0"/>
            </a:endParaRPr>
          </a:p>
        </p:txBody>
      </p:sp>
      <p:grpSp>
        <p:nvGrpSpPr>
          <p:cNvPr id="30" name="Grupo 29"/>
          <p:cNvGrpSpPr/>
          <p:nvPr/>
        </p:nvGrpSpPr>
        <p:grpSpPr>
          <a:xfrm>
            <a:off x="219306" y="927289"/>
            <a:ext cx="11713514" cy="288000"/>
            <a:chOff x="277982" y="927289"/>
            <a:chExt cx="8986713" cy="288000"/>
          </a:xfrm>
        </p:grpSpPr>
        <p:sp>
          <p:nvSpPr>
            <p:cNvPr id="31" name="Rectángulo 30"/>
            <p:cNvSpPr/>
            <p:nvPr/>
          </p:nvSpPr>
          <p:spPr>
            <a:xfrm>
              <a:off x="3300988"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5</a:t>
              </a:r>
            </a:p>
          </p:txBody>
        </p:sp>
        <p:sp>
          <p:nvSpPr>
            <p:cNvPr id="32" name="Rectángulo 31"/>
            <p:cNvSpPr/>
            <p:nvPr/>
          </p:nvSpPr>
          <p:spPr>
            <a:xfrm>
              <a:off x="277982"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4</a:t>
              </a:r>
            </a:p>
          </p:txBody>
        </p:sp>
        <p:sp>
          <p:nvSpPr>
            <p:cNvPr id="33" name="Rectángulo 32"/>
            <p:cNvSpPr/>
            <p:nvPr/>
          </p:nvSpPr>
          <p:spPr>
            <a:xfrm>
              <a:off x="4812491"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7 </a:t>
              </a:r>
              <a:endParaRPr lang="en-US" sz="1600" dirty="0" smtClean="0">
                <a:solidFill>
                  <a:schemeClr val="tx1">
                    <a:lumMod val="50000"/>
                    <a:lumOff val="50000"/>
                  </a:schemeClr>
                </a:solidFill>
                <a:latin typeface="Calibri" panose="020F0502020204030204" pitchFamily="34" charset="0"/>
              </a:endParaRPr>
            </a:p>
          </p:txBody>
        </p:sp>
        <p:sp>
          <p:nvSpPr>
            <p:cNvPr id="34" name="Rectángulo 33"/>
            <p:cNvSpPr/>
            <p:nvPr/>
          </p:nvSpPr>
          <p:spPr>
            <a:xfrm>
              <a:off x="6323994"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8 </a:t>
              </a:r>
            </a:p>
          </p:txBody>
        </p:sp>
        <p:sp>
          <p:nvSpPr>
            <p:cNvPr id="35" name="Rectángulo 34"/>
            <p:cNvSpPr/>
            <p:nvPr/>
          </p:nvSpPr>
          <p:spPr>
            <a:xfrm>
              <a:off x="7835495"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a:t>
              </a:r>
              <a:r>
                <a:rPr lang="en-US" sz="1600" dirty="0" smtClean="0">
                  <a:solidFill>
                    <a:schemeClr val="tx1">
                      <a:lumMod val="50000"/>
                      <a:lumOff val="50000"/>
                    </a:schemeClr>
                  </a:solidFill>
                  <a:latin typeface="Calibri" panose="020F0502020204030204" pitchFamily="34" charset="0"/>
                </a:rPr>
                <a:t>9</a:t>
              </a:r>
              <a:endParaRPr lang="es-ES" sz="1600" dirty="0">
                <a:solidFill>
                  <a:schemeClr val="tx1">
                    <a:lumMod val="50000"/>
                    <a:lumOff val="50000"/>
                  </a:schemeClr>
                </a:solidFill>
                <a:latin typeface="Calibri" panose="020F0502020204030204" pitchFamily="34" charset="0"/>
              </a:endParaRPr>
            </a:p>
          </p:txBody>
        </p:sp>
        <p:sp>
          <p:nvSpPr>
            <p:cNvPr id="36" name="Rectángulo 35"/>
            <p:cNvSpPr/>
            <p:nvPr/>
          </p:nvSpPr>
          <p:spPr>
            <a:xfrm>
              <a:off x="1789485" y="927289"/>
              <a:ext cx="1429200" cy="288000"/>
            </a:xfrm>
            <a:prstGeom prst="rect">
              <a:avLst/>
            </a:prstGeom>
            <a:solidFill>
              <a:schemeClr val="accent4">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US" sz="2000" b="1" dirty="0">
                  <a:solidFill>
                    <a:schemeClr val="bg1"/>
                  </a:solidFill>
                  <a:latin typeface="Calibri" panose="020F0502020204030204" pitchFamily="34" charset="0"/>
                </a:rPr>
                <a:t>Step 6</a:t>
              </a:r>
            </a:p>
          </p:txBody>
        </p:sp>
      </p:grpSp>
      <p:graphicFrame>
        <p:nvGraphicFramePr>
          <p:cNvPr id="24" name="Tabla 23"/>
          <p:cNvGraphicFramePr>
            <a:graphicFrameLocks noGrp="1"/>
          </p:cNvGraphicFramePr>
          <p:nvPr>
            <p:extLst>
              <p:ext uri="{D42A27DB-BD31-4B8C-83A1-F6EECF244321}">
                <p14:modId xmlns:p14="http://schemas.microsoft.com/office/powerpoint/2010/main" val="2310440213"/>
              </p:ext>
            </p:extLst>
          </p:nvPr>
        </p:nvGraphicFramePr>
        <p:xfrm>
          <a:off x="7734300" y="1469002"/>
          <a:ext cx="4291020" cy="5284850"/>
        </p:xfrm>
        <a:graphic>
          <a:graphicData uri="http://schemas.openxmlformats.org/drawingml/2006/table">
            <a:tbl>
              <a:tblPr firstRow="1" bandRow="1">
                <a:tableStyleId>{00A15C55-8517-42AA-B614-E9B94910E393}</a:tableStyleId>
              </a:tblPr>
              <a:tblGrid>
                <a:gridCol w="200443">
                  <a:extLst>
                    <a:ext uri="{9D8B030D-6E8A-4147-A177-3AD203B41FA5}">
                      <a16:colId xmlns:a16="http://schemas.microsoft.com/office/drawing/2014/main" val="3917562794"/>
                    </a:ext>
                  </a:extLst>
                </a:gridCol>
                <a:gridCol w="4090577">
                  <a:extLst>
                    <a:ext uri="{9D8B030D-6E8A-4147-A177-3AD203B41FA5}">
                      <a16:colId xmlns:a16="http://schemas.microsoft.com/office/drawing/2014/main" val="56879781"/>
                    </a:ext>
                  </a:extLst>
                </a:gridCol>
              </a:tblGrid>
              <a:tr h="275085">
                <a:tc gridSpan="2">
                  <a:txBody>
                    <a:bodyPr/>
                    <a:lstStyle/>
                    <a:p>
                      <a:r>
                        <a:rPr lang="en-GB" sz="1200" noProof="0" dirty="0" smtClean="0">
                          <a:latin typeface="Calibri" panose="020F0502020204030204" pitchFamily="34" charset="0"/>
                          <a:cs typeface="Calibri" panose="020F0502020204030204" pitchFamily="34" charset="0"/>
                        </a:rPr>
                        <a:t>Release</a:t>
                      </a:r>
                      <a:r>
                        <a:rPr lang="en-GB" sz="1200" baseline="0" noProof="0" dirty="0" smtClean="0">
                          <a:latin typeface="Calibri" panose="020F0502020204030204" pitchFamily="34" charset="0"/>
                          <a:cs typeface="Calibri" panose="020F0502020204030204" pitchFamily="34" charset="0"/>
                        </a:rPr>
                        <a:t> Candidate 1 - </a:t>
                      </a:r>
                      <a:r>
                        <a:rPr lang="en-GB" sz="1200" noProof="0" dirty="0" smtClean="0">
                          <a:latin typeface="Calibri" panose="020F0502020204030204" pitchFamily="34" charset="0"/>
                          <a:cs typeface="Calibri" panose="020F0502020204030204" pitchFamily="34" charset="0"/>
                        </a:rPr>
                        <a:t>STEP 6 </a:t>
                      </a:r>
                      <a:r>
                        <a:rPr lang="en-GB" sz="1200" baseline="0" noProof="0" dirty="0" smtClean="0">
                          <a:latin typeface="Calibri" panose="020F0502020204030204" pitchFamily="34" charset="0"/>
                          <a:cs typeface="Calibri" panose="020F0502020204030204" pitchFamily="34" charset="0"/>
                        </a:rPr>
                        <a:t> </a:t>
                      </a:r>
                      <a:r>
                        <a:rPr lang="en-GB" sz="1200" noProof="0" dirty="0" smtClean="0">
                          <a:latin typeface="Calibri" panose="020F0502020204030204" pitchFamily="34" charset="0"/>
                          <a:cs typeface="Calibri" panose="020F0502020204030204" pitchFamily="34" charset="0"/>
                        </a:rPr>
                        <a:t>Planned Scope</a:t>
                      </a:r>
                      <a:endParaRPr lang="en-GB" sz="1200" noProof="0" dirty="0">
                        <a:latin typeface="Calibri" panose="020F0502020204030204" pitchFamily="34" charset="0"/>
                        <a:cs typeface="Calibri" panose="020F0502020204030204" pitchFamily="34" charset="0"/>
                      </a:endParaRPr>
                    </a:p>
                  </a:txBody>
                  <a:tcPr/>
                </a:tc>
                <a:tc hMerge="1">
                  <a:txBody>
                    <a:bodyPr/>
                    <a:lstStyle/>
                    <a:p>
                      <a:endParaRPr lang="es-ES"/>
                    </a:p>
                  </a:txBody>
                  <a:tcPr/>
                </a:tc>
                <a:extLst>
                  <a:ext uri="{0D108BD9-81ED-4DB2-BD59-A6C34878D82A}">
                    <a16:rowId xmlns:a16="http://schemas.microsoft.com/office/drawing/2014/main" val="469749394"/>
                  </a:ext>
                </a:extLst>
              </a:tr>
              <a:tr h="162545">
                <a:tc gridSpan="2">
                  <a:txBody>
                    <a:bodyPr/>
                    <a:lstStyle/>
                    <a:p>
                      <a:pPr>
                        <a:lnSpc>
                          <a:spcPct val="107000"/>
                        </a:lnSpc>
                        <a:spcAft>
                          <a:spcPts val="0"/>
                        </a:spcAft>
                      </a:pPr>
                      <a:r>
                        <a:rPr lang="en-GB" sz="1000" b="1" noProof="0" dirty="0" smtClean="0">
                          <a:effectLst/>
                          <a:latin typeface="Calibri" panose="020F0502020204030204" pitchFamily="34" charset="0"/>
                          <a:cs typeface="Calibri" panose="020F0502020204030204" pitchFamily="34" charset="0"/>
                        </a:rPr>
                        <a:t>EP-STP6-DSM-QC QC rules</a:t>
                      </a:r>
                      <a:endParaRPr lang="en-GB" sz="1000" b="1" noProof="0"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23468738"/>
                  </a:ext>
                </a:extLst>
              </a:tr>
              <a:tr h="1137401">
                <a:tc>
                  <a:txBody>
                    <a:bodyPr/>
                    <a:lstStyle/>
                    <a:p>
                      <a:pPr>
                        <a:lnSpc>
                          <a:spcPct val="107000"/>
                        </a:lnSpc>
                        <a:spcAft>
                          <a:spcPts val="0"/>
                        </a:spcAft>
                      </a:pPr>
                      <a:endParaRPr lang="es-ES" sz="10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US-STP6-DSM-QC-01-List of Validations (Sprint 2)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US-STP6-DSM-QC-02-New Validation (Sprint 2) (50%)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US-STP6-DSM-QC-02-Re Run Validations (Sprint 7)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US-STP6-DSM-QC-03-View validation per field (Sprint 2)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US-STP6-DSM-QC-04-View validation per record (Sprint 2)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US-STP6-DSM-QC-05-View validation per dataset (Sprint 1)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US-STP6-DSM-QC-06-View validation per Table (Sprint 2) (100%)</a:t>
                      </a:r>
                      <a:endParaRPr lang="en-GB" sz="1000" noProof="0"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1207482829"/>
                  </a:ext>
                </a:extLst>
              </a:tr>
              <a:tr h="162545">
                <a:tc gridSpan="2">
                  <a:txBody>
                    <a:bodyPr/>
                    <a:lstStyle/>
                    <a:p>
                      <a:pPr marL="0" marR="0" lvl="0" indent="0" algn="l" defTabSz="914423" rtl="0" eaLnBrk="1" fontAlgn="auto" latinLnBrk="0" hangingPunct="1">
                        <a:lnSpc>
                          <a:spcPct val="107000"/>
                        </a:lnSpc>
                        <a:spcBef>
                          <a:spcPts val="0"/>
                        </a:spcBef>
                        <a:spcAft>
                          <a:spcPts val="0"/>
                        </a:spcAft>
                        <a:buClrTx/>
                        <a:buSzTx/>
                        <a:buFontTx/>
                        <a:buNone/>
                        <a:tabLst/>
                        <a:defRPr/>
                      </a:pPr>
                      <a:r>
                        <a:rPr lang="en-GB" sz="1000" b="1" noProof="0" dirty="0" smtClean="0">
                          <a:effectLst/>
                          <a:latin typeface="Calibri" panose="020F0502020204030204" pitchFamily="34" charset="0"/>
                          <a:cs typeface="Calibri" panose="020F0502020204030204" pitchFamily="34" charset="0"/>
                        </a:rPr>
                        <a:t>EP-STP6-DSM-SNP Snapshots</a:t>
                      </a:r>
                    </a:p>
                  </a:txBody>
                  <a:tcPr marL="36000" marR="36000" marT="36000" marB="36000" anchor="ctr"/>
                </a:tc>
                <a:tc hMerge="1">
                  <a:txBody>
                    <a:bodyPr/>
                    <a:lstStyle/>
                    <a:p>
                      <a:endParaRPr lang="es-ES"/>
                    </a:p>
                  </a:txBody>
                  <a:tcPr/>
                </a:tc>
                <a:extLst>
                  <a:ext uri="{0D108BD9-81ED-4DB2-BD59-A6C34878D82A}">
                    <a16:rowId xmlns:a16="http://schemas.microsoft.com/office/drawing/2014/main" val="3666704428"/>
                  </a:ext>
                </a:extLst>
              </a:tr>
              <a:tr h="646832">
                <a:tc>
                  <a:txBody>
                    <a:bodyPr/>
                    <a:lstStyle/>
                    <a:p>
                      <a:pPr>
                        <a:lnSpc>
                          <a:spcPct val="107000"/>
                        </a:lnSpc>
                        <a:spcAft>
                          <a:spcPts val="0"/>
                        </a:spcAft>
                      </a:pPr>
                      <a:endParaRPr lang="es-ES" sz="1000" b="1"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US-STP6-DSM-SNP-01Create data snapshots (Sprint 4)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US-STP6-DSM-SNP-02-Restore data snapshots (Sprint 6)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US-STP6-DSM-SNP-03-Delete data snapshots (Sprint 4)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US-STP6-DSM-SNP-04-List data snapshots (Sprint 4) (100%)</a:t>
                      </a:r>
                      <a:endParaRPr lang="en-GB" sz="1000" b="1"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3619849090"/>
                  </a:ext>
                </a:extLst>
              </a:tr>
              <a:tr h="162545">
                <a:tc gridSpan="2">
                  <a:txBody>
                    <a:bodyPr/>
                    <a:lstStyle/>
                    <a:p>
                      <a:pPr>
                        <a:lnSpc>
                          <a:spcPct val="107000"/>
                        </a:lnSpc>
                        <a:spcAft>
                          <a:spcPts val="0"/>
                        </a:spcAft>
                      </a:pPr>
                      <a:r>
                        <a:rPr lang="en-GB" sz="1000" b="1" noProof="0" dirty="0" smtClean="0">
                          <a:effectLst/>
                          <a:latin typeface="Calibri" panose="020F0502020204030204" pitchFamily="34" charset="0"/>
                          <a:cs typeface="Calibri" panose="020F0502020204030204" pitchFamily="34" charset="0"/>
                        </a:rPr>
                        <a:t>EP-STP6-DAS-MY My Data Flows &amp;   EP-STP6-DAS-PEN Pending Data Flows</a:t>
                      </a:r>
                      <a:endParaRPr lang="en-GB" sz="1000" b="1"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297698150"/>
                  </a:ext>
                </a:extLst>
              </a:tr>
              <a:tr h="483310">
                <a:tc>
                  <a:txBody>
                    <a:bodyPr/>
                    <a:lstStyle/>
                    <a:p>
                      <a:pPr>
                        <a:lnSpc>
                          <a:spcPct val="107000"/>
                        </a:lnSpc>
                        <a:spcAft>
                          <a:spcPts val="0"/>
                        </a:spcAft>
                      </a:pPr>
                      <a:endParaRPr lang="es-ES" sz="10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US-STP6-DAS-MY-01-List of my Data Flows (Sprint 1)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US-STP6-DAS-MY-05-Notifications for Data Flow (Sprint 10) </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US-STP6-DAS-PEN-01- List of pending Data Flows (Sprint 3) (100%)</a:t>
                      </a:r>
                      <a:endParaRPr lang="en-GB" sz="1000"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4207606868"/>
                  </a:ext>
                </a:extLst>
              </a:tr>
              <a:tr h="162545">
                <a:tc gridSpan="2">
                  <a:txBody>
                    <a:bodyPr/>
                    <a:lstStyle/>
                    <a:p>
                      <a:pPr marL="0" marR="0" lvl="0" indent="0" algn="l" defTabSz="914423" rtl="0" eaLnBrk="1" fontAlgn="auto" latinLnBrk="0" hangingPunct="1">
                        <a:lnSpc>
                          <a:spcPct val="107000"/>
                        </a:lnSpc>
                        <a:spcBef>
                          <a:spcPts val="0"/>
                        </a:spcBef>
                        <a:spcAft>
                          <a:spcPts val="0"/>
                        </a:spcAft>
                        <a:buClrTx/>
                        <a:buSzTx/>
                        <a:buFontTx/>
                        <a:buNone/>
                        <a:tabLst/>
                        <a:defRPr/>
                      </a:pPr>
                      <a:r>
                        <a:rPr lang="en-GB" sz="1000" b="1" noProof="0" dirty="0" smtClean="0">
                          <a:effectLst/>
                          <a:latin typeface="Calibri" panose="020F0502020204030204" pitchFamily="34" charset="0"/>
                          <a:cs typeface="Calibri" panose="020F0502020204030204" pitchFamily="34" charset="0"/>
                        </a:rPr>
                        <a:t>EP-STP6-DSM-DSC Data Schema</a:t>
                      </a:r>
                      <a:endParaRPr lang="en-GB" sz="1000" b="1"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pPr marL="0" marR="0" lvl="0" indent="0" algn="l" defTabSz="914423" rtl="0" eaLnBrk="1" fontAlgn="auto" latinLnBrk="0" hangingPunct="1">
                        <a:lnSpc>
                          <a:spcPct val="107000"/>
                        </a:lnSpc>
                        <a:spcBef>
                          <a:spcPts val="0"/>
                        </a:spcBef>
                        <a:spcAft>
                          <a:spcPts val="0"/>
                        </a:spcAft>
                        <a:buClrTx/>
                        <a:buSzTx/>
                        <a:buFontTx/>
                        <a:buNone/>
                        <a:tabLst/>
                        <a:defRPr/>
                      </a:pPr>
                      <a:endParaRPr lang="en-GB" sz="1000" b="1"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72000" marB="72000" anchor="ctr"/>
                </a:tc>
                <a:extLst>
                  <a:ext uri="{0D108BD9-81ED-4DB2-BD59-A6C34878D82A}">
                    <a16:rowId xmlns:a16="http://schemas.microsoft.com/office/drawing/2014/main" val="1362528688"/>
                  </a:ext>
                </a:extLst>
              </a:tr>
              <a:tr h="285065">
                <a:tc>
                  <a:txBody>
                    <a:bodyPr/>
                    <a:lstStyle/>
                    <a:p>
                      <a:pPr>
                        <a:lnSpc>
                          <a:spcPct val="107000"/>
                        </a:lnSpc>
                        <a:spcAft>
                          <a:spcPts val="0"/>
                        </a:spcAft>
                      </a:pPr>
                      <a:endParaRPr lang="es-ES" sz="10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marL="0" marR="0" lvl="0" indent="0" algn="l" defTabSz="914423" rtl="0" eaLnBrk="1" fontAlgn="auto" latinLnBrk="0" hangingPunct="1">
                        <a:lnSpc>
                          <a:spcPct val="107000"/>
                        </a:lnSpc>
                        <a:spcBef>
                          <a:spcPts val="0"/>
                        </a:spcBef>
                        <a:spcAft>
                          <a:spcPts val="0"/>
                        </a:spcAft>
                        <a:buClrTx/>
                        <a:buSzTx/>
                        <a:buFontTx/>
                        <a:buNone/>
                        <a:tabLst/>
                        <a:defRPr/>
                      </a:pPr>
                      <a:r>
                        <a:rPr lang="en-GB" sz="1000" noProof="0" dirty="0" smtClean="0">
                          <a:effectLst/>
                          <a:latin typeface="Calibri" panose="020F0502020204030204" pitchFamily="34" charset="0"/>
                          <a:cs typeface="Calibri" panose="020F0502020204030204" pitchFamily="34" charset="0"/>
                        </a:rPr>
                        <a:t>US-STP6-DSM-DSC-01-View data schema (Sprint 9) (100%)</a:t>
                      </a:r>
                      <a:endParaRPr lang="en-GB" sz="1000"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3461391251"/>
                  </a:ext>
                </a:extLst>
              </a:tr>
              <a:tr h="162545">
                <a:tc gridSpan="2">
                  <a:txBody>
                    <a:bodyPr/>
                    <a:lstStyle/>
                    <a:p>
                      <a:pPr>
                        <a:lnSpc>
                          <a:spcPct val="107000"/>
                        </a:lnSpc>
                        <a:spcAft>
                          <a:spcPts val="0"/>
                        </a:spcAft>
                      </a:pPr>
                      <a:r>
                        <a:rPr lang="en-GB" sz="1000" b="1" noProof="0" dirty="0" smtClean="0">
                          <a:effectLst/>
                          <a:latin typeface="Calibri" panose="020F0502020204030204" pitchFamily="34" charset="0"/>
                          <a:cs typeface="Calibri" panose="020F0502020204030204" pitchFamily="34" charset="0"/>
                        </a:rPr>
                        <a:t>EP-STP6-DFW-DOC Documentation &amp; EP-STP6-DFW-WBL Web Links</a:t>
                      </a:r>
                      <a:endParaRPr lang="en-GB" sz="1000" b="1"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pPr marL="0" marR="0" lvl="0" indent="0" algn="l" defTabSz="914423" rtl="0" eaLnBrk="1" fontAlgn="auto" latinLnBrk="0" hangingPunct="1">
                        <a:lnSpc>
                          <a:spcPct val="107000"/>
                        </a:lnSpc>
                        <a:spcBef>
                          <a:spcPts val="0"/>
                        </a:spcBef>
                        <a:spcAft>
                          <a:spcPts val="0"/>
                        </a:spcAft>
                        <a:buClrTx/>
                        <a:buSzTx/>
                        <a:buFontTx/>
                        <a:buNone/>
                        <a:tabLst/>
                        <a:defRPr/>
                      </a:pPr>
                      <a:endParaRPr lang="en-GB" sz="1000"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72000" marB="72000" anchor="ctr"/>
                </a:tc>
                <a:extLst>
                  <a:ext uri="{0D108BD9-81ED-4DB2-BD59-A6C34878D82A}">
                    <a16:rowId xmlns:a16="http://schemas.microsoft.com/office/drawing/2014/main" val="4135496093"/>
                  </a:ext>
                </a:extLst>
              </a:tr>
              <a:tr h="973878">
                <a:tc>
                  <a:txBody>
                    <a:bodyPr/>
                    <a:lstStyle/>
                    <a:p>
                      <a:pPr>
                        <a:lnSpc>
                          <a:spcPct val="107000"/>
                        </a:lnSpc>
                        <a:spcAft>
                          <a:spcPts val="0"/>
                        </a:spcAft>
                      </a:pPr>
                      <a:endParaRPr lang="es-ES" sz="10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US-STP6-DFW-DOC-01-List of Documentation (Sprint 4)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US-STP6-DFW-DOC-02-Download the Documentation (Sprint 4)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US-STP6-DFW-DOC-03-Upload Documentation (Sprint 4)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US-STP6-DFW-DOC-04-List of Web Links (Sprint 4)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US-STP6-DFW-DOC-05-Access the Web Links (Sprint 4) (100%)</a:t>
                      </a:r>
                    </a:p>
                    <a:p>
                      <a:pPr>
                        <a:lnSpc>
                          <a:spcPct val="107000"/>
                        </a:lnSpc>
                        <a:spcAft>
                          <a:spcPts val="0"/>
                        </a:spcAft>
                      </a:pPr>
                      <a:r>
                        <a:rPr lang="en-GB" sz="1000" noProof="0" dirty="0" smtClean="0">
                          <a:effectLst/>
                          <a:latin typeface="Calibri" panose="020F0502020204030204" pitchFamily="34" charset="0"/>
                          <a:cs typeface="Calibri" panose="020F0502020204030204" pitchFamily="34" charset="0"/>
                        </a:rPr>
                        <a:t>US-STP6-DSM-02-Code Lists (7)</a:t>
                      </a:r>
                      <a:endParaRPr lang="en-GB" sz="1000" noProof="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225242458"/>
                  </a:ext>
                </a:extLst>
              </a:tr>
            </a:tbl>
          </a:graphicData>
        </a:graphic>
      </p:graphicFrame>
      <p:cxnSp>
        <p:nvCxnSpPr>
          <p:cNvPr id="26" name="Conector angular 25"/>
          <p:cNvCxnSpPr>
            <a:stCxn id="25" idx="0"/>
            <a:endCxn id="24" idx="0"/>
          </p:cNvCxnSpPr>
          <p:nvPr/>
        </p:nvCxnSpPr>
        <p:spPr>
          <a:xfrm>
            <a:off x="2870554" y="1321933"/>
            <a:ext cx="7009256" cy="147069"/>
          </a:xfrm>
          <a:prstGeom prst="bentConnector2">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angular 27"/>
          <p:cNvCxnSpPr>
            <a:stCxn id="25" idx="0"/>
            <a:endCxn id="4" idx="0"/>
          </p:cNvCxnSpPr>
          <p:nvPr/>
        </p:nvCxnSpPr>
        <p:spPr>
          <a:xfrm>
            <a:off x="2870554" y="1321933"/>
            <a:ext cx="2626913" cy="147069"/>
          </a:xfrm>
          <a:prstGeom prst="bentConnector2">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7" name="Grupo 36"/>
          <p:cNvGrpSpPr/>
          <p:nvPr/>
        </p:nvGrpSpPr>
        <p:grpSpPr>
          <a:xfrm>
            <a:off x="41818" y="1767182"/>
            <a:ext cx="4941607" cy="1447887"/>
            <a:chOff x="154703" y="1767182"/>
            <a:chExt cx="4941607" cy="1447887"/>
          </a:xfrm>
        </p:grpSpPr>
        <p:sp>
          <p:nvSpPr>
            <p:cNvPr id="38" name="Rectángulo 37"/>
            <p:cNvSpPr/>
            <p:nvPr/>
          </p:nvSpPr>
          <p:spPr>
            <a:xfrm>
              <a:off x="154703" y="2765454"/>
              <a:ext cx="3055680" cy="449615"/>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Elipse 38"/>
            <p:cNvSpPr/>
            <p:nvPr/>
          </p:nvSpPr>
          <p:spPr>
            <a:xfrm>
              <a:off x="4952310" y="1767182"/>
              <a:ext cx="144000" cy="144000"/>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27" name="Grupo 26"/>
          <p:cNvGrpSpPr/>
          <p:nvPr/>
        </p:nvGrpSpPr>
        <p:grpSpPr>
          <a:xfrm>
            <a:off x="41818" y="3038760"/>
            <a:ext cx="7494307" cy="2227841"/>
            <a:chOff x="41818" y="3038760"/>
            <a:chExt cx="7494307" cy="2227841"/>
          </a:xfrm>
        </p:grpSpPr>
        <p:grpSp>
          <p:nvGrpSpPr>
            <p:cNvPr id="9" name="Grupo 8"/>
            <p:cNvGrpSpPr/>
            <p:nvPr/>
          </p:nvGrpSpPr>
          <p:grpSpPr>
            <a:xfrm>
              <a:off x="41818" y="3038760"/>
              <a:ext cx="7494307" cy="2227841"/>
              <a:chOff x="41818" y="3038760"/>
              <a:chExt cx="7494307" cy="2227841"/>
            </a:xfrm>
          </p:grpSpPr>
          <p:grpSp>
            <p:nvGrpSpPr>
              <p:cNvPr id="40" name="Grupo 39"/>
              <p:cNvGrpSpPr/>
              <p:nvPr/>
            </p:nvGrpSpPr>
            <p:grpSpPr>
              <a:xfrm>
                <a:off x="41818" y="3038760"/>
                <a:ext cx="7494307" cy="1059911"/>
                <a:chOff x="154703" y="3038760"/>
                <a:chExt cx="7494307" cy="1059911"/>
              </a:xfrm>
            </p:grpSpPr>
            <p:sp>
              <p:nvSpPr>
                <p:cNvPr id="41" name="Rectángulo 40"/>
                <p:cNvSpPr/>
                <p:nvPr/>
              </p:nvSpPr>
              <p:spPr>
                <a:xfrm>
                  <a:off x="154703" y="3671956"/>
                  <a:ext cx="3055680" cy="426715"/>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Elipse 41"/>
                <p:cNvSpPr/>
                <p:nvPr/>
              </p:nvSpPr>
              <p:spPr>
                <a:xfrm>
                  <a:off x="7505010" y="3038760"/>
                  <a:ext cx="144000" cy="144000"/>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sp>
            <p:nvSpPr>
              <p:cNvPr id="45" name="Elipse 44"/>
              <p:cNvSpPr/>
              <p:nvPr/>
            </p:nvSpPr>
            <p:spPr>
              <a:xfrm>
                <a:off x="5908176" y="5122601"/>
                <a:ext cx="144000" cy="144000"/>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sp>
          <p:nvSpPr>
            <p:cNvPr id="50" name="Rectángulo 49"/>
            <p:cNvSpPr/>
            <p:nvPr/>
          </p:nvSpPr>
          <p:spPr>
            <a:xfrm>
              <a:off x="41818" y="4446656"/>
              <a:ext cx="3055677" cy="143558"/>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59" name="Grupo 58"/>
          <p:cNvGrpSpPr/>
          <p:nvPr/>
        </p:nvGrpSpPr>
        <p:grpSpPr>
          <a:xfrm>
            <a:off x="41817" y="3217451"/>
            <a:ext cx="9464346" cy="1214170"/>
            <a:chOff x="41817" y="3217451"/>
            <a:chExt cx="9464346" cy="1214170"/>
          </a:xfrm>
        </p:grpSpPr>
        <p:sp>
          <p:nvSpPr>
            <p:cNvPr id="44" name="Rectángulo 43"/>
            <p:cNvSpPr/>
            <p:nvPr/>
          </p:nvSpPr>
          <p:spPr>
            <a:xfrm>
              <a:off x="41817" y="4294958"/>
              <a:ext cx="3055679" cy="136663"/>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Elipse 50"/>
            <p:cNvSpPr/>
            <p:nvPr/>
          </p:nvSpPr>
          <p:spPr>
            <a:xfrm>
              <a:off x="9362163" y="3217451"/>
              <a:ext cx="144000" cy="144000"/>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21" name="Grupo 20"/>
          <p:cNvGrpSpPr/>
          <p:nvPr/>
        </p:nvGrpSpPr>
        <p:grpSpPr>
          <a:xfrm>
            <a:off x="41817" y="4905171"/>
            <a:ext cx="11528096" cy="697500"/>
            <a:chOff x="41817" y="4905171"/>
            <a:chExt cx="11528096" cy="697500"/>
          </a:xfrm>
        </p:grpSpPr>
        <p:grpSp>
          <p:nvGrpSpPr>
            <p:cNvPr id="11" name="Grupo 10"/>
            <p:cNvGrpSpPr/>
            <p:nvPr/>
          </p:nvGrpSpPr>
          <p:grpSpPr>
            <a:xfrm>
              <a:off x="41817" y="4905171"/>
              <a:ext cx="11528096" cy="697500"/>
              <a:chOff x="41817" y="4905171"/>
              <a:chExt cx="11528096" cy="697500"/>
            </a:xfrm>
          </p:grpSpPr>
          <p:sp>
            <p:nvSpPr>
              <p:cNvPr id="54" name="Elipse 53"/>
              <p:cNvSpPr/>
              <p:nvPr/>
            </p:nvSpPr>
            <p:spPr>
              <a:xfrm>
                <a:off x="11425913" y="5458671"/>
                <a:ext cx="144000" cy="144000"/>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5" name="Rectángulo 54"/>
              <p:cNvSpPr/>
              <p:nvPr/>
            </p:nvSpPr>
            <p:spPr>
              <a:xfrm>
                <a:off x="41817" y="4905171"/>
                <a:ext cx="3055677" cy="297777"/>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56" name="Elipse 55"/>
            <p:cNvSpPr/>
            <p:nvPr/>
          </p:nvSpPr>
          <p:spPr>
            <a:xfrm>
              <a:off x="9533613" y="4940501"/>
              <a:ext cx="144000" cy="144000"/>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10" name="Grupo 9"/>
          <p:cNvGrpSpPr/>
          <p:nvPr/>
        </p:nvGrpSpPr>
        <p:grpSpPr>
          <a:xfrm>
            <a:off x="41818" y="1784168"/>
            <a:ext cx="9330995" cy="2491740"/>
            <a:chOff x="41818" y="1784168"/>
            <a:chExt cx="9330995" cy="2491740"/>
          </a:xfrm>
        </p:grpSpPr>
        <p:sp>
          <p:nvSpPr>
            <p:cNvPr id="53" name="Rectángulo 52"/>
            <p:cNvSpPr/>
            <p:nvPr/>
          </p:nvSpPr>
          <p:spPr>
            <a:xfrm>
              <a:off x="41818" y="4118180"/>
              <a:ext cx="3055676" cy="157728"/>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7" name="Elipse 56"/>
            <p:cNvSpPr/>
            <p:nvPr/>
          </p:nvSpPr>
          <p:spPr>
            <a:xfrm>
              <a:off x="9228813" y="1784168"/>
              <a:ext cx="144000" cy="144000"/>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grpSp>
        <p:nvGrpSpPr>
          <p:cNvPr id="22" name="Grupo 21"/>
          <p:cNvGrpSpPr/>
          <p:nvPr/>
        </p:nvGrpSpPr>
        <p:grpSpPr>
          <a:xfrm>
            <a:off x="41819" y="4158944"/>
            <a:ext cx="11821151" cy="714682"/>
            <a:chOff x="41819" y="4158944"/>
            <a:chExt cx="11821151" cy="714682"/>
          </a:xfrm>
        </p:grpSpPr>
        <p:sp>
          <p:nvSpPr>
            <p:cNvPr id="47" name="Rectángulo 46"/>
            <p:cNvSpPr/>
            <p:nvPr/>
          </p:nvSpPr>
          <p:spPr>
            <a:xfrm>
              <a:off x="41819" y="4613275"/>
              <a:ext cx="3055676" cy="260351"/>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Elipse 57"/>
            <p:cNvSpPr/>
            <p:nvPr/>
          </p:nvSpPr>
          <p:spPr>
            <a:xfrm>
              <a:off x="11718970" y="4158944"/>
              <a:ext cx="144000" cy="144000"/>
            </a:xfrm>
            <a:prstGeom prst="ellipse">
              <a:avLst/>
            </a:prstGeom>
            <a:solidFill>
              <a:schemeClr val="bg1"/>
            </a:solidFill>
            <a:ln w="28575">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sp>
        <p:nvSpPr>
          <p:cNvPr id="19" name="Rectángulo 18"/>
          <p:cNvSpPr/>
          <p:nvPr/>
        </p:nvSpPr>
        <p:spPr>
          <a:xfrm>
            <a:off x="107021" y="2711354"/>
            <a:ext cx="3027480" cy="2700000"/>
          </a:xfrm>
          <a:prstGeom prst="rect">
            <a:avLst/>
          </a:prstGeom>
          <a:noFill/>
          <a:ln w="31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smtClean="0">
                <a:solidFill>
                  <a:schemeClr val="tx1"/>
                </a:solidFill>
                <a:latin typeface="Calibri" panose="020F0502020204030204" pitchFamily="34" charset="0"/>
              </a:rPr>
              <a:t>Prepare </a:t>
            </a:r>
            <a:r>
              <a:rPr lang="en-US" sz="1000" dirty="0">
                <a:solidFill>
                  <a:schemeClr val="tx1"/>
                </a:solidFill>
                <a:latin typeface="Calibri" panose="020F0502020204030204" pitchFamily="34" charset="0"/>
              </a:rPr>
              <a:t>&amp; Manage Data Collection</a:t>
            </a:r>
          </a:p>
          <a:p>
            <a:pPr marL="180975" indent="-180975">
              <a:buFont typeface="+mj-lt"/>
              <a:buAutoNum type="arabicPeriod"/>
            </a:pPr>
            <a:r>
              <a:rPr lang="en-US" sz="1000" dirty="0" smtClean="0">
                <a:solidFill>
                  <a:schemeClr val="tx1"/>
                </a:solidFill>
                <a:latin typeface="Calibri" panose="020F0502020204030204" pitchFamily="34" charset="0"/>
              </a:rPr>
              <a:t>Create/Manage Data Collection &amp; Reporting Data Sets</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smtClean="0">
                <a:solidFill>
                  <a:schemeClr val="tx1"/>
                </a:solidFill>
                <a:latin typeface="Calibri" panose="020F0502020204030204" pitchFamily="34" charset="0"/>
              </a:rPr>
              <a:t>Share Access Rights (Reporters-Contributors)</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smtClean="0">
                <a:solidFill>
                  <a:schemeClr val="tx1"/>
                </a:solidFill>
                <a:latin typeface="Calibri" panose="020F0502020204030204" pitchFamily="34" charset="0"/>
              </a:rPr>
              <a:t>Access </a:t>
            </a:r>
            <a:r>
              <a:rPr lang="en-US" sz="1000" dirty="0">
                <a:solidFill>
                  <a:schemeClr val="tx1"/>
                </a:solidFill>
                <a:latin typeface="Calibri" panose="020F0502020204030204" pitchFamily="34" charset="0"/>
              </a:rPr>
              <a:t>Management and </a:t>
            </a:r>
            <a:r>
              <a:rPr lang="en-US" sz="1000" dirty="0" smtClean="0">
                <a:solidFill>
                  <a:schemeClr val="tx1"/>
                </a:solidFill>
                <a:latin typeface="Calibri" panose="020F0502020204030204" pitchFamily="34" charset="0"/>
              </a:rPr>
              <a:t>Roles (System Administrators, Helpdesk, NFPs)</a:t>
            </a:r>
          </a:p>
          <a:p>
            <a:pPr marL="180975" indent="-180975">
              <a:buFont typeface="+mj-lt"/>
              <a:buAutoNum type="arabicPeriod"/>
            </a:pPr>
            <a:r>
              <a:rPr lang="en-US" sz="1000" dirty="0" smtClean="0">
                <a:solidFill>
                  <a:schemeClr val="tx1"/>
                </a:solidFill>
                <a:latin typeface="Calibri" panose="020F0502020204030204" pitchFamily="34" charset="0"/>
              </a:rPr>
              <a:t>Manage Reporting Data Set (View, Update , Release)</a:t>
            </a:r>
          </a:p>
          <a:p>
            <a:pPr marL="266700" lvl="1" indent="-87313">
              <a:buFont typeface="Arial" panose="020B0604020202020204" pitchFamily="34" charset="0"/>
              <a:buChar char="•"/>
            </a:pPr>
            <a:r>
              <a:rPr lang="en-US" sz="1000" dirty="0" smtClean="0">
                <a:solidFill>
                  <a:schemeClr val="tx1"/>
                </a:solidFill>
                <a:latin typeface="Calibri" panose="020F0502020204030204" pitchFamily="34" charset="0"/>
              </a:rPr>
              <a:t>Reporting Data Set Management Tool Import/Export, Tables, Edit, Raw Data, Web forms)</a:t>
            </a:r>
          </a:p>
          <a:p>
            <a:pPr marL="180975" indent="-180975">
              <a:buFont typeface="+mj-lt"/>
              <a:buAutoNum type="arabicPeriod"/>
            </a:pPr>
            <a:r>
              <a:rPr lang="en-US" sz="1000" dirty="0" smtClean="0">
                <a:solidFill>
                  <a:schemeClr val="tx1"/>
                </a:solidFill>
                <a:latin typeface="Calibri" panose="020F0502020204030204" pitchFamily="34" charset="0"/>
              </a:rPr>
              <a:t>Reporting Data Set Validations - QC rules</a:t>
            </a:r>
          </a:p>
          <a:p>
            <a:pPr marL="180975" indent="-180975">
              <a:buFont typeface="+mj-lt"/>
              <a:buAutoNum type="arabicPeriod"/>
            </a:pPr>
            <a:r>
              <a:rPr lang="en-US" sz="1000" dirty="0" smtClean="0">
                <a:solidFill>
                  <a:schemeClr val="tx1"/>
                </a:solidFill>
                <a:latin typeface="Calibri" panose="020F0502020204030204" pitchFamily="34" charset="0"/>
              </a:rPr>
              <a:t>Manage Events, Snapshots</a:t>
            </a:r>
            <a:endParaRPr lang="en-US" sz="1000" dirty="0">
              <a:solidFill>
                <a:schemeClr val="tx1"/>
              </a:solidFill>
              <a:latin typeface="Calibri" panose="020F0502020204030204" pitchFamily="34" charset="0"/>
            </a:endParaRPr>
          </a:p>
          <a:p>
            <a:pPr marL="180975" indent="-180975">
              <a:buFont typeface="+mj-lt"/>
              <a:buAutoNum type="arabicPeriod"/>
            </a:pPr>
            <a:r>
              <a:rPr lang="en-US" sz="1000" dirty="0">
                <a:solidFill>
                  <a:schemeClr val="tx1"/>
                </a:solidFill>
                <a:latin typeface="Calibri" panose="020F0502020204030204" pitchFamily="34" charset="0"/>
              </a:rPr>
              <a:t>Reporting Data Set Dashboards</a:t>
            </a:r>
            <a:r>
              <a:rPr lang="en-US" sz="1000" dirty="0" smtClean="0">
                <a:solidFill>
                  <a:schemeClr val="tx1"/>
                </a:solidFill>
                <a:latin typeface="Calibri" panose="020F0502020204030204" pitchFamily="34" charset="0"/>
              </a:rPr>
              <a:t>/ Visualizations/ </a:t>
            </a:r>
            <a:r>
              <a:rPr lang="en-US" sz="1000" dirty="0">
                <a:solidFill>
                  <a:schemeClr val="tx1"/>
                </a:solidFill>
                <a:latin typeface="Calibri" panose="020F0502020204030204" pitchFamily="34" charset="0"/>
              </a:rPr>
              <a:t>Lists</a:t>
            </a:r>
          </a:p>
          <a:p>
            <a:pPr marL="180975" indent="-180975">
              <a:buFont typeface="+mj-lt"/>
              <a:buAutoNum type="arabicPeriod"/>
            </a:pPr>
            <a:r>
              <a:rPr lang="en-US" sz="1000" dirty="0">
                <a:solidFill>
                  <a:schemeClr val="tx1"/>
                </a:solidFill>
                <a:latin typeface="Calibri" panose="020F0502020204030204" pitchFamily="34" charset="0"/>
              </a:rPr>
              <a:t>Reporter Manage My Data Flows / Pending Data Flows / Notifications</a:t>
            </a:r>
          </a:p>
          <a:p>
            <a:pPr marL="180975" indent="-180975">
              <a:buFont typeface="+mj-lt"/>
              <a:buAutoNum type="arabicPeriod"/>
            </a:pPr>
            <a:r>
              <a:rPr lang="en-US" sz="1000" dirty="0">
                <a:solidFill>
                  <a:schemeClr val="tx1"/>
                </a:solidFill>
                <a:latin typeface="Calibri" panose="020F0502020204030204" pitchFamily="34" charset="0"/>
              </a:rPr>
              <a:t>Access DF Reporting Data Set Documentation/Web Links</a:t>
            </a:r>
          </a:p>
        </p:txBody>
      </p:sp>
      <p:sp>
        <p:nvSpPr>
          <p:cNvPr id="20" name="Rectángulo 19"/>
          <p:cNvSpPr>
            <a:spLocks noChangeAspect="1"/>
          </p:cNvSpPr>
          <p:nvPr/>
        </p:nvSpPr>
        <p:spPr>
          <a:xfrm>
            <a:off x="144747" y="5268189"/>
            <a:ext cx="2952751" cy="393664"/>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GB" sz="1000" i="1" dirty="0">
                <a:solidFill>
                  <a:schemeClr val="bg1"/>
                </a:solidFill>
                <a:latin typeface="Calibri" panose="020F0502020204030204" pitchFamily="34" charset="0"/>
              </a:rPr>
              <a:t>Requesters</a:t>
            </a:r>
            <a:r>
              <a:rPr lang="es-ES" sz="1000" i="1" dirty="0">
                <a:solidFill>
                  <a:schemeClr val="bg1"/>
                </a:solidFill>
                <a:latin typeface="Calibri" panose="020F0502020204030204" pitchFamily="34" charset="0"/>
              </a:rPr>
              <a:t>; </a:t>
            </a:r>
            <a:r>
              <a:rPr lang="en-GB" sz="1000" i="1" dirty="0">
                <a:solidFill>
                  <a:schemeClr val="bg1"/>
                </a:solidFill>
                <a:latin typeface="Calibri" panose="020F0502020204030204" pitchFamily="34" charset="0"/>
              </a:rPr>
              <a:t>Reporters</a:t>
            </a:r>
          </a:p>
        </p:txBody>
      </p:sp>
      <p:sp>
        <p:nvSpPr>
          <p:cNvPr id="60" name="Paralelogramo 59"/>
          <p:cNvSpPr/>
          <p:nvPr/>
        </p:nvSpPr>
        <p:spPr>
          <a:xfrm>
            <a:off x="358778" y="66259"/>
            <a:ext cx="2397122"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Product Backlog RC1  </a:t>
            </a:r>
            <a:endParaRPr lang="en-GB" sz="1600" b="1" dirty="0">
              <a:solidFill>
                <a:srgbClr val="016357"/>
              </a:solidFill>
            </a:endParaRPr>
          </a:p>
        </p:txBody>
      </p:sp>
      <p:sp>
        <p:nvSpPr>
          <p:cNvPr id="63" name="Rectángulo 62"/>
          <p:cNvSpPr/>
          <p:nvPr/>
        </p:nvSpPr>
        <p:spPr>
          <a:xfrm>
            <a:off x="2948940" y="66260"/>
            <a:ext cx="9114479" cy="646331"/>
          </a:xfrm>
          <a:prstGeom prst="rect">
            <a:avLst/>
          </a:prstGeom>
        </p:spPr>
        <p:txBody>
          <a:bodyPr wrap="square">
            <a:spAutoFit/>
          </a:bodyPr>
          <a:lstStyle/>
          <a:p>
            <a:pPr algn="r">
              <a:spcBef>
                <a:spcPts val="300"/>
              </a:spcBef>
              <a:spcAft>
                <a:spcPts val="300"/>
              </a:spcAft>
            </a:pPr>
            <a:r>
              <a:rPr lang="en-US" sz="3600" dirty="0" smtClean="0">
                <a:solidFill>
                  <a:schemeClr val="bg1"/>
                </a:solidFill>
                <a:latin typeface="Calibri" panose="020F0502020204030204" pitchFamily="34" charset="0"/>
              </a:rPr>
              <a:t>SW </a:t>
            </a:r>
            <a:r>
              <a:rPr lang="en-US" sz="3600" dirty="0">
                <a:solidFill>
                  <a:schemeClr val="bg1"/>
                </a:solidFill>
                <a:latin typeface="Calibri" panose="020F0502020204030204" pitchFamily="34" charset="0"/>
              </a:rPr>
              <a:t>Development focus Release Candidate </a:t>
            </a:r>
            <a:r>
              <a:rPr lang="en-US" sz="3600" dirty="0" smtClean="0">
                <a:solidFill>
                  <a:schemeClr val="bg1"/>
                </a:solidFill>
                <a:latin typeface="Calibri" panose="020F0502020204030204" pitchFamily="34" charset="0"/>
              </a:rPr>
              <a:t>- 1</a:t>
            </a:r>
            <a:endParaRPr lang="es-ES" sz="3600" kern="50" dirty="0">
              <a:solidFill>
                <a:schemeClr val="bg1"/>
              </a:solidFill>
              <a:latin typeface="Verdana" panose="020B0604030504040204" pitchFamily="34" charset="0"/>
              <a:ea typeface="Times New Roman" panose="02020603050405020304" pitchFamily="18" charset="0"/>
              <a:cs typeface="CG Times (W1)"/>
            </a:endParaRPr>
          </a:p>
        </p:txBody>
      </p:sp>
    </p:spTree>
    <p:extLst>
      <p:ext uri="{BB962C8B-B14F-4D97-AF65-F5344CB8AC3E}">
        <p14:creationId xmlns:p14="http://schemas.microsoft.com/office/powerpoint/2010/main" val="3504694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1000"/>
                                        <p:tgtEl>
                                          <p:spTgt spid="27"/>
                                        </p:tgtEl>
                                      </p:cBhvr>
                                    </p:animEffect>
                                    <p:anim calcmode="lin" valueType="num">
                                      <p:cBhvr>
                                        <p:cTn id="15" dur="1000" fill="hold"/>
                                        <p:tgtEl>
                                          <p:spTgt spid="27"/>
                                        </p:tgtEl>
                                        <p:attrNameLst>
                                          <p:attrName>ppt_x</p:attrName>
                                        </p:attrNameLst>
                                      </p:cBhvr>
                                      <p:tavLst>
                                        <p:tav tm="0">
                                          <p:val>
                                            <p:strVal val="#ppt_x"/>
                                          </p:val>
                                        </p:tav>
                                        <p:tav tm="100000">
                                          <p:val>
                                            <p:strVal val="#ppt_x"/>
                                          </p:val>
                                        </p:tav>
                                      </p:tavLst>
                                    </p:anim>
                                    <p:anim calcmode="lin" valueType="num">
                                      <p:cBhvr>
                                        <p:cTn id="1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1000"/>
                                        <p:tgtEl>
                                          <p:spTgt spid="59"/>
                                        </p:tgtEl>
                                      </p:cBhvr>
                                    </p:animEffect>
                                    <p:anim calcmode="lin" valueType="num">
                                      <p:cBhvr>
                                        <p:cTn id="22" dur="1000" fill="hold"/>
                                        <p:tgtEl>
                                          <p:spTgt spid="59"/>
                                        </p:tgtEl>
                                        <p:attrNameLst>
                                          <p:attrName>ppt_x</p:attrName>
                                        </p:attrNameLst>
                                      </p:cBhvr>
                                      <p:tavLst>
                                        <p:tav tm="0">
                                          <p:val>
                                            <p:strVal val="#ppt_x"/>
                                          </p:val>
                                        </p:tav>
                                        <p:tav tm="100000">
                                          <p:val>
                                            <p:strVal val="#ppt_x"/>
                                          </p:val>
                                        </p:tav>
                                      </p:tavLst>
                                    </p:anim>
                                    <p:anim calcmode="lin" valueType="num">
                                      <p:cBhvr>
                                        <p:cTn id="23"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1000"/>
                                        <p:tgtEl>
                                          <p:spTgt spid="22"/>
                                        </p:tgtEl>
                                      </p:cBhvr>
                                    </p:animEffect>
                                    <p:anim calcmode="lin" valueType="num">
                                      <p:cBhvr>
                                        <p:cTn id="36" dur="1000" fill="hold"/>
                                        <p:tgtEl>
                                          <p:spTgt spid="22"/>
                                        </p:tgtEl>
                                        <p:attrNameLst>
                                          <p:attrName>ppt_x</p:attrName>
                                        </p:attrNameLst>
                                      </p:cBhvr>
                                      <p:tavLst>
                                        <p:tav tm="0">
                                          <p:val>
                                            <p:strVal val="#ppt_x"/>
                                          </p:val>
                                        </p:tav>
                                        <p:tav tm="100000">
                                          <p:val>
                                            <p:strVal val="#ppt_x"/>
                                          </p:val>
                                        </p:tav>
                                      </p:tavLst>
                                    </p:anim>
                                    <p:anim calcmode="lin" valueType="num">
                                      <p:cBhvr>
                                        <p:cTn id="37"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ángulo 26"/>
          <p:cNvSpPr/>
          <p:nvPr/>
        </p:nvSpPr>
        <p:spPr>
          <a:xfrm>
            <a:off x="47625" y="5972174"/>
            <a:ext cx="3188421" cy="173471"/>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17</a:t>
            </a:fld>
            <a:endParaRPr lang="en-US" dirty="0">
              <a:solidFill>
                <a:schemeClr val="bg1"/>
              </a:solidFill>
            </a:endParaRPr>
          </a:p>
        </p:txBody>
      </p:sp>
      <p:graphicFrame>
        <p:nvGraphicFramePr>
          <p:cNvPr id="4" name="Tabla 3"/>
          <p:cNvGraphicFramePr>
            <a:graphicFrameLocks noGrp="1"/>
          </p:cNvGraphicFramePr>
          <p:nvPr>
            <p:extLst>
              <p:ext uri="{D42A27DB-BD31-4B8C-83A1-F6EECF244321}">
                <p14:modId xmlns:p14="http://schemas.microsoft.com/office/powerpoint/2010/main" val="2160375272"/>
              </p:ext>
            </p:extLst>
          </p:nvPr>
        </p:nvGraphicFramePr>
        <p:xfrm>
          <a:off x="3571874" y="1517081"/>
          <a:ext cx="8529646" cy="1463040"/>
        </p:xfrm>
        <a:graphic>
          <a:graphicData uri="http://schemas.openxmlformats.org/drawingml/2006/table">
            <a:tbl>
              <a:tblPr firstRow="1" bandRow="1">
                <a:tableStyleId>{00A15C55-8517-42AA-B614-E9B94910E393}</a:tableStyleId>
              </a:tblPr>
              <a:tblGrid>
                <a:gridCol w="3003097">
                  <a:extLst>
                    <a:ext uri="{9D8B030D-6E8A-4147-A177-3AD203B41FA5}">
                      <a16:colId xmlns:a16="http://schemas.microsoft.com/office/drawing/2014/main" val="3917562794"/>
                    </a:ext>
                  </a:extLst>
                </a:gridCol>
                <a:gridCol w="5526549">
                  <a:extLst>
                    <a:ext uri="{9D8B030D-6E8A-4147-A177-3AD203B41FA5}">
                      <a16:colId xmlns:a16="http://schemas.microsoft.com/office/drawing/2014/main" val="3121824610"/>
                    </a:ext>
                  </a:extLst>
                </a:gridCol>
              </a:tblGrid>
              <a:tr h="315216">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800" noProof="0" dirty="0" smtClean="0">
                          <a:latin typeface="Calibri" panose="020F0502020204030204" pitchFamily="34" charset="0"/>
                          <a:cs typeface="Calibri" panose="020F0502020204030204" pitchFamily="34" charset="0"/>
                        </a:rPr>
                        <a:t>Release</a:t>
                      </a:r>
                      <a:r>
                        <a:rPr lang="en-GB" sz="1800" baseline="0" noProof="0" dirty="0" smtClean="0">
                          <a:latin typeface="Calibri" panose="020F0502020204030204" pitchFamily="34" charset="0"/>
                          <a:cs typeface="Calibri" panose="020F0502020204030204" pitchFamily="34" charset="0"/>
                        </a:rPr>
                        <a:t> Candidate 1 - </a:t>
                      </a:r>
                      <a:r>
                        <a:rPr lang="en-GB" sz="1800" noProof="0" dirty="0" smtClean="0">
                          <a:latin typeface="Calibri" panose="020F0502020204030204" pitchFamily="34" charset="0"/>
                          <a:cs typeface="Calibri" panose="020F0502020204030204" pitchFamily="34" charset="0"/>
                        </a:rPr>
                        <a:t>STEP 5 </a:t>
                      </a:r>
                      <a:r>
                        <a:rPr lang="en-GB" sz="1800" baseline="0" noProof="0" dirty="0" smtClean="0">
                          <a:latin typeface="Calibri" panose="020F0502020204030204" pitchFamily="34" charset="0"/>
                          <a:cs typeface="Calibri" panose="020F0502020204030204" pitchFamily="34" charset="0"/>
                        </a:rPr>
                        <a:t> </a:t>
                      </a:r>
                      <a:r>
                        <a:rPr lang="en-GB" sz="1800" noProof="0" dirty="0" smtClean="0">
                          <a:latin typeface="Calibri" panose="020F0502020204030204" pitchFamily="34" charset="0"/>
                          <a:cs typeface="Calibri" panose="020F0502020204030204" pitchFamily="34" charset="0"/>
                        </a:rPr>
                        <a:t>Planned Scope</a:t>
                      </a:r>
                    </a:p>
                  </a:txBody>
                  <a:tcPr/>
                </a:tc>
                <a:tc hMerge="1">
                  <a:txBody>
                    <a:bodyPr/>
                    <a:lstStyle/>
                    <a:p>
                      <a:endParaRPr lang="en-GB" noProof="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69749394"/>
                  </a:ext>
                </a:extLst>
              </a:tr>
              <a:tr h="315216">
                <a:tc>
                  <a:txBody>
                    <a:bodyPr/>
                    <a:lstStyle/>
                    <a:p>
                      <a:r>
                        <a:rPr lang="en-GB" sz="1200" b="1" kern="1200" dirty="0" smtClean="0">
                          <a:solidFill>
                            <a:schemeClr val="dk1"/>
                          </a:solidFill>
                          <a:effectLst/>
                          <a:latin typeface="Calibri" panose="020F0502020204030204" pitchFamily="34" charset="0"/>
                          <a:ea typeface="+mn-ea"/>
                          <a:cs typeface="Calibri" panose="020F0502020204030204" pitchFamily="34" charset="0"/>
                        </a:rPr>
                        <a:t>EP-STP5-ULO-User Login and Access to </a:t>
                      </a:r>
                      <a:r>
                        <a:rPr lang="en-GB" sz="1200" b="1" kern="1200" dirty="0" err="1" smtClean="0">
                          <a:solidFill>
                            <a:schemeClr val="dk1"/>
                          </a:solidFill>
                          <a:effectLst/>
                          <a:latin typeface="Calibri" panose="020F0502020204030204" pitchFamily="34" charset="0"/>
                          <a:ea typeface="+mn-ea"/>
                          <a:cs typeface="Calibri" panose="020F0502020204030204" pitchFamily="34" charset="0"/>
                        </a:rPr>
                        <a:t>Reportnet</a:t>
                      </a:r>
                      <a:endParaRPr lang="en-GB" sz="1200" b="1" noProof="0" dirty="0">
                        <a:latin typeface="Calibri" panose="020F0502020204030204" pitchFamily="34" charset="0"/>
                        <a:cs typeface="Calibri" panose="020F0502020204030204" pitchFamily="34" charset="0"/>
                      </a:endParaRPr>
                    </a:p>
                  </a:txBody>
                  <a:tcPr anchor="ctr"/>
                </a:tc>
                <a:tc>
                  <a:txBody>
                    <a:bodyPr/>
                    <a:lstStyle/>
                    <a:p>
                      <a:r>
                        <a:rPr lang="es-ES" sz="1200" kern="1200" dirty="0" smtClean="0">
                          <a:solidFill>
                            <a:schemeClr val="dk1"/>
                          </a:solidFill>
                          <a:effectLst/>
                          <a:latin typeface="Calibri" panose="020F0502020204030204" pitchFamily="34" charset="0"/>
                          <a:ea typeface="+mn-ea"/>
                          <a:cs typeface="Calibri" panose="020F0502020204030204" pitchFamily="34" charset="0"/>
                        </a:rPr>
                        <a:t>US-STP5-ULO-10-Registered </a:t>
                      </a:r>
                      <a:r>
                        <a:rPr lang="es-ES" sz="1200" kern="1200" dirty="0" err="1" smtClean="0">
                          <a:solidFill>
                            <a:schemeClr val="dk1"/>
                          </a:solidFill>
                          <a:effectLst/>
                          <a:latin typeface="Calibri" panose="020F0502020204030204" pitchFamily="34" charset="0"/>
                          <a:ea typeface="+mn-ea"/>
                          <a:cs typeface="Calibri" panose="020F0502020204030204" pitchFamily="34" charset="0"/>
                        </a:rPr>
                        <a:t>User</a:t>
                      </a:r>
                      <a:r>
                        <a:rPr lang="es-ES" sz="1200" kern="1200" dirty="0" smtClean="0">
                          <a:solidFill>
                            <a:schemeClr val="dk1"/>
                          </a:solidFill>
                          <a:effectLst/>
                          <a:latin typeface="Calibri" panose="020F0502020204030204" pitchFamily="34" charset="0"/>
                          <a:ea typeface="+mn-ea"/>
                          <a:cs typeface="Calibri" panose="020F0502020204030204" pitchFamily="34" charset="0"/>
                        </a:rPr>
                        <a:t> EU </a:t>
                      </a:r>
                      <a:r>
                        <a:rPr lang="es-ES" sz="1200" kern="1200" dirty="0" err="1" smtClean="0">
                          <a:solidFill>
                            <a:schemeClr val="dk1"/>
                          </a:solidFill>
                          <a:effectLst/>
                          <a:latin typeface="Calibri" panose="020F0502020204030204" pitchFamily="34" charset="0"/>
                          <a:ea typeface="+mn-ea"/>
                          <a:cs typeface="Calibri" panose="020F0502020204030204" pitchFamily="34" charset="0"/>
                        </a:rPr>
                        <a:t>Login</a:t>
                      </a:r>
                      <a:r>
                        <a:rPr lang="es-ES" sz="1200" kern="1200" dirty="0" smtClean="0">
                          <a:solidFill>
                            <a:schemeClr val="dk1"/>
                          </a:solidFill>
                          <a:effectLst/>
                          <a:latin typeface="Calibri" panose="020F0502020204030204" pitchFamily="34" charset="0"/>
                          <a:ea typeface="+mn-ea"/>
                          <a:cs typeface="Calibri" panose="020F0502020204030204" pitchFamily="34" charset="0"/>
                        </a:rPr>
                        <a:t> (Sprint 5) (50%)</a:t>
                      </a:r>
                    </a:p>
                  </a:txBody>
                  <a:tcPr anchor="ctr"/>
                </a:tc>
                <a:extLst>
                  <a:ext uri="{0D108BD9-81ED-4DB2-BD59-A6C34878D82A}">
                    <a16:rowId xmlns:a16="http://schemas.microsoft.com/office/drawing/2014/main" val="1207482829"/>
                  </a:ext>
                </a:extLst>
              </a:tr>
              <a:tr h="315216">
                <a:tc>
                  <a:txBody>
                    <a:bodyPr/>
                    <a:lstStyle/>
                    <a:p>
                      <a:r>
                        <a:rPr lang="en-GB" sz="1200" b="1" kern="1200" dirty="0" smtClean="0">
                          <a:solidFill>
                            <a:schemeClr val="dk1"/>
                          </a:solidFill>
                          <a:effectLst/>
                          <a:latin typeface="Calibri" panose="020F0502020204030204" pitchFamily="34" charset="0"/>
                          <a:ea typeface="+mn-ea"/>
                          <a:cs typeface="Calibri" panose="020F0502020204030204" pitchFamily="34" charset="0"/>
                        </a:rPr>
                        <a:t>EP-STP5-MAR-Manage Access Rights and Use Roles</a:t>
                      </a:r>
                      <a:endParaRPr lang="en-GB" sz="1200" b="1" noProof="0" dirty="0">
                        <a:latin typeface="Calibri" panose="020F0502020204030204" pitchFamily="34" charset="0"/>
                        <a:cs typeface="Calibri" panose="020F0502020204030204" pitchFamily="34" charset="0"/>
                      </a:endParaRPr>
                    </a:p>
                  </a:txBody>
                  <a:tcPr anchor="ctr"/>
                </a:tc>
                <a:tc>
                  <a:txBody>
                    <a:bodyPr/>
                    <a:lstStyle/>
                    <a:p>
                      <a:r>
                        <a:rPr lang="en-GB" sz="1200" kern="1200" dirty="0" smtClean="0">
                          <a:solidFill>
                            <a:schemeClr val="dk1"/>
                          </a:solidFill>
                          <a:effectLst/>
                          <a:latin typeface="Calibri" panose="020F0502020204030204" pitchFamily="34" charset="0"/>
                          <a:ea typeface="+mn-ea"/>
                          <a:cs typeface="Calibri" panose="020F0502020204030204" pitchFamily="34" charset="0"/>
                        </a:rPr>
                        <a:t>US-STP5-MAR-40-Provider Manage Dataflow Access same Reporting Entity</a:t>
                      </a:r>
                    </a:p>
                    <a:p>
                      <a:r>
                        <a:rPr lang="en-US" sz="1200" kern="1200" dirty="0" smtClean="0">
                          <a:solidFill>
                            <a:schemeClr val="dk1"/>
                          </a:solidFill>
                          <a:effectLst/>
                          <a:latin typeface="Calibri" panose="020F0502020204030204" pitchFamily="34" charset="0"/>
                          <a:ea typeface="+mn-ea"/>
                          <a:cs typeface="Calibri" panose="020F0502020204030204" pitchFamily="34" charset="0"/>
                        </a:rPr>
                        <a:t>US-STP5-MAR-45-Custodian Manage Access Rights Contributors Design Data </a:t>
                      </a:r>
                      <a:r>
                        <a:rPr lang="en-US" sz="1200" kern="1200" dirty="0" smtClean="0">
                          <a:solidFill>
                            <a:schemeClr val="dk1"/>
                          </a:solidFill>
                          <a:effectLst/>
                          <a:latin typeface="Calibri" panose="020F0502020204030204" pitchFamily="34" charset="0"/>
                          <a:ea typeface="+mn-ea"/>
                          <a:cs typeface="Calibri" panose="020F0502020204030204" pitchFamily="34" charset="0"/>
                        </a:rPr>
                        <a:t>Set</a:t>
                      </a:r>
                    </a:p>
                    <a:p>
                      <a:r>
                        <a:rPr lang="en-US" sz="1200" kern="1200" dirty="0" smtClean="0">
                          <a:solidFill>
                            <a:schemeClr val="dk1"/>
                          </a:solidFill>
                          <a:effectLst/>
                          <a:latin typeface="Calibri" panose="020F0502020204030204" pitchFamily="34" charset="0"/>
                          <a:ea typeface="+mn-ea"/>
                          <a:cs typeface="Calibri" panose="020F0502020204030204" pitchFamily="34" charset="0"/>
                        </a:rPr>
                        <a:t>US-STP5-MAR-50-Custodian Manage Access Rights Providers Reporting Data Sets</a:t>
                      </a:r>
                      <a:endParaRPr lang="en-US" sz="1200" kern="1200" dirty="0" smtClean="0">
                        <a:solidFill>
                          <a:schemeClr val="dk1"/>
                        </a:solidFill>
                        <a:effectLst/>
                        <a:latin typeface="Calibri" panose="020F0502020204030204" pitchFamily="34" charset="0"/>
                        <a:ea typeface="+mn-ea"/>
                        <a:cs typeface="Calibri" panose="020F0502020204030204" pitchFamily="34" charset="0"/>
                      </a:endParaRPr>
                    </a:p>
                  </a:txBody>
                  <a:tcPr anchor="ctr"/>
                </a:tc>
                <a:extLst>
                  <a:ext uri="{0D108BD9-81ED-4DB2-BD59-A6C34878D82A}">
                    <a16:rowId xmlns:a16="http://schemas.microsoft.com/office/drawing/2014/main" val="3619849090"/>
                  </a:ext>
                </a:extLst>
              </a:tr>
            </a:tbl>
          </a:graphicData>
        </a:graphic>
      </p:graphicFrame>
      <p:sp>
        <p:nvSpPr>
          <p:cNvPr id="21" name="Rectángulo 20"/>
          <p:cNvSpPr/>
          <p:nvPr/>
        </p:nvSpPr>
        <p:spPr>
          <a:xfrm>
            <a:off x="47625" y="2530577"/>
            <a:ext cx="3152775" cy="307873"/>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Rectángulo 21"/>
          <p:cNvSpPr/>
          <p:nvPr/>
        </p:nvSpPr>
        <p:spPr>
          <a:xfrm>
            <a:off x="136260" y="1522577"/>
            <a:ext cx="3064140" cy="708780"/>
          </a:xfrm>
          <a:prstGeom prst="rect">
            <a:avLst/>
          </a:prstGeom>
          <a:solidFill>
            <a:schemeClr val="accent4">
              <a:lumMod val="20000"/>
              <a:lumOff val="80000"/>
            </a:schemeClr>
          </a:solid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accent4">
                    <a:lumMod val="50000"/>
                  </a:schemeClr>
                </a:solidFill>
                <a:latin typeface="Calibri" panose="020F0502020204030204" pitchFamily="34" charset="0"/>
              </a:rPr>
              <a:t>Step 5</a:t>
            </a:r>
          </a:p>
          <a:p>
            <a:pPr algn="ctr"/>
            <a:r>
              <a:rPr lang="en-US" sz="1600" dirty="0">
                <a:solidFill>
                  <a:schemeClr val="accent4">
                    <a:lumMod val="50000"/>
                  </a:schemeClr>
                </a:solidFill>
                <a:latin typeface="Calibri" panose="020F0502020204030204" pitchFamily="34" charset="0"/>
              </a:rPr>
              <a:t>Helping MS to prepare their reports</a:t>
            </a:r>
            <a:endParaRPr lang="es-ES" sz="1600" dirty="0">
              <a:solidFill>
                <a:schemeClr val="accent4">
                  <a:lumMod val="50000"/>
                </a:schemeClr>
              </a:solidFill>
              <a:latin typeface="Calibri" panose="020F0502020204030204" pitchFamily="34" charset="0"/>
            </a:endParaRPr>
          </a:p>
        </p:txBody>
      </p:sp>
      <p:sp>
        <p:nvSpPr>
          <p:cNvPr id="23" name="Rectángulo 22"/>
          <p:cNvSpPr/>
          <p:nvPr/>
        </p:nvSpPr>
        <p:spPr>
          <a:xfrm>
            <a:off x="136260" y="2330354"/>
            <a:ext cx="3064140" cy="889096"/>
          </a:xfrm>
          <a:prstGeom prst="rect">
            <a:avLst/>
          </a:prstGeom>
          <a:noFill/>
          <a:ln w="31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smtClean="0">
                <a:solidFill>
                  <a:schemeClr val="tx1"/>
                </a:solidFill>
                <a:latin typeface="Calibri" panose="020F0502020204030204" pitchFamily="34" charset="0"/>
              </a:rPr>
              <a:t>Access </a:t>
            </a:r>
            <a:r>
              <a:rPr lang="en-US" sz="1000" dirty="0">
                <a:solidFill>
                  <a:schemeClr val="tx1"/>
                </a:solidFill>
                <a:latin typeface="Calibri" panose="020F0502020204030204" pitchFamily="34" charset="0"/>
              </a:rPr>
              <a:t>Platform &amp; Profile Management</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User Login and Access to Reportnet</a:t>
            </a:r>
          </a:p>
          <a:p>
            <a:pPr marL="266700" lvl="1" indent="-87313">
              <a:buFont typeface="Arial" panose="020B0604020202020204" pitchFamily="34" charset="0"/>
              <a:buChar char="•"/>
            </a:pPr>
            <a:r>
              <a:rPr lang="en-US" sz="1000" dirty="0">
                <a:solidFill>
                  <a:schemeClr val="tx1"/>
                </a:solidFill>
                <a:latin typeface="Calibri" panose="020F0502020204030204" pitchFamily="34" charset="0"/>
              </a:rPr>
              <a:t>Manage Access Rights and Use Roles</a:t>
            </a:r>
          </a:p>
          <a:p>
            <a:pPr marL="180975" indent="-180975">
              <a:buFont typeface="+mj-lt"/>
              <a:buAutoNum type="arabicPeriod"/>
            </a:pPr>
            <a:r>
              <a:rPr lang="en-US" sz="1000" dirty="0" smtClean="0">
                <a:solidFill>
                  <a:schemeClr val="tx1"/>
                </a:solidFill>
                <a:latin typeface="Calibri" panose="020F0502020204030204" pitchFamily="34" charset="0"/>
              </a:rPr>
              <a:t>Data Flow Access Request </a:t>
            </a:r>
            <a:r>
              <a:rPr lang="en-US" sz="1000" dirty="0">
                <a:solidFill>
                  <a:schemeClr val="tx1"/>
                </a:solidFill>
                <a:latin typeface="Calibri" panose="020F0502020204030204" pitchFamily="34" charset="0"/>
              </a:rPr>
              <a:t>Access to Data </a:t>
            </a:r>
            <a:r>
              <a:rPr lang="en-US" sz="1000" dirty="0" smtClean="0">
                <a:solidFill>
                  <a:schemeClr val="tx1"/>
                </a:solidFill>
                <a:latin typeface="Calibri" panose="020F0502020204030204" pitchFamily="34" charset="0"/>
              </a:rPr>
              <a:t>Flow</a:t>
            </a:r>
            <a:endParaRPr lang="en-US" sz="1000" dirty="0">
              <a:solidFill>
                <a:schemeClr val="tx1"/>
              </a:solidFill>
              <a:latin typeface="Calibri" panose="020F0502020204030204" pitchFamily="34" charset="0"/>
            </a:endParaRPr>
          </a:p>
        </p:txBody>
      </p:sp>
      <p:sp>
        <p:nvSpPr>
          <p:cNvPr id="24" name="Rectángulo 23"/>
          <p:cNvSpPr>
            <a:spLocks noChangeAspect="1"/>
          </p:cNvSpPr>
          <p:nvPr/>
        </p:nvSpPr>
        <p:spPr>
          <a:xfrm>
            <a:off x="264396" y="3087856"/>
            <a:ext cx="2807419" cy="393664"/>
          </a:xfrm>
          <a:prstGeom prst="rect">
            <a:avLst/>
          </a:prstGeom>
          <a:solidFill>
            <a:schemeClr val="accent4">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lang="en-GB" sz="1000" i="1" dirty="0" smtClean="0">
                <a:solidFill>
                  <a:schemeClr val="bg1"/>
                </a:solidFill>
                <a:latin typeface="Calibri" panose="020F0502020204030204" pitchFamily="34" charset="0"/>
              </a:rPr>
              <a:t>System Admin, </a:t>
            </a:r>
            <a:r>
              <a:rPr lang="en-GB" sz="1000" i="1" dirty="0">
                <a:solidFill>
                  <a:schemeClr val="bg1"/>
                </a:solidFill>
                <a:latin typeface="Calibri" panose="020F0502020204030204" pitchFamily="34" charset="0"/>
              </a:rPr>
              <a:t>R</a:t>
            </a:r>
            <a:r>
              <a:rPr lang="en-GB" sz="1000" i="1" dirty="0" smtClean="0">
                <a:solidFill>
                  <a:schemeClr val="bg1"/>
                </a:solidFill>
                <a:latin typeface="Calibri" panose="020F0502020204030204" pitchFamily="34" charset="0"/>
              </a:rPr>
              <a:t>egistered Users</a:t>
            </a:r>
            <a:endParaRPr lang="en-GB" sz="1000" i="1" dirty="0">
              <a:solidFill>
                <a:schemeClr val="bg1"/>
              </a:solidFill>
              <a:latin typeface="Calibri" panose="020F0502020204030204" pitchFamily="34" charset="0"/>
            </a:endParaRPr>
          </a:p>
        </p:txBody>
      </p:sp>
      <p:sp>
        <p:nvSpPr>
          <p:cNvPr id="31" name="Flecha derecha 30"/>
          <p:cNvSpPr/>
          <p:nvPr/>
        </p:nvSpPr>
        <p:spPr>
          <a:xfrm rot="5400000">
            <a:off x="4886651" y="1215607"/>
            <a:ext cx="227947" cy="263692"/>
          </a:xfrm>
          <a:prstGeom prst="rightArrow">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endParaRPr lang="es-ES" sz="2000" b="1">
              <a:solidFill>
                <a:schemeClr val="bg1"/>
              </a:solidFill>
              <a:latin typeface="Calibri" panose="020F0502020204030204" pitchFamily="34" charset="0"/>
            </a:endParaRPr>
          </a:p>
        </p:txBody>
      </p:sp>
      <p:grpSp>
        <p:nvGrpSpPr>
          <p:cNvPr id="32" name="Grupo 31"/>
          <p:cNvGrpSpPr/>
          <p:nvPr/>
        </p:nvGrpSpPr>
        <p:grpSpPr>
          <a:xfrm>
            <a:off x="219306" y="927289"/>
            <a:ext cx="11713514" cy="288000"/>
            <a:chOff x="277982" y="927289"/>
            <a:chExt cx="8986713" cy="288000"/>
          </a:xfrm>
        </p:grpSpPr>
        <p:sp>
          <p:nvSpPr>
            <p:cNvPr id="33" name="Rectángulo 32"/>
            <p:cNvSpPr/>
            <p:nvPr/>
          </p:nvSpPr>
          <p:spPr>
            <a:xfrm>
              <a:off x="3300988" y="927289"/>
              <a:ext cx="1429200" cy="288000"/>
            </a:xfrm>
            <a:prstGeom prst="rect">
              <a:avLst/>
            </a:prstGeom>
            <a:solidFill>
              <a:schemeClr val="accent4">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US" sz="2000" b="1" dirty="0">
                  <a:solidFill>
                    <a:schemeClr val="bg1"/>
                  </a:solidFill>
                  <a:latin typeface="Calibri" panose="020F0502020204030204" pitchFamily="34" charset="0"/>
                </a:rPr>
                <a:t>Step 5</a:t>
              </a:r>
            </a:p>
          </p:txBody>
        </p:sp>
        <p:sp>
          <p:nvSpPr>
            <p:cNvPr id="34" name="Rectángulo 33"/>
            <p:cNvSpPr/>
            <p:nvPr/>
          </p:nvSpPr>
          <p:spPr>
            <a:xfrm>
              <a:off x="277982"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4</a:t>
              </a:r>
            </a:p>
          </p:txBody>
        </p:sp>
        <p:sp>
          <p:nvSpPr>
            <p:cNvPr id="35" name="Rectángulo 34"/>
            <p:cNvSpPr/>
            <p:nvPr/>
          </p:nvSpPr>
          <p:spPr>
            <a:xfrm>
              <a:off x="4812491"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7 </a:t>
              </a:r>
              <a:endParaRPr lang="en-US" sz="1600" dirty="0" smtClean="0">
                <a:solidFill>
                  <a:schemeClr val="tx1">
                    <a:lumMod val="50000"/>
                    <a:lumOff val="50000"/>
                  </a:schemeClr>
                </a:solidFill>
                <a:latin typeface="Calibri" panose="020F0502020204030204" pitchFamily="34" charset="0"/>
              </a:endParaRPr>
            </a:p>
          </p:txBody>
        </p:sp>
        <p:sp>
          <p:nvSpPr>
            <p:cNvPr id="36" name="Rectángulo 35"/>
            <p:cNvSpPr/>
            <p:nvPr/>
          </p:nvSpPr>
          <p:spPr>
            <a:xfrm>
              <a:off x="6323994"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8 </a:t>
              </a:r>
            </a:p>
          </p:txBody>
        </p:sp>
        <p:sp>
          <p:nvSpPr>
            <p:cNvPr id="37" name="Rectángulo 36"/>
            <p:cNvSpPr/>
            <p:nvPr/>
          </p:nvSpPr>
          <p:spPr>
            <a:xfrm>
              <a:off x="7835495"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a:t>
              </a:r>
              <a:r>
                <a:rPr lang="en-US" sz="1600" dirty="0" smtClean="0">
                  <a:solidFill>
                    <a:schemeClr val="tx1">
                      <a:lumMod val="50000"/>
                      <a:lumOff val="50000"/>
                    </a:schemeClr>
                  </a:solidFill>
                  <a:latin typeface="Calibri" panose="020F0502020204030204" pitchFamily="34" charset="0"/>
                </a:rPr>
                <a:t>9</a:t>
              </a:r>
              <a:endParaRPr lang="es-ES" sz="1600" dirty="0">
                <a:solidFill>
                  <a:schemeClr val="tx1">
                    <a:lumMod val="50000"/>
                    <a:lumOff val="50000"/>
                  </a:schemeClr>
                </a:solidFill>
                <a:latin typeface="Calibri" panose="020F0502020204030204" pitchFamily="34" charset="0"/>
              </a:endParaRPr>
            </a:p>
          </p:txBody>
        </p:sp>
        <p:sp>
          <p:nvSpPr>
            <p:cNvPr id="38" name="Rectángulo 37"/>
            <p:cNvSpPr/>
            <p:nvPr/>
          </p:nvSpPr>
          <p:spPr>
            <a:xfrm>
              <a:off x="1789485" y="927289"/>
              <a:ext cx="1429200" cy="288000"/>
            </a:xfrm>
            <a:prstGeom prst="rect">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45720" rIns="54000" bIns="45720" numCol="1" spcCol="0" rtlCol="0" fromWordArt="0" anchor="ctr" anchorCtr="0" forceAA="0" compatLnSpc="1">
              <a:prstTxWarp prst="textNoShape">
                <a:avLst/>
              </a:prstTxWarp>
              <a:noAutofit/>
            </a:bodyPr>
            <a:lstStyle/>
            <a:p>
              <a:pPr algn="ctr"/>
              <a:r>
                <a:rPr lang="en-US" sz="1600" dirty="0">
                  <a:solidFill>
                    <a:schemeClr val="tx1">
                      <a:lumMod val="50000"/>
                      <a:lumOff val="50000"/>
                    </a:schemeClr>
                  </a:solidFill>
                  <a:latin typeface="Calibri" panose="020F0502020204030204" pitchFamily="34" charset="0"/>
                </a:rPr>
                <a:t>Step 6</a:t>
              </a:r>
            </a:p>
          </p:txBody>
        </p:sp>
      </p:grpSp>
      <p:graphicFrame>
        <p:nvGraphicFramePr>
          <p:cNvPr id="19" name="Tabla 18"/>
          <p:cNvGraphicFramePr>
            <a:graphicFrameLocks noGrp="1"/>
          </p:cNvGraphicFramePr>
          <p:nvPr>
            <p:extLst>
              <p:ext uri="{D42A27DB-BD31-4B8C-83A1-F6EECF244321}">
                <p14:modId xmlns:p14="http://schemas.microsoft.com/office/powerpoint/2010/main" val="4221072672"/>
              </p:ext>
            </p:extLst>
          </p:nvPr>
        </p:nvGraphicFramePr>
        <p:xfrm>
          <a:off x="3571874" y="4361013"/>
          <a:ext cx="8529646" cy="680976"/>
        </p:xfrm>
        <a:graphic>
          <a:graphicData uri="http://schemas.openxmlformats.org/drawingml/2006/table">
            <a:tbl>
              <a:tblPr firstRow="1" bandRow="1">
                <a:tableStyleId>{00A15C55-8517-42AA-B614-E9B94910E393}</a:tableStyleId>
              </a:tblPr>
              <a:tblGrid>
                <a:gridCol w="2974069">
                  <a:extLst>
                    <a:ext uri="{9D8B030D-6E8A-4147-A177-3AD203B41FA5}">
                      <a16:colId xmlns:a16="http://schemas.microsoft.com/office/drawing/2014/main" val="3917562794"/>
                    </a:ext>
                  </a:extLst>
                </a:gridCol>
                <a:gridCol w="5555577">
                  <a:extLst>
                    <a:ext uri="{9D8B030D-6E8A-4147-A177-3AD203B41FA5}">
                      <a16:colId xmlns:a16="http://schemas.microsoft.com/office/drawing/2014/main" val="3121824610"/>
                    </a:ext>
                  </a:extLst>
                </a:gridCol>
              </a:tblGrid>
              <a:tr h="315216">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800" noProof="0" dirty="0" smtClean="0">
                          <a:latin typeface="Calibri" panose="020F0502020204030204" pitchFamily="34" charset="0"/>
                          <a:cs typeface="Calibri" panose="020F0502020204030204" pitchFamily="34" charset="0"/>
                        </a:rPr>
                        <a:t>Release</a:t>
                      </a:r>
                      <a:r>
                        <a:rPr lang="en-GB" sz="1800" baseline="0" noProof="0" dirty="0" smtClean="0">
                          <a:latin typeface="Calibri" panose="020F0502020204030204" pitchFamily="34" charset="0"/>
                          <a:cs typeface="Calibri" panose="020F0502020204030204" pitchFamily="34" charset="0"/>
                        </a:rPr>
                        <a:t> Candidate 1 – CROSS CUTTING FEATURES  </a:t>
                      </a:r>
                      <a:r>
                        <a:rPr lang="en-GB" sz="1800" noProof="0" dirty="0" smtClean="0">
                          <a:latin typeface="Calibri" panose="020F0502020204030204" pitchFamily="34" charset="0"/>
                          <a:cs typeface="Calibri" panose="020F0502020204030204" pitchFamily="34" charset="0"/>
                        </a:rPr>
                        <a:t>Planned Scope</a:t>
                      </a:r>
                    </a:p>
                  </a:txBody>
                  <a:tcPr/>
                </a:tc>
                <a:tc hMerge="1">
                  <a:txBody>
                    <a:bodyPr/>
                    <a:lstStyle/>
                    <a:p>
                      <a:endParaRPr lang="en-GB" noProof="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69749394"/>
                  </a:ext>
                </a:extLst>
              </a:tr>
              <a:tr h="315216">
                <a:tc>
                  <a:txBody>
                    <a:bodyPr/>
                    <a:lstStyle/>
                    <a:p>
                      <a:pPr>
                        <a:lnSpc>
                          <a:spcPct val="107000"/>
                        </a:lnSpc>
                        <a:spcAft>
                          <a:spcPts val="0"/>
                        </a:spcAft>
                      </a:pPr>
                      <a:r>
                        <a:rPr lang="es-E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EP-STPCCF-DSH-AUT-</a:t>
                      </a:r>
                      <a:r>
                        <a:rPr lang="es-ES" sz="12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Dashboards</a:t>
                      </a:r>
                      <a:r>
                        <a:rPr lang="es-ES"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12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Automatic</a:t>
                      </a:r>
                      <a:endParaRPr lang="es-ES" sz="1200" b="1"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nSpc>
                          <a:spcPct val="107000"/>
                        </a:lnSpc>
                        <a:spcAft>
                          <a:spcPts val="0"/>
                        </a:spcAft>
                      </a:pPr>
                      <a:r>
                        <a:rPr lang="es-E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US-STPCCF-DSH-28-Dashboard Status of </a:t>
                      </a:r>
                      <a:r>
                        <a:rPr lang="es-ES" sz="12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a:t>
                      </a:r>
                      <a:r>
                        <a:rPr lang="es-E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Data </a:t>
                      </a:r>
                      <a:r>
                        <a:rPr lang="es-ES" sz="12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Collection</a:t>
                      </a:r>
                      <a:r>
                        <a:rPr lang="es-ES"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(5)</a:t>
                      </a:r>
                      <a:endParaRPr lang="es-ES" sz="12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extLst>
                  <a:ext uri="{0D108BD9-81ED-4DB2-BD59-A6C34878D82A}">
                    <a16:rowId xmlns:a16="http://schemas.microsoft.com/office/drawing/2014/main" val="1207482829"/>
                  </a:ext>
                </a:extLst>
              </a:tr>
            </a:tbl>
          </a:graphicData>
        </a:graphic>
      </p:graphicFrame>
      <p:sp>
        <p:nvSpPr>
          <p:cNvPr id="20" name="Rectángulo 19"/>
          <p:cNvSpPr/>
          <p:nvPr/>
        </p:nvSpPr>
        <p:spPr>
          <a:xfrm>
            <a:off x="172446" y="5166098"/>
            <a:ext cx="3063600" cy="1234702"/>
          </a:xfrm>
          <a:prstGeom prst="rect">
            <a:avLst/>
          </a:prstGeom>
          <a:noFill/>
          <a:ln w="317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t" anchorCtr="0"/>
          <a:lstStyle/>
          <a:p>
            <a:pPr marL="180975" indent="-180975">
              <a:buFont typeface="+mj-lt"/>
              <a:buAutoNum type="arabicPeriod"/>
            </a:pPr>
            <a:r>
              <a:rPr lang="en-US" sz="1000" dirty="0">
                <a:solidFill>
                  <a:schemeClr val="tx1"/>
                </a:solidFill>
                <a:latin typeface="Calibri" panose="020F0502020204030204" pitchFamily="34" charset="0"/>
              </a:rPr>
              <a:t>Supported File Types (Import/Export)</a:t>
            </a:r>
          </a:p>
          <a:p>
            <a:pPr marL="180975" indent="-180975">
              <a:buFont typeface="+mj-lt"/>
              <a:buAutoNum type="arabicPeriod"/>
            </a:pPr>
            <a:r>
              <a:rPr lang="en-US" sz="1000" dirty="0">
                <a:solidFill>
                  <a:schemeClr val="tx1"/>
                </a:solidFill>
                <a:latin typeface="Calibri" panose="020F0502020204030204" pitchFamily="34" charset="0"/>
              </a:rPr>
              <a:t>Multilanguage UI &amp; Supporting Documentation</a:t>
            </a:r>
          </a:p>
          <a:p>
            <a:pPr marL="180975" indent="-180975">
              <a:buFont typeface="+mj-lt"/>
              <a:buAutoNum type="arabicPeriod"/>
            </a:pPr>
            <a:r>
              <a:rPr lang="en-US" sz="1000" dirty="0">
                <a:solidFill>
                  <a:schemeClr val="tx1"/>
                </a:solidFill>
                <a:latin typeface="Calibri" panose="020F0502020204030204" pitchFamily="34" charset="0"/>
              </a:rPr>
              <a:t>Search Functionality</a:t>
            </a:r>
          </a:p>
          <a:p>
            <a:pPr marL="180975" indent="-180975">
              <a:buFont typeface="+mj-lt"/>
              <a:buAutoNum type="arabicPeriod"/>
            </a:pPr>
            <a:r>
              <a:rPr lang="en-US" sz="1000" dirty="0">
                <a:solidFill>
                  <a:schemeClr val="tx1"/>
                </a:solidFill>
                <a:latin typeface="Calibri" panose="020F0502020204030204" pitchFamily="34" charset="0"/>
              </a:rPr>
              <a:t>Notification System Simple / Automatic / Advanced / Channels</a:t>
            </a:r>
          </a:p>
          <a:p>
            <a:pPr marL="180975" indent="-180975">
              <a:buFont typeface="+mj-lt"/>
              <a:buAutoNum type="arabicPeriod"/>
            </a:pPr>
            <a:r>
              <a:rPr lang="en-US" sz="1000" dirty="0" smtClean="0">
                <a:solidFill>
                  <a:schemeClr val="tx1"/>
                </a:solidFill>
                <a:latin typeface="Calibri" panose="020F0502020204030204" pitchFamily="34" charset="0"/>
              </a:rPr>
              <a:t>Dashboards</a:t>
            </a:r>
            <a:r>
              <a:rPr lang="en-US" sz="1000" dirty="0">
                <a:solidFill>
                  <a:schemeClr val="tx1"/>
                </a:solidFill>
                <a:latin typeface="Calibri" panose="020F0502020204030204" pitchFamily="34" charset="0"/>
              </a:rPr>
              <a:t>: Automatic / Manual / Lists</a:t>
            </a:r>
          </a:p>
          <a:p>
            <a:pPr marL="180975" indent="-180975">
              <a:buFont typeface="+mj-lt"/>
              <a:buAutoNum type="arabicPeriod"/>
            </a:pPr>
            <a:r>
              <a:rPr lang="en-US" sz="1000" dirty="0">
                <a:solidFill>
                  <a:schemeClr val="tx1"/>
                </a:solidFill>
                <a:latin typeface="Calibri" panose="020F0502020204030204" pitchFamily="34" charset="0"/>
              </a:rPr>
              <a:t>Manage User Preferences</a:t>
            </a:r>
          </a:p>
        </p:txBody>
      </p:sp>
      <p:sp>
        <p:nvSpPr>
          <p:cNvPr id="26" name="Rectángulo 25"/>
          <p:cNvSpPr/>
          <p:nvPr/>
        </p:nvSpPr>
        <p:spPr>
          <a:xfrm>
            <a:off x="177558" y="4361013"/>
            <a:ext cx="3063600" cy="64307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r>
              <a:rPr lang="en-US" sz="1600" b="1" dirty="0">
                <a:solidFill>
                  <a:schemeClr val="bg1"/>
                </a:solidFill>
                <a:latin typeface="Calibri" panose="020F0502020204030204" pitchFamily="34" charset="0"/>
              </a:rPr>
              <a:t>Cross Cutting Features</a:t>
            </a:r>
            <a:endParaRPr lang="es-ES" sz="1600" b="1" dirty="0">
              <a:solidFill>
                <a:schemeClr val="bg1"/>
              </a:solidFill>
              <a:latin typeface="Calibri" panose="020F0502020204030204" pitchFamily="34" charset="0"/>
            </a:endParaRPr>
          </a:p>
        </p:txBody>
      </p:sp>
      <p:sp>
        <p:nvSpPr>
          <p:cNvPr id="28" name="Flecha derecha 27"/>
          <p:cNvSpPr/>
          <p:nvPr/>
        </p:nvSpPr>
        <p:spPr>
          <a:xfrm>
            <a:off x="3271297" y="4437809"/>
            <a:ext cx="304800" cy="263692"/>
          </a:xfrm>
          <a:prstGeom prst="rightArrow">
            <a:avLst/>
          </a:prstGeom>
          <a:solidFill>
            <a:schemeClr val="accent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54000" rIns="54000" rtlCol="0" anchor="ctr"/>
          <a:lstStyle/>
          <a:p>
            <a:pPr algn="ctr"/>
            <a:endParaRPr lang="es-ES" sz="2000" b="1">
              <a:solidFill>
                <a:schemeClr val="bg1"/>
              </a:solidFill>
              <a:latin typeface="Calibri" panose="020F0502020204030204" pitchFamily="34" charset="0"/>
            </a:endParaRPr>
          </a:p>
        </p:txBody>
      </p:sp>
      <p:sp>
        <p:nvSpPr>
          <p:cNvPr id="39" name="Paralelogramo 38"/>
          <p:cNvSpPr/>
          <p:nvPr/>
        </p:nvSpPr>
        <p:spPr>
          <a:xfrm>
            <a:off x="358778" y="66259"/>
            <a:ext cx="2397122"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Product Backlog RC1  </a:t>
            </a:r>
            <a:endParaRPr lang="en-GB" sz="1600" b="1" dirty="0">
              <a:solidFill>
                <a:srgbClr val="016357"/>
              </a:solidFill>
            </a:endParaRPr>
          </a:p>
        </p:txBody>
      </p:sp>
      <p:sp>
        <p:nvSpPr>
          <p:cNvPr id="40" name="Rectángulo 39"/>
          <p:cNvSpPr/>
          <p:nvPr/>
        </p:nvSpPr>
        <p:spPr>
          <a:xfrm>
            <a:off x="2948940" y="66260"/>
            <a:ext cx="9114479" cy="646331"/>
          </a:xfrm>
          <a:prstGeom prst="rect">
            <a:avLst/>
          </a:prstGeom>
        </p:spPr>
        <p:txBody>
          <a:bodyPr wrap="square">
            <a:spAutoFit/>
          </a:bodyPr>
          <a:lstStyle/>
          <a:p>
            <a:pPr algn="r">
              <a:spcBef>
                <a:spcPts val="300"/>
              </a:spcBef>
              <a:spcAft>
                <a:spcPts val="300"/>
              </a:spcAft>
            </a:pPr>
            <a:r>
              <a:rPr lang="en-US" sz="3600" dirty="0" smtClean="0">
                <a:solidFill>
                  <a:schemeClr val="bg1"/>
                </a:solidFill>
                <a:latin typeface="Calibri" panose="020F0502020204030204" pitchFamily="34" charset="0"/>
              </a:rPr>
              <a:t>SW </a:t>
            </a:r>
            <a:r>
              <a:rPr lang="en-US" sz="3600" dirty="0">
                <a:solidFill>
                  <a:schemeClr val="bg1"/>
                </a:solidFill>
                <a:latin typeface="Calibri" panose="020F0502020204030204" pitchFamily="34" charset="0"/>
              </a:rPr>
              <a:t>Development focus Release Candidate </a:t>
            </a:r>
            <a:r>
              <a:rPr lang="en-US" sz="3600" dirty="0" smtClean="0">
                <a:solidFill>
                  <a:schemeClr val="bg1"/>
                </a:solidFill>
                <a:latin typeface="Calibri" panose="020F0502020204030204" pitchFamily="34" charset="0"/>
              </a:rPr>
              <a:t>- 1</a:t>
            </a:r>
            <a:endParaRPr lang="es-ES" sz="3600" kern="50" dirty="0">
              <a:solidFill>
                <a:schemeClr val="bg1"/>
              </a:solidFill>
              <a:latin typeface="Verdana" panose="020B0604030504040204" pitchFamily="34" charset="0"/>
              <a:ea typeface="Times New Roman" panose="02020603050405020304" pitchFamily="18" charset="0"/>
              <a:cs typeface="CG Times (W1)"/>
            </a:endParaRPr>
          </a:p>
        </p:txBody>
      </p:sp>
    </p:spTree>
    <p:extLst>
      <p:ext uri="{BB962C8B-B14F-4D97-AF65-F5344CB8AC3E}">
        <p14:creationId xmlns:p14="http://schemas.microsoft.com/office/powerpoint/2010/main" val="34186001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18</a:t>
            </a:fld>
            <a:endParaRPr lang="en-US" dirty="0">
              <a:solidFill>
                <a:schemeClr val="bg1"/>
              </a:solidFill>
            </a:endParaRPr>
          </a:p>
        </p:txBody>
      </p:sp>
      <p:graphicFrame>
        <p:nvGraphicFramePr>
          <p:cNvPr id="25" name="Tabla 24"/>
          <p:cNvGraphicFramePr>
            <a:graphicFrameLocks noGrp="1"/>
          </p:cNvGraphicFramePr>
          <p:nvPr>
            <p:extLst>
              <p:ext uri="{D42A27DB-BD31-4B8C-83A1-F6EECF244321}">
                <p14:modId xmlns:p14="http://schemas.microsoft.com/office/powerpoint/2010/main" val="1424394950"/>
              </p:ext>
            </p:extLst>
          </p:nvPr>
        </p:nvGraphicFramePr>
        <p:xfrm>
          <a:off x="389201" y="1106552"/>
          <a:ext cx="5673178" cy="5714300"/>
        </p:xfrm>
        <a:graphic>
          <a:graphicData uri="http://schemas.openxmlformats.org/drawingml/2006/table">
            <a:tbl>
              <a:tblPr firstRow="1" bandRow="1">
                <a:tableStyleId>{00A15C55-8517-42AA-B614-E9B94910E393}</a:tableStyleId>
              </a:tblPr>
              <a:tblGrid>
                <a:gridCol w="248964">
                  <a:extLst>
                    <a:ext uri="{9D8B030D-6E8A-4147-A177-3AD203B41FA5}">
                      <a16:colId xmlns:a16="http://schemas.microsoft.com/office/drawing/2014/main" val="3917562794"/>
                    </a:ext>
                  </a:extLst>
                </a:gridCol>
                <a:gridCol w="5424214">
                  <a:extLst>
                    <a:ext uri="{9D8B030D-6E8A-4147-A177-3AD203B41FA5}">
                      <a16:colId xmlns:a16="http://schemas.microsoft.com/office/drawing/2014/main" val="99791651"/>
                    </a:ext>
                  </a:extLst>
                </a:gridCol>
              </a:tblGrid>
              <a:tr h="0">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400" noProof="0" dirty="0" smtClean="0">
                          <a:latin typeface="Calibri" panose="020F0502020204030204" pitchFamily="34" charset="0"/>
                          <a:cs typeface="Calibri" panose="020F0502020204030204" pitchFamily="34" charset="0"/>
                        </a:rPr>
                        <a:t>STEP 4 </a:t>
                      </a:r>
                      <a:r>
                        <a:rPr lang="en-GB" sz="1400" baseline="0" noProof="0" dirty="0" smtClean="0">
                          <a:latin typeface="Calibri" panose="020F0502020204030204" pitchFamily="34" charset="0"/>
                          <a:cs typeface="Calibri" panose="020F0502020204030204" pitchFamily="34" charset="0"/>
                        </a:rPr>
                        <a:t> </a:t>
                      </a:r>
                      <a:r>
                        <a:rPr lang="en-GB" sz="1400" noProof="0" dirty="0" smtClean="0">
                          <a:latin typeface="Calibri" panose="020F0502020204030204" pitchFamily="34" charset="0"/>
                          <a:cs typeface="Calibri" panose="020F0502020204030204" pitchFamily="34" charset="0"/>
                        </a:rPr>
                        <a:t>Planned Scope   (RC 2/3)</a:t>
                      </a:r>
                    </a:p>
                  </a:txBody>
                  <a:tcPr marL="36000" marR="36000" marT="36000" marB="36000" anchor="ctr">
                    <a:solidFill>
                      <a:schemeClr val="accent1">
                        <a:lumMod val="50000"/>
                      </a:schemeClr>
                    </a:solidFill>
                  </a:tcPr>
                </a:tc>
                <a:tc hMerge="1">
                  <a:txBody>
                    <a:bodyPr/>
                    <a:lstStyle/>
                    <a:p>
                      <a:endParaRPr lang="es-ES"/>
                    </a:p>
                  </a:txBody>
                  <a:tcPr/>
                </a:tc>
                <a:extLst>
                  <a:ext uri="{0D108BD9-81ED-4DB2-BD59-A6C34878D82A}">
                    <a16:rowId xmlns:a16="http://schemas.microsoft.com/office/drawing/2014/main" val="469749394"/>
                  </a:ext>
                </a:extLst>
              </a:tr>
              <a:tr h="0">
                <a:tc gridSpan="2">
                  <a:txBody>
                    <a:bodyPr/>
                    <a:lstStyle/>
                    <a:p>
                      <a:pPr>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EP-STP4-MDF-DDS-Design Data Set</a:t>
                      </a:r>
                      <a:endParaRPr lang="es-ES" sz="11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23468738"/>
                  </a:ext>
                </a:extLst>
              </a:tr>
              <a:tr h="253769">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US-STP4-MDF-DDS-20-Create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Empty</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Data Set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Based</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on</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Template</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Data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(41)</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0"/>
                        </a:spcAft>
                      </a:pP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US-STP4-MDF-DDS-30-Create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Design</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Data Set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based</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on</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Existing</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DC/EU DS (42)</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0"/>
                        </a:spcAft>
                      </a:pP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US-STP4-MDF-DDS-20-Create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Empty</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Data Set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Based</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on</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Template</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Data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(41)</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0"/>
                        </a:spcAft>
                      </a:pP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US-STP4-MDF-DDS-30-Create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Design</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Data Set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based</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on</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Existing</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DC/EU DS (42)</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extLst>
                  <a:ext uri="{0D108BD9-81ED-4DB2-BD59-A6C34878D82A}">
                    <a16:rowId xmlns:a16="http://schemas.microsoft.com/office/drawing/2014/main" val="1207482829"/>
                  </a:ext>
                </a:extLst>
              </a:tr>
              <a:tr h="0">
                <a:tc gridSpan="2">
                  <a:txBody>
                    <a:bodyPr/>
                    <a:lstStyle/>
                    <a:p>
                      <a:pPr>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EP-STP4-MDF-DDS-QC-Quality Control</a:t>
                      </a:r>
                      <a:endParaRPr lang="es-ES" sz="1100" b="1"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66704428"/>
                  </a:ext>
                </a:extLst>
              </a:tr>
              <a:tr h="421145">
                <a:tc>
                  <a:txBody>
                    <a:bodyPr/>
                    <a:lstStyle/>
                    <a:p>
                      <a:pPr marL="0" algn="l" defTabSz="914423" rtl="0" eaLnBrk="1" latinLnBrk="0" hangingPunct="1">
                        <a:lnSpc>
                          <a:spcPct val="107000"/>
                        </a:lnSpc>
                        <a:spcAft>
                          <a:spcPts val="0"/>
                        </a:spcAft>
                      </a:pPr>
                      <a:endParaRPr lang="es-ES" sz="900" b="1" kern="1200" dirty="0" smtClean="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US-STP4-MDF-DDS-QC-10-View </a:t>
                      </a:r>
                      <a:r>
                        <a:rPr lang="es-ES" sz="900" kern="1200" dirty="0" err="1" smtClean="0">
                          <a:solidFill>
                            <a:schemeClr val="dk1"/>
                          </a:solidFill>
                          <a:effectLst/>
                          <a:latin typeface="Calibri" panose="020F0502020204030204" pitchFamily="34" charset="0"/>
                          <a:ea typeface="+mn-ea"/>
                          <a:cs typeface="Calibri" panose="020F0502020204030204" pitchFamily="34" charset="0"/>
                        </a:rPr>
                        <a:t>the</a:t>
                      </a:r>
                      <a:r>
                        <a:rPr lang="es-ES" sz="900" kern="1200" dirty="0" smtClean="0">
                          <a:solidFill>
                            <a:schemeClr val="dk1"/>
                          </a:solidFill>
                          <a:effectLst/>
                          <a:latin typeface="Calibri" panose="020F0502020204030204" pitchFamily="34" charset="0"/>
                          <a:ea typeface="+mn-ea"/>
                          <a:cs typeface="Calibri" panose="020F0502020204030204" pitchFamily="34" charset="0"/>
                        </a:rPr>
                        <a:t> QC Rules of a Data Set (45)</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US-STP4-MDF-DDS-QC-20-Create Field QC Rule in a Data Set (46)</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US-STP4-MDF-DDS-QC-21-Automaticaly </a:t>
                      </a:r>
                      <a:r>
                        <a:rPr lang="es-ES" sz="900" kern="1200" dirty="0" err="1" smtClean="0">
                          <a:solidFill>
                            <a:schemeClr val="dk1"/>
                          </a:solidFill>
                          <a:effectLst/>
                          <a:latin typeface="Calibri" panose="020F0502020204030204" pitchFamily="34" charset="0"/>
                          <a:ea typeface="+mn-ea"/>
                          <a:cs typeface="Calibri" panose="020F0502020204030204" pitchFamily="34" charset="0"/>
                        </a:rPr>
                        <a:t>creates</a:t>
                      </a:r>
                      <a:r>
                        <a:rPr lang="es-ES" sz="900" kern="1200" dirty="0" smtClean="0">
                          <a:solidFill>
                            <a:schemeClr val="dk1"/>
                          </a:solidFill>
                          <a:effectLst/>
                          <a:latin typeface="Calibri" panose="020F0502020204030204" pitchFamily="34" charset="0"/>
                          <a:ea typeface="+mn-ea"/>
                          <a:cs typeface="Calibri" panose="020F0502020204030204" pitchFamily="34" charset="0"/>
                        </a:rPr>
                        <a:t> QC Rule in a Data Set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from</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Schema</a:t>
                      </a:r>
                      <a:r>
                        <a:rPr lang="es-ES" sz="900" kern="1200" dirty="0" smtClean="0">
                          <a:solidFill>
                            <a:schemeClr val="dk1"/>
                          </a:solidFill>
                          <a:effectLst/>
                          <a:latin typeface="Calibri" panose="020F0502020204030204" pitchFamily="34" charset="0"/>
                          <a:ea typeface="+mn-ea"/>
                          <a:cs typeface="Calibri" panose="020F0502020204030204" pitchFamily="34" charset="0"/>
                        </a:rPr>
                        <a:t> (47)</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US-STP4-MDF-DDS-QC-30-Create </a:t>
                      </a:r>
                      <a:r>
                        <a:rPr lang="es-ES" sz="900" kern="1200" dirty="0" err="1" smtClean="0">
                          <a:solidFill>
                            <a:schemeClr val="dk1"/>
                          </a:solidFill>
                          <a:effectLst/>
                          <a:latin typeface="Calibri" panose="020F0502020204030204" pitchFamily="34" charset="0"/>
                          <a:ea typeface="+mn-ea"/>
                          <a:cs typeface="Calibri" panose="020F0502020204030204" pitchFamily="34" charset="0"/>
                        </a:rPr>
                        <a:t>Row</a:t>
                      </a:r>
                      <a:r>
                        <a:rPr lang="es-ES" sz="900" kern="1200" dirty="0" smtClean="0">
                          <a:solidFill>
                            <a:schemeClr val="dk1"/>
                          </a:solidFill>
                          <a:effectLst/>
                          <a:latin typeface="Calibri" panose="020F0502020204030204" pitchFamily="34" charset="0"/>
                          <a:ea typeface="+mn-ea"/>
                          <a:cs typeface="Calibri" panose="020F0502020204030204" pitchFamily="34" charset="0"/>
                        </a:rPr>
                        <a:t> QC Rule in a Data Set (48)</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US-STP4-MDF-DDS-QC-40-Create </a:t>
                      </a:r>
                      <a:r>
                        <a:rPr lang="es-ES" sz="900" kern="1200" dirty="0" err="1" smtClean="0">
                          <a:solidFill>
                            <a:schemeClr val="dk1"/>
                          </a:solidFill>
                          <a:effectLst/>
                          <a:latin typeface="Calibri" panose="020F0502020204030204" pitchFamily="34" charset="0"/>
                          <a:ea typeface="+mn-ea"/>
                          <a:cs typeface="Calibri" panose="020F0502020204030204" pitchFamily="34" charset="0"/>
                        </a:rPr>
                        <a:t>Table</a:t>
                      </a:r>
                      <a:r>
                        <a:rPr lang="es-ES" sz="900" kern="1200" dirty="0" smtClean="0">
                          <a:solidFill>
                            <a:schemeClr val="dk1"/>
                          </a:solidFill>
                          <a:effectLst/>
                          <a:latin typeface="Calibri" panose="020F0502020204030204" pitchFamily="34" charset="0"/>
                          <a:ea typeface="+mn-ea"/>
                          <a:cs typeface="Calibri" panose="020F0502020204030204" pitchFamily="34" charset="0"/>
                        </a:rPr>
                        <a:t> QC Rule in a Data Set (49)</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US-STP4-MDF-DDS-QC-70-Delete QC Rule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for</a:t>
                      </a:r>
                      <a:r>
                        <a:rPr lang="es-ES" sz="900" kern="1200" dirty="0" smtClean="0">
                          <a:solidFill>
                            <a:schemeClr val="dk1"/>
                          </a:solidFill>
                          <a:effectLst/>
                          <a:latin typeface="Calibri" panose="020F0502020204030204" pitchFamily="34" charset="0"/>
                          <a:ea typeface="+mn-ea"/>
                          <a:cs typeface="Calibri" panose="020F0502020204030204" pitchFamily="34" charset="0"/>
                        </a:rPr>
                        <a:t> a Data Set (50)</a:t>
                      </a:r>
                      <a:endParaRPr lang="es-ES" sz="90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3619849090"/>
                  </a:ext>
                </a:extLst>
              </a:tr>
              <a:tr h="0">
                <a:tc gridSpan="2">
                  <a:txBody>
                    <a:bodyPr/>
                    <a:lstStyle/>
                    <a:p>
                      <a:pPr>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EP-STP4-MDF-DDS-TEST-Design Data Set</a:t>
                      </a:r>
                      <a:endParaRPr lang="es-ES" sz="11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297698150"/>
                  </a:ext>
                </a:extLst>
              </a:tr>
              <a:tr h="17306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US-STP4-MDF-DDS-TEST-VALIDATIONS-for a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Design</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-Data-Set (14)</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extLst>
                  <a:ext uri="{0D108BD9-81ED-4DB2-BD59-A6C34878D82A}">
                    <a16:rowId xmlns:a16="http://schemas.microsoft.com/office/drawing/2014/main" val="4207606868"/>
                  </a:ext>
                </a:extLst>
              </a:tr>
              <a:tr h="173060">
                <a:tc gridSpan="2">
                  <a:txBody>
                    <a:bodyPr/>
                    <a:lstStyle/>
                    <a:p>
                      <a:pPr>
                        <a:lnSpc>
                          <a:spcPct val="107000"/>
                        </a:lnSpc>
                        <a:spcAft>
                          <a:spcPts val="0"/>
                        </a:spcAft>
                      </a:pPr>
                      <a:r>
                        <a:rPr lang="es-ES" sz="1100" kern="1200" dirty="0" smtClean="0">
                          <a:solidFill>
                            <a:schemeClr val="dk1"/>
                          </a:solidFill>
                          <a:effectLst/>
                          <a:latin typeface="Calibri" panose="020F0502020204030204" pitchFamily="34" charset="0"/>
                          <a:ea typeface="+mn-ea"/>
                          <a:cs typeface="Calibri" panose="020F0502020204030204" pitchFamily="34" charset="0"/>
                        </a:rPr>
                        <a:t>EP-STP4-MDF-DDS-VIEW-Manage-View</a:t>
                      </a:r>
                      <a:r>
                        <a:rPr lang="es-ES" sz="900" kern="1200" dirty="0" smtClean="0">
                          <a:solidFill>
                            <a:schemeClr val="dk1"/>
                          </a:solidFill>
                          <a:effectLst/>
                          <a:latin typeface="Calibri" panose="020F0502020204030204" pitchFamily="34" charset="0"/>
                          <a:ea typeface="+mn-ea"/>
                          <a:cs typeface="Calibri" panose="020F0502020204030204" pitchFamily="34" charset="0"/>
                        </a:rPr>
                        <a:t>s</a:t>
                      </a: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2484795159"/>
                  </a:ext>
                </a:extLst>
              </a:tr>
              <a:tr h="189619">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US-STP4-MDF-DDS-VW-10-Create View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into</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 Data Set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(16)</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0"/>
                        </a:spcAft>
                      </a:pP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US-STP4-MDF-DDS-VW-20-Delete View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from</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 Data Set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(17)</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0"/>
                        </a:spcAft>
                      </a:pP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US-STP4-MDF-DDS-VW-30-Manage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Tables</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 a View in a Data Set </a:t>
                      </a:r>
                      <a:r>
                        <a:rPr lang="es-ES" sz="9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Schema</a:t>
                      </a:r>
                      <a:r>
                        <a:rPr lang="es-ES" sz="9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(43)</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extLst>
                  <a:ext uri="{0D108BD9-81ED-4DB2-BD59-A6C34878D82A}">
                    <a16:rowId xmlns:a16="http://schemas.microsoft.com/office/drawing/2014/main" val="3524975061"/>
                  </a:ext>
                </a:extLst>
              </a:tr>
              <a:tr h="173060">
                <a:tc gridSpan="2">
                  <a:txBody>
                    <a:bodyPr/>
                    <a:lstStyle/>
                    <a:p>
                      <a:pPr>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EP-STP4-MDF-DDS-WF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Design</a:t>
                      </a:r>
                      <a:r>
                        <a:rPr lang="es-ES" sz="1100" b="1" kern="1200" dirty="0" smtClean="0">
                          <a:solidFill>
                            <a:schemeClr val="dk1"/>
                          </a:solidFill>
                          <a:effectLst/>
                          <a:latin typeface="Calibri" panose="020F0502020204030204" pitchFamily="34" charset="0"/>
                          <a:ea typeface="+mn-ea"/>
                          <a:cs typeface="Calibri" panose="020F0502020204030204" pitchFamily="34" charset="0"/>
                        </a:rPr>
                        <a:t>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Webform</a:t>
                      </a:r>
                      <a:endParaRPr lang="es-ES" sz="11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2019089629"/>
                  </a:ext>
                </a:extLst>
              </a:tr>
              <a:tr h="17306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US-STP4-MDF-DDS-WF-10-Webforms </a:t>
                      </a:r>
                      <a:r>
                        <a:rPr lang="es-ES" sz="900" kern="1200" dirty="0" err="1" smtClean="0">
                          <a:solidFill>
                            <a:schemeClr val="dk1"/>
                          </a:solidFill>
                          <a:effectLst/>
                          <a:latin typeface="Calibri" panose="020F0502020204030204" pitchFamily="34" charset="0"/>
                          <a:ea typeface="+mn-ea"/>
                          <a:cs typeface="Calibri" panose="020F0502020204030204" pitchFamily="34" charset="0"/>
                        </a:rPr>
                        <a:t>generate</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with</a:t>
                      </a:r>
                      <a:r>
                        <a:rPr lang="es-ES" sz="900" kern="1200" dirty="0" smtClean="0">
                          <a:solidFill>
                            <a:schemeClr val="dk1"/>
                          </a:solidFill>
                          <a:effectLst/>
                          <a:latin typeface="Calibri" panose="020F0502020204030204" pitchFamily="34" charset="0"/>
                          <a:ea typeface="+mn-ea"/>
                          <a:cs typeface="Calibri" panose="020F0502020204030204" pitchFamily="34" charset="0"/>
                        </a:rPr>
                        <a:t> scripts (51)</a:t>
                      </a:r>
                      <a:endParaRPr lang="es-ES" sz="900" dirty="0">
                        <a:latin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1192707009"/>
                  </a:ext>
                </a:extLst>
              </a:tr>
              <a:tr h="173060">
                <a:tc gridSpan="2">
                  <a:txBody>
                    <a:bodyPr/>
                    <a:lstStyle/>
                    <a:p>
                      <a:pPr>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EP-STP4-MDF-DSH-Manage-Dashboards</a:t>
                      </a:r>
                      <a:endParaRPr lang="es-ES" sz="11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4077670968"/>
                  </a:ext>
                </a:extLst>
              </a:tr>
              <a:tr h="17306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US-STP4-MDF-DSH-310-Create-Default-Dashboard-for 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Reporting</a:t>
                      </a:r>
                      <a:r>
                        <a:rPr lang="es-ES" sz="900" kern="1200" dirty="0" smtClean="0">
                          <a:solidFill>
                            <a:schemeClr val="dk1"/>
                          </a:solidFill>
                          <a:effectLst/>
                          <a:latin typeface="Calibri" panose="020F0502020204030204" pitchFamily="34" charset="0"/>
                          <a:ea typeface="+mn-ea"/>
                          <a:cs typeface="Calibri" panose="020F0502020204030204" pitchFamily="34" charset="0"/>
                        </a:rPr>
                        <a:t> Data SET (44)</a:t>
                      </a:r>
                      <a:endParaRPr lang="es-ES" sz="900" dirty="0">
                        <a:latin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81265226"/>
                  </a:ext>
                </a:extLst>
              </a:tr>
              <a:tr h="173060">
                <a:tc gridSpan="2">
                  <a:txBody>
                    <a:bodyPr/>
                    <a:lstStyle/>
                    <a:p>
                      <a:pPr>
                        <a:lnSpc>
                          <a:spcPct val="107000"/>
                        </a:lnSpc>
                        <a:spcAft>
                          <a:spcPts val="0"/>
                        </a:spcAft>
                      </a:pPr>
                      <a:r>
                        <a:rPr lang="es-ES" sz="1100" kern="1200" dirty="0" smtClean="0">
                          <a:solidFill>
                            <a:schemeClr val="dk1"/>
                          </a:solidFill>
                          <a:effectLst/>
                          <a:latin typeface="Calibri" panose="020F0502020204030204" pitchFamily="34" charset="0"/>
                          <a:ea typeface="+mn-ea"/>
                          <a:cs typeface="Calibri" panose="020F0502020204030204" pitchFamily="34" charset="0"/>
                        </a:rPr>
                        <a:t>EP-STP4-MDF-Manage Data </a:t>
                      </a:r>
                      <a:r>
                        <a:rPr lang="es-ES" sz="1100" kern="1200" dirty="0" err="1" smtClean="0">
                          <a:solidFill>
                            <a:schemeClr val="dk1"/>
                          </a:solidFill>
                          <a:effectLst/>
                          <a:latin typeface="Calibri" panose="020F0502020204030204" pitchFamily="34" charset="0"/>
                          <a:ea typeface="+mn-ea"/>
                          <a:cs typeface="Calibri" panose="020F0502020204030204" pitchFamily="34" charset="0"/>
                        </a:rPr>
                        <a:t>Flows</a:t>
                      </a:r>
                      <a:endParaRPr lang="es-ES" sz="11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1698415917"/>
                  </a:ext>
                </a:extLst>
              </a:tr>
              <a:tr h="17306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US-STP4-MDF-03-View Data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Flow</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Details</a:t>
                      </a:r>
                      <a:r>
                        <a:rPr lang="es-ES" sz="900" kern="1200" dirty="0" smtClean="0">
                          <a:solidFill>
                            <a:schemeClr val="dk1"/>
                          </a:solidFill>
                          <a:effectLst/>
                          <a:latin typeface="Calibri" panose="020F0502020204030204" pitchFamily="34" charset="0"/>
                          <a:ea typeface="+mn-ea"/>
                          <a:cs typeface="Calibri" panose="020F0502020204030204" pitchFamily="34" charset="0"/>
                        </a:rPr>
                        <a:t> (36)</a:t>
                      </a:r>
                      <a:endParaRPr lang="es-ES" sz="900" dirty="0">
                        <a:latin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3165560422"/>
                  </a:ext>
                </a:extLst>
              </a:tr>
              <a:tr h="173060">
                <a:tc gridSpan="2">
                  <a:txBody>
                    <a:bodyPr/>
                    <a:lstStyle/>
                    <a:p>
                      <a:pPr>
                        <a:lnSpc>
                          <a:spcPct val="107000"/>
                        </a:lnSpc>
                        <a:spcAft>
                          <a:spcPts val="0"/>
                        </a:spcAft>
                      </a:pPr>
                      <a:r>
                        <a:rPr lang="es-ES" sz="1100" kern="1200" dirty="0" smtClean="0">
                          <a:solidFill>
                            <a:schemeClr val="dk1"/>
                          </a:solidFill>
                          <a:effectLst/>
                          <a:latin typeface="Calibri" panose="020F0502020204030204" pitchFamily="34" charset="0"/>
                          <a:ea typeface="+mn-ea"/>
                          <a:cs typeface="Calibri" panose="020F0502020204030204" pitchFamily="34" charset="0"/>
                        </a:rPr>
                        <a:t>EP-STP4-MDF-MWG-Manage-DF-Work-Groups</a:t>
                      </a:r>
                      <a:endParaRPr lang="es-ES" sz="11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2511456785"/>
                  </a:ext>
                </a:extLst>
              </a:tr>
              <a:tr h="511142">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US-STP4-MDF-MWG-10-Add-Contributor-Working-Groups-Data-Set-Design Roles of a Data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Flow</a:t>
                      </a:r>
                      <a:r>
                        <a:rPr lang="es-ES" sz="900" kern="1200" dirty="0" smtClean="0">
                          <a:solidFill>
                            <a:schemeClr val="dk1"/>
                          </a:solidFill>
                          <a:effectLst/>
                          <a:latin typeface="Calibri" panose="020F0502020204030204" pitchFamily="34" charset="0"/>
                          <a:ea typeface="+mn-ea"/>
                          <a:cs typeface="Calibri" panose="020F0502020204030204" pitchFamily="34" charset="0"/>
                        </a:rPr>
                        <a:t> (37)</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US-STP4-MDF-MWG-20-Update-Contributor-Working-Groups-Data-Set-Design Roles of a Data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Flow</a:t>
                      </a:r>
                      <a:r>
                        <a:rPr lang="es-ES" sz="900" kern="1200" dirty="0" smtClean="0">
                          <a:solidFill>
                            <a:schemeClr val="dk1"/>
                          </a:solidFill>
                          <a:effectLst/>
                          <a:latin typeface="Calibri" panose="020F0502020204030204" pitchFamily="34" charset="0"/>
                          <a:ea typeface="+mn-ea"/>
                          <a:cs typeface="Calibri" panose="020F0502020204030204" pitchFamily="34" charset="0"/>
                        </a:rPr>
                        <a:t> (38)</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US-STP4-MDF-MWG-30-Delete-Contributor-Working-Groups-Data-Set-Design Roles of a Data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Flow</a:t>
                      </a:r>
                      <a:r>
                        <a:rPr lang="es-ES" sz="900" kern="1200" dirty="0" smtClean="0">
                          <a:solidFill>
                            <a:schemeClr val="dk1"/>
                          </a:solidFill>
                          <a:effectLst/>
                          <a:latin typeface="Calibri" panose="020F0502020204030204" pitchFamily="34" charset="0"/>
                          <a:ea typeface="+mn-ea"/>
                          <a:cs typeface="Calibri" panose="020F0502020204030204" pitchFamily="34" charset="0"/>
                        </a:rPr>
                        <a:t> (39)</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US-STP4-MDF-MWG-40-Accept-Reject-Contributor-Working-Groups-Data-Set-Design Roles of a Data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Flow</a:t>
                      </a:r>
                      <a:r>
                        <a:rPr lang="es-ES" sz="900" kern="1200" dirty="0" smtClean="0">
                          <a:solidFill>
                            <a:schemeClr val="dk1"/>
                          </a:solidFill>
                          <a:effectLst/>
                          <a:latin typeface="Calibri" panose="020F0502020204030204" pitchFamily="34" charset="0"/>
                          <a:ea typeface="+mn-ea"/>
                          <a:cs typeface="Calibri" panose="020F0502020204030204" pitchFamily="34" charset="0"/>
                        </a:rPr>
                        <a:t> (40)</a:t>
                      </a:r>
                      <a:endParaRPr lang="es-ES" sz="900" dirty="0">
                        <a:latin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397348209"/>
                  </a:ext>
                </a:extLst>
              </a:tr>
            </a:tbl>
          </a:graphicData>
        </a:graphic>
      </p:graphicFrame>
      <p:graphicFrame>
        <p:nvGraphicFramePr>
          <p:cNvPr id="29" name="Tabla 28"/>
          <p:cNvGraphicFramePr>
            <a:graphicFrameLocks noGrp="1"/>
          </p:cNvGraphicFramePr>
          <p:nvPr>
            <p:extLst>
              <p:ext uri="{D42A27DB-BD31-4B8C-83A1-F6EECF244321}">
                <p14:modId xmlns:p14="http://schemas.microsoft.com/office/powerpoint/2010/main" val="3520347810"/>
              </p:ext>
            </p:extLst>
          </p:nvPr>
        </p:nvGraphicFramePr>
        <p:xfrm>
          <a:off x="6223944" y="1106552"/>
          <a:ext cx="5673178" cy="5633846"/>
        </p:xfrm>
        <a:graphic>
          <a:graphicData uri="http://schemas.openxmlformats.org/drawingml/2006/table">
            <a:tbl>
              <a:tblPr firstRow="1" bandRow="1">
                <a:tableStyleId>{00A15C55-8517-42AA-B614-E9B94910E393}</a:tableStyleId>
              </a:tblPr>
              <a:tblGrid>
                <a:gridCol w="232913">
                  <a:extLst>
                    <a:ext uri="{9D8B030D-6E8A-4147-A177-3AD203B41FA5}">
                      <a16:colId xmlns:a16="http://schemas.microsoft.com/office/drawing/2014/main" val="3917562794"/>
                    </a:ext>
                  </a:extLst>
                </a:gridCol>
                <a:gridCol w="5440265">
                  <a:extLst>
                    <a:ext uri="{9D8B030D-6E8A-4147-A177-3AD203B41FA5}">
                      <a16:colId xmlns:a16="http://schemas.microsoft.com/office/drawing/2014/main" val="1379862624"/>
                    </a:ext>
                  </a:extLst>
                </a:gridCol>
              </a:tblGrid>
              <a:tr h="244713">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400" noProof="0" dirty="0" smtClean="0">
                          <a:latin typeface="Calibri" panose="020F0502020204030204" pitchFamily="34" charset="0"/>
                          <a:cs typeface="Calibri" panose="020F0502020204030204" pitchFamily="34" charset="0"/>
                        </a:rPr>
                        <a:t>STEP 6</a:t>
                      </a:r>
                      <a:r>
                        <a:rPr lang="en-GB" sz="1400" baseline="0" noProof="0" dirty="0" smtClean="0">
                          <a:latin typeface="Calibri" panose="020F0502020204030204" pitchFamily="34" charset="0"/>
                          <a:cs typeface="Calibri" panose="020F0502020204030204" pitchFamily="34" charset="0"/>
                        </a:rPr>
                        <a:t> </a:t>
                      </a:r>
                      <a:r>
                        <a:rPr lang="en-GB" sz="1400" noProof="0" dirty="0" smtClean="0">
                          <a:latin typeface="Calibri" panose="020F0502020204030204" pitchFamily="34" charset="0"/>
                          <a:cs typeface="Calibri" panose="020F0502020204030204" pitchFamily="34" charset="0"/>
                        </a:rPr>
                        <a:t>Planned Scope   (RC2/3)</a:t>
                      </a:r>
                    </a:p>
                  </a:txBody>
                  <a:tcPr marL="36000" marR="36000" marT="36000" marB="36000" anchor="ctr">
                    <a:solidFill>
                      <a:schemeClr val="accent1">
                        <a:lumMod val="50000"/>
                      </a:schemeClr>
                    </a:solidFill>
                  </a:tcPr>
                </a:tc>
                <a:tc hMerge="1">
                  <a:txBody>
                    <a:bodyPr/>
                    <a:lstStyle/>
                    <a:p>
                      <a:endParaRPr lang="es-ES"/>
                    </a:p>
                  </a:txBody>
                  <a:tcPr/>
                </a:tc>
                <a:extLst>
                  <a:ext uri="{0D108BD9-81ED-4DB2-BD59-A6C34878D82A}">
                    <a16:rowId xmlns:a16="http://schemas.microsoft.com/office/drawing/2014/main" val="469749394"/>
                  </a:ext>
                </a:extLst>
              </a:tr>
              <a:tr h="193493">
                <a:tc gridSpan="2">
                  <a:txBody>
                    <a:bodyPr/>
                    <a:lstStyle/>
                    <a:p>
                      <a:pPr>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EP-STP6-DAS-MY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My</a:t>
                      </a:r>
                      <a:r>
                        <a:rPr lang="es-ES" sz="1100" b="1" kern="1200" dirty="0" smtClean="0">
                          <a:solidFill>
                            <a:schemeClr val="dk1"/>
                          </a:solidFill>
                          <a:effectLst/>
                          <a:latin typeface="Calibri" panose="020F0502020204030204" pitchFamily="34" charset="0"/>
                          <a:ea typeface="+mn-ea"/>
                          <a:cs typeface="Calibri" panose="020F0502020204030204" pitchFamily="34" charset="0"/>
                        </a:rPr>
                        <a:t> Data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Flows</a:t>
                      </a:r>
                      <a:endParaRPr lang="es-ES" sz="11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3623468738"/>
                  </a:ext>
                </a:extLst>
              </a:tr>
              <a:tr h="375079">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US-STP6-DAS-MY-02-View </a:t>
                      </a:r>
                      <a:r>
                        <a:rPr lang="es-ES" sz="900" kern="1200" dirty="0" err="1" smtClean="0">
                          <a:solidFill>
                            <a:schemeClr val="dk1"/>
                          </a:solidFill>
                          <a:effectLst/>
                          <a:latin typeface="Calibri" panose="020F0502020204030204" pitchFamily="34" charset="0"/>
                          <a:ea typeface="+mn-ea"/>
                          <a:cs typeface="Calibri" panose="020F0502020204030204" pitchFamily="34" charset="0"/>
                        </a:rPr>
                        <a:t>properties</a:t>
                      </a:r>
                      <a:r>
                        <a:rPr lang="es-ES" sz="900" kern="1200" dirty="0" smtClean="0">
                          <a:solidFill>
                            <a:schemeClr val="dk1"/>
                          </a:solidFill>
                          <a:effectLst/>
                          <a:latin typeface="Calibri" panose="020F0502020204030204" pitchFamily="34" charset="0"/>
                          <a:ea typeface="+mn-ea"/>
                          <a:cs typeface="Calibri" panose="020F0502020204030204" pitchFamily="34" charset="0"/>
                        </a:rPr>
                        <a:t> of 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dataflow</a:t>
                      </a:r>
                      <a:r>
                        <a:rPr lang="es-ES" sz="900" kern="1200" dirty="0" smtClean="0">
                          <a:solidFill>
                            <a:schemeClr val="dk1"/>
                          </a:solidFill>
                          <a:effectLst/>
                          <a:latin typeface="Calibri" panose="020F0502020204030204" pitchFamily="34" charset="0"/>
                          <a:ea typeface="+mn-ea"/>
                          <a:cs typeface="Calibri" panose="020F0502020204030204" pitchFamily="34" charset="0"/>
                        </a:rPr>
                        <a:t> (10)</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US-STP6-DAS-MY-03-Search Data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Flows</a:t>
                      </a:r>
                      <a:r>
                        <a:rPr lang="es-ES" sz="900" kern="1200" dirty="0" smtClean="0">
                          <a:solidFill>
                            <a:schemeClr val="dk1"/>
                          </a:solidFill>
                          <a:effectLst/>
                          <a:latin typeface="Calibri" panose="020F0502020204030204" pitchFamily="34" charset="0"/>
                          <a:ea typeface="+mn-ea"/>
                          <a:cs typeface="Calibri" panose="020F0502020204030204" pitchFamily="34" charset="0"/>
                        </a:rPr>
                        <a:t> (29)</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US-STP6-DAS-MY-04-Calendar Data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Flows</a:t>
                      </a:r>
                      <a:r>
                        <a:rPr lang="es-ES" sz="900" kern="1200" dirty="0" smtClean="0">
                          <a:solidFill>
                            <a:schemeClr val="dk1"/>
                          </a:solidFill>
                          <a:effectLst/>
                          <a:latin typeface="Calibri" panose="020F0502020204030204" pitchFamily="34" charset="0"/>
                          <a:ea typeface="+mn-ea"/>
                          <a:cs typeface="Calibri" panose="020F0502020204030204" pitchFamily="34" charset="0"/>
                        </a:rPr>
                        <a:t> (23)</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extLst>
                  <a:ext uri="{0D108BD9-81ED-4DB2-BD59-A6C34878D82A}">
                    <a16:rowId xmlns:a16="http://schemas.microsoft.com/office/drawing/2014/main" val="1207482829"/>
                  </a:ext>
                </a:extLst>
              </a:tr>
              <a:tr h="193493">
                <a:tc gridSpan="2">
                  <a:txBody>
                    <a:bodyPr/>
                    <a:lstStyle/>
                    <a:p>
                      <a:pPr marL="0" algn="l" defTabSz="914423" rtl="0" eaLnBrk="1" latinLnBrk="0" hangingPunct="1">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EP-STP6-DAS-PEN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Pending</a:t>
                      </a:r>
                      <a:r>
                        <a:rPr lang="es-ES" sz="1100" b="1" kern="1200" dirty="0" smtClean="0">
                          <a:solidFill>
                            <a:schemeClr val="dk1"/>
                          </a:solidFill>
                          <a:effectLst/>
                          <a:latin typeface="Calibri" panose="020F0502020204030204" pitchFamily="34" charset="0"/>
                          <a:ea typeface="+mn-ea"/>
                          <a:cs typeface="Calibri" panose="020F0502020204030204" pitchFamily="34" charset="0"/>
                        </a:rPr>
                        <a:t> Data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Flows</a:t>
                      </a:r>
                      <a:endParaRPr lang="es-ES" sz="1100" b="1" kern="1200" dirty="0" smtClean="0">
                        <a:solidFill>
                          <a:schemeClr val="dk1"/>
                        </a:solidFill>
                        <a:effectLst/>
                        <a:latin typeface="Calibri" panose="020F0502020204030204" pitchFamily="34" charset="0"/>
                        <a:ea typeface="+mn-ea"/>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3666704428"/>
                  </a:ext>
                </a:extLst>
              </a:tr>
              <a:tr h="199397">
                <a:tc>
                  <a:txBody>
                    <a:bodyPr/>
                    <a:lstStyle/>
                    <a:p>
                      <a:pPr>
                        <a:lnSpc>
                          <a:spcPct val="107000"/>
                        </a:lnSpc>
                        <a:spcAft>
                          <a:spcPts val="0"/>
                        </a:spcAft>
                      </a:pPr>
                      <a:endParaRPr lang="es-ES" sz="900" b="1"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US-STP6-DAS-PEN-02- </a:t>
                      </a:r>
                      <a:r>
                        <a:rPr lang="es-ES" sz="900" kern="1200" dirty="0" err="1" smtClean="0">
                          <a:solidFill>
                            <a:schemeClr val="dk1"/>
                          </a:solidFill>
                          <a:effectLst/>
                          <a:latin typeface="Calibri" panose="020F0502020204030204" pitchFamily="34" charset="0"/>
                          <a:ea typeface="+mn-ea"/>
                          <a:cs typeface="Calibri" panose="020F0502020204030204" pitchFamily="34" charset="0"/>
                        </a:rPr>
                        <a:t>Answer</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pending</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request</a:t>
                      </a:r>
                      <a:r>
                        <a:rPr lang="es-ES" sz="900" kern="1200" dirty="0" smtClean="0">
                          <a:solidFill>
                            <a:schemeClr val="dk1"/>
                          </a:solidFill>
                          <a:effectLst/>
                          <a:latin typeface="Calibri" panose="020F0502020204030204" pitchFamily="34" charset="0"/>
                          <a:ea typeface="+mn-ea"/>
                          <a:cs typeface="Calibri" panose="020F0502020204030204" pitchFamily="34" charset="0"/>
                        </a:rPr>
                        <a:t> (30)</a:t>
                      </a:r>
                    </a:p>
                  </a:txBody>
                  <a:tcPr marL="36000" marR="36000" marT="0" marB="0" anchor="ctr"/>
                </a:tc>
                <a:extLst>
                  <a:ext uri="{0D108BD9-81ED-4DB2-BD59-A6C34878D82A}">
                    <a16:rowId xmlns:a16="http://schemas.microsoft.com/office/drawing/2014/main" val="3619849090"/>
                  </a:ext>
                </a:extLst>
              </a:tr>
              <a:tr h="193493">
                <a:tc gridSpan="2">
                  <a:txBody>
                    <a:bodyPr/>
                    <a:lstStyle/>
                    <a:p>
                      <a:pPr marL="0" algn="l" defTabSz="914423" rtl="0" eaLnBrk="1" latinLnBrk="0" hangingPunct="1">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EP-STP6-DFW Data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Flow</a:t>
                      </a:r>
                      <a:endParaRPr lang="es-ES" sz="1100" b="1" kern="1200" dirty="0">
                        <a:solidFill>
                          <a:schemeClr val="dk1"/>
                        </a:solidFill>
                        <a:effectLst/>
                        <a:latin typeface="Calibri" panose="020F0502020204030204" pitchFamily="34" charset="0"/>
                        <a:ea typeface="+mn-ea"/>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297698150"/>
                  </a:ext>
                </a:extLst>
              </a:tr>
              <a:tr h="199397">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pPr>
                        <a:lnSpc>
                          <a:spcPct val="107000"/>
                        </a:lnSpc>
                        <a:spcAft>
                          <a:spcPts val="0"/>
                        </a:spcAft>
                      </a:pPr>
                      <a:r>
                        <a:rPr lang="es-ES" sz="900" kern="1200" dirty="0" smtClean="0">
                          <a:solidFill>
                            <a:schemeClr val="dk1"/>
                          </a:solidFill>
                          <a:effectLst/>
                          <a:latin typeface="Calibri" panose="020F0502020204030204" pitchFamily="34" charset="0"/>
                          <a:ea typeface="+mn-ea"/>
                          <a:cs typeface="Calibri" panose="020F0502020204030204" pitchFamily="34" charset="0"/>
                        </a:rPr>
                        <a:t>US-STP6-DFW-01-Data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Flow</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Properties</a:t>
                      </a:r>
                      <a:r>
                        <a:rPr lang="es-ES" sz="900" kern="1200" dirty="0" smtClean="0">
                          <a:solidFill>
                            <a:schemeClr val="dk1"/>
                          </a:solidFill>
                          <a:effectLst/>
                          <a:latin typeface="Calibri" panose="020F0502020204030204" pitchFamily="34" charset="0"/>
                          <a:ea typeface="+mn-ea"/>
                          <a:cs typeface="Calibri" panose="020F0502020204030204" pitchFamily="34" charset="0"/>
                        </a:rPr>
                        <a:t> (22)</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extLst>
                  <a:ext uri="{0D108BD9-81ED-4DB2-BD59-A6C34878D82A}">
                    <a16:rowId xmlns:a16="http://schemas.microsoft.com/office/drawing/2014/main" val="4207606868"/>
                  </a:ext>
                </a:extLst>
              </a:tr>
              <a:tr h="193493">
                <a:tc gridSpan="2">
                  <a:txBody>
                    <a:bodyPr/>
                    <a:lstStyle/>
                    <a:p>
                      <a:pPr marL="0" algn="l" defTabSz="914423" rtl="0" eaLnBrk="1" latinLnBrk="0" hangingPunct="1">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EP-STP6-DFW-ACC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Manage</a:t>
                      </a:r>
                      <a:r>
                        <a:rPr lang="es-ES" sz="1100" b="1" kern="1200" dirty="0" smtClean="0">
                          <a:solidFill>
                            <a:schemeClr val="dk1"/>
                          </a:solidFill>
                          <a:effectLst/>
                          <a:latin typeface="Calibri" panose="020F0502020204030204" pitchFamily="34" charset="0"/>
                          <a:ea typeface="+mn-ea"/>
                          <a:cs typeface="Calibri" panose="020F0502020204030204" pitchFamily="34" charset="0"/>
                        </a:rPr>
                        <a:t> Access</a:t>
                      </a:r>
                      <a:endParaRPr lang="es-ES" sz="1100" b="1" kern="1200" dirty="0">
                        <a:solidFill>
                          <a:schemeClr val="dk1"/>
                        </a:solidFill>
                        <a:effectLst/>
                        <a:latin typeface="Calibri" panose="020F0502020204030204" pitchFamily="34" charset="0"/>
                        <a:ea typeface="+mn-ea"/>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2484795159"/>
                  </a:ext>
                </a:extLst>
              </a:tr>
              <a:tr h="625131">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US-STP6-DFW-ACC-01-Share </a:t>
                      </a:r>
                      <a:r>
                        <a:rPr lang="es-ES" sz="900" kern="1200" dirty="0" err="1" smtClean="0">
                          <a:solidFill>
                            <a:schemeClr val="dk1"/>
                          </a:solidFill>
                          <a:effectLst/>
                          <a:latin typeface="Calibri" panose="020F0502020204030204" pitchFamily="34" charset="0"/>
                          <a:ea typeface="+mn-ea"/>
                          <a:cs typeface="Calibri" panose="020F0502020204030204" pitchFamily="34" charset="0"/>
                        </a:rPr>
                        <a:t>access</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rights</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with</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contributors</a:t>
                      </a:r>
                      <a:r>
                        <a:rPr lang="es-ES" sz="900" kern="1200" dirty="0" smtClean="0">
                          <a:solidFill>
                            <a:schemeClr val="dk1"/>
                          </a:solidFill>
                          <a:effectLst/>
                          <a:latin typeface="Calibri" panose="020F0502020204030204" pitchFamily="34" charset="0"/>
                          <a:ea typeface="+mn-ea"/>
                          <a:cs typeface="Calibri" panose="020F0502020204030204" pitchFamily="34" charset="0"/>
                        </a:rPr>
                        <a:t> (19)</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US-STP6-DFW-ACC-02-Update </a:t>
                      </a:r>
                      <a:r>
                        <a:rPr lang="es-ES" sz="900" kern="1200" dirty="0" err="1" smtClean="0">
                          <a:solidFill>
                            <a:schemeClr val="dk1"/>
                          </a:solidFill>
                          <a:effectLst/>
                          <a:latin typeface="Calibri" panose="020F0502020204030204" pitchFamily="34" charset="0"/>
                          <a:ea typeface="+mn-ea"/>
                          <a:cs typeface="Calibri" panose="020F0502020204030204" pitchFamily="34" charset="0"/>
                        </a:rPr>
                        <a:t>access</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rights</a:t>
                      </a:r>
                      <a:r>
                        <a:rPr lang="es-ES" sz="900" kern="1200" dirty="0" smtClean="0">
                          <a:solidFill>
                            <a:schemeClr val="dk1"/>
                          </a:solidFill>
                          <a:effectLst/>
                          <a:latin typeface="Calibri" panose="020F0502020204030204" pitchFamily="34" charset="0"/>
                          <a:ea typeface="+mn-ea"/>
                          <a:cs typeface="Calibri" panose="020F0502020204030204" pitchFamily="34" charset="0"/>
                        </a:rPr>
                        <a:t> of </a:t>
                      </a:r>
                      <a:r>
                        <a:rPr lang="es-ES" sz="900" kern="1200" dirty="0" err="1" smtClean="0">
                          <a:solidFill>
                            <a:schemeClr val="dk1"/>
                          </a:solidFill>
                          <a:effectLst/>
                          <a:latin typeface="Calibri" panose="020F0502020204030204" pitchFamily="34" charset="0"/>
                          <a:ea typeface="+mn-ea"/>
                          <a:cs typeface="Calibri" panose="020F0502020204030204" pitchFamily="34" charset="0"/>
                        </a:rPr>
                        <a:t>contributors</a:t>
                      </a:r>
                      <a:r>
                        <a:rPr lang="es-ES" sz="900" kern="1200" dirty="0" smtClean="0">
                          <a:solidFill>
                            <a:schemeClr val="dk1"/>
                          </a:solidFill>
                          <a:effectLst/>
                          <a:latin typeface="Calibri" panose="020F0502020204030204" pitchFamily="34" charset="0"/>
                          <a:ea typeface="+mn-ea"/>
                          <a:cs typeface="Calibri" panose="020F0502020204030204" pitchFamily="34" charset="0"/>
                        </a:rPr>
                        <a:t> (20)</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US-STP6-DFW-ACC-03-Remove </a:t>
                      </a:r>
                      <a:r>
                        <a:rPr lang="es-ES" sz="900" kern="1200" dirty="0" err="1" smtClean="0">
                          <a:solidFill>
                            <a:schemeClr val="dk1"/>
                          </a:solidFill>
                          <a:effectLst/>
                          <a:latin typeface="Calibri" panose="020F0502020204030204" pitchFamily="34" charset="0"/>
                          <a:ea typeface="+mn-ea"/>
                          <a:cs typeface="Calibri" panose="020F0502020204030204" pitchFamily="34" charset="0"/>
                        </a:rPr>
                        <a:t>contributors</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for</a:t>
                      </a:r>
                      <a:r>
                        <a:rPr lang="es-ES" sz="900" kern="1200" dirty="0" smtClean="0">
                          <a:solidFill>
                            <a:schemeClr val="dk1"/>
                          </a:solidFill>
                          <a:effectLst/>
                          <a:latin typeface="Calibri" panose="020F0502020204030204" pitchFamily="34" charset="0"/>
                          <a:ea typeface="+mn-ea"/>
                          <a:cs typeface="Calibri" panose="020F0502020204030204" pitchFamily="34" charset="0"/>
                        </a:rPr>
                        <a:t> a data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flow</a:t>
                      </a:r>
                      <a:r>
                        <a:rPr lang="es-ES" sz="900" kern="1200" dirty="0" smtClean="0">
                          <a:solidFill>
                            <a:schemeClr val="dk1"/>
                          </a:solidFill>
                          <a:effectLst/>
                          <a:latin typeface="Calibri" panose="020F0502020204030204" pitchFamily="34" charset="0"/>
                          <a:ea typeface="+mn-ea"/>
                          <a:cs typeface="Calibri" panose="020F0502020204030204" pitchFamily="34" charset="0"/>
                        </a:rPr>
                        <a:t> (21)</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US-STP6-DFW-ACC-04-Mailing </a:t>
                      </a:r>
                      <a:r>
                        <a:rPr lang="es-ES" sz="900" kern="1200" dirty="0" err="1" smtClean="0">
                          <a:solidFill>
                            <a:schemeClr val="dk1"/>
                          </a:solidFill>
                          <a:effectLst/>
                          <a:latin typeface="Calibri" panose="020F0502020204030204" pitchFamily="34" charset="0"/>
                          <a:ea typeface="+mn-ea"/>
                          <a:cs typeface="Calibri" panose="020F0502020204030204" pitchFamily="34" charset="0"/>
                        </a:rPr>
                        <a:t>list</a:t>
                      </a:r>
                      <a:r>
                        <a:rPr lang="es-ES" sz="900" kern="1200" dirty="0" smtClean="0">
                          <a:solidFill>
                            <a:schemeClr val="dk1"/>
                          </a:solidFill>
                          <a:effectLst/>
                          <a:latin typeface="Calibri" panose="020F0502020204030204" pitchFamily="34" charset="0"/>
                          <a:ea typeface="+mn-ea"/>
                          <a:cs typeface="Calibri" panose="020F0502020204030204" pitchFamily="34" charset="0"/>
                        </a:rPr>
                        <a:t> (31)</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US-STP6-DFW-ACC-05-Search </a:t>
                      </a:r>
                      <a:r>
                        <a:rPr lang="es-ES" sz="900" kern="1200" dirty="0" err="1" smtClean="0">
                          <a:solidFill>
                            <a:schemeClr val="dk1"/>
                          </a:solidFill>
                          <a:effectLst/>
                          <a:latin typeface="Calibri" panose="020F0502020204030204" pitchFamily="34" charset="0"/>
                          <a:ea typeface="+mn-ea"/>
                          <a:cs typeface="Calibri" panose="020F0502020204030204" pitchFamily="34" charset="0"/>
                        </a:rPr>
                        <a:t>contributors</a:t>
                      </a:r>
                      <a:r>
                        <a:rPr lang="es-ES" sz="900" kern="1200" dirty="0" smtClean="0">
                          <a:solidFill>
                            <a:schemeClr val="dk1"/>
                          </a:solidFill>
                          <a:effectLst/>
                          <a:latin typeface="Calibri" panose="020F0502020204030204" pitchFamily="34" charset="0"/>
                          <a:ea typeface="+mn-ea"/>
                          <a:cs typeface="Calibri" panose="020F0502020204030204" pitchFamily="34" charset="0"/>
                        </a:rPr>
                        <a:t> (32)</a:t>
                      </a:r>
                      <a:endParaRPr lang="es-ES" sz="900"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extLst>
                  <a:ext uri="{0D108BD9-81ED-4DB2-BD59-A6C34878D82A}">
                    <a16:rowId xmlns:a16="http://schemas.microsoft.com/office/drawing/2014/main" val="3524975061"/>
                  </a:ext>
                </a:extLst>
              </a:tr>
              <a:tr h="193493">
                <a:tc gridSpan="2">
                  <a:txBody>
                    <a:bodyPr/>
                    <a:lstStyle/>
                    <a:p>
                      <a:pPr marL="0" algn="l" defTabSz="914423" rtl="0" eaLnBrk="1" latinLnBrk="0" hangingPunct="1">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EP-STP6-DFW-RDS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Manage</a:t>
                      </a:r>
                      <a:r>
                        <a:rPr lang="es-ES" sz="1100" b="1" kern="1200" dirty="0" smtClean="0">
                          <a:solidFill>
                            <a:schemeClr val="dk1"/>
                          </a:solidFill>
                          <a:effectLst/>
                          <a:latin typeface="Calibri" panose="020F0502020204030204" pitchFamily="34" charset="0"/>
                          <a:ea typeface="+mn-ea"/>
                          <a:cs typeface="Calibri" panose="020F0502020204030204" pitchFamily="34" charset="0"/>
                        </a:rPr>
                        <a:t>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reporting</a:t>
                      </a:r>
                      <a:r>
                        <a:rPr lang="es-ES" sz="1100" b="1" kern="1200" dirty="0" smtClean="0">
                          <a:solidFill>
                            <a:schemeClr val="dk1"/>
                          </a:solidFill>
                          <a:effectLst/>
                          <a:latin typeface="Calibri" panose="020F0502020204030204" pitchFamily="34" charset="0"/>
                          <a:ea typeface="+mn-ea"/>
                          <a:cs typeface="Calibri" panose="020F0502020204030204" pitchFamily="34" charset="0"/>
                        </a:rPr>
                        <a:t> data set</a:t>
                      </a:r>
                      <a:endParaRPr lang="es-ES" sz="1100" b="1" kern="1200" dirty="0">
                        <a:solidFill>
                          <a:schemeClr val="dk1"/>
                        </a:solidFill>
                        <a:effectLst/>
                        <a:latin typeface="Calibri" panose="020F0502020204030204" pitchFamily="34" charset="0"/>
                        <a:ea typeface="+mn-ea"/>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2019089629"/>
                  </a:ext>
                </a:extLst>
              </a:tr>
              <a:tr h="565735">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US-STP6-DFW-RDS-01-Update </a:t>
                      </a:r>
                      <a:r>
                        <a:rPr lang="es-ES" sz="900" kern="1200" dirty="0" err="1" smtClean="0">
                          <a:solidFill>
                            <a:schemeClr val="dk1"/>
                          </a:solidFill>
                          <a:effectLst/>
                          <a:latin typeface="Calibri" panose="020F0502020204030204" pitchFamily="34" charset="0"/>
                          <a:ea typeface="+mn-ea"/>
                          <a:cs typeface="Calibri" panose="020F0502020204030204" pitchFamily="34" charset="0"/>
                        </a:rPr>
                        <a:t>properties</a:t>
                      </a:r>
                      <a:r>
                        <a:rPr lang="es-ES" sz="900" kern="1200" dirty="0" smtClean="0">
                          <a:solidFill>
                            <a:schemeClr val="dk1"/>
                          </a:solidFill>
                          <a:effectLst/>
                          <a:latin typeface="Calibri" panose="020F0502020204030204" pitchFamily="34" charset="0"/>
                          <a:ea typeface="+mn-ea"/>
                          <a:cs typeface="Calibri" panose="020F0502020204030204" pitchFamily="34" charset="0"/>
                        </a:rPr>
                        <a:t> of </a:t>
                      </a:r>
                      <a:r>
                        <a:rPr lang="es-ES" sz="900" kern="1200" dirty="0" err="1" smtClean="0">
                          <a:solidFill>
                            <a:schemeClr val="dk1"/>
                          </a:solidFill>
                          <a:effectLst/>
                          <a:latin typeface="Calibri" panose="020F0502020204030204" pitchFamily="34" charset="0"/>
                          <a:ea typeface="+mn-ea"/>
                          <a:cs typeface="Calibri" panose="020F0502020204030204" pitchFamily="34" charset="0"/>
                        </a:rPr>
                        <a:t>the</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reporting</a:t>
                      </a:r>
                      <a:r>
                        <a:rPr lang="es-ES" sz="900" kern="1200" dirty="0" smtClean="0">
                          <a:solidFill>
                            <a:schemeClr val="dk1"/>
                          </a:solidFill>
                          <a:effectLst/>
                          <a:latin typeface="Calibri" panose="020F0502020204030204" pitchFamily="34" charset="0"/>
                          <a:ea typeface="+mn-ea"/>
                          <a:cs typeface="Calibri" panose="020F0502020204030204" pitchFamily="34" charset="0"/>
                        </a:rPr>
                        <a:t> data (26)</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US-STP6-DFW-RDS-021-Upload </a:t>
                      </a:r>
                      <a:r>
                        <a:rPr lang="es-ES" sz="900" kern="1200" dirty="0" err="1" smtClean="0">
                          <a:solidFill>
                            <a:schemeClr val="dk1"/>
                          </a:solidFill>
                          <a:effectLst/>
                          <a:latin typeface="Calibri" panose="020F0502020204030204" pitchFamily="34" charset="0"/>
                          <a:ea typeface="+mn-ea"/>
                          <a:cs typeface="Calibri" panose="020F0502020204030204" pitchFamily="34" charset="0"/>
                        </a:rPr>
                        <a:t>reports</a:t>
                      </a:r>
                      <a:r>
                        <a:rPr lang="es-ES" sz="900" kern="1200" dirty="0" smtClean="0">
                          <a:solidFill>
                            <a:schemeClr val="dk1"/>
                          </a:solidFill>
                          <a:effectLst/>
                          <a:latin typeface="Calibri" panose="020F0502020204030204" pitchFamily="34" charset="0"/>
                          <a:ea typeface="+mn-ea"/>
                          <a:cs typeface="Calibri" panose="020F0502020204030204" pitchFamily="34" charset="0"/>
                        </a:rPr>
                        <a:t> Data Set (57)</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US-STP6-DFW-RDS-04-View </a:t>
                      </a:r>
                      <a:r>
                        <a:rPr lang="es-ES" sz="900" kern="1200" dirty="0" err="1" smtClean="0">
                          <a:solidFill>
                            <a:schemeClr val="dk1"/>
                          </a:solidFill>
                          <a:effectLst/>
                          <a:latin typeface="Calibri" panose="020F0502020204030204" pitchFamily="34" charset="0"/>
                          <a:ea typeface="+mn-ea"/>
                          <a:cs typeface="Calibri" panose="020F0502020204030204" pitchFamily="34" charset="0"/>
                        </a:rPr>
                        <a:t>properties</a:t>
                      </a:r>
                      <a:r>
                        <a:rPr lang="es-ES" sz="900" kern="1200" dirty="0" smtClean="0">
                          <a:solidFill>
                            <a:schemeClr val="dk1"/>
                          </a:solidFill>
                          <a:effectLst/>
                          <a:latin typeface="Calibri" panose="020F0502020204030204" pitchFamily="34" charset="0"/>
                          <a:ea typeface="+mn-ea"/>
                          <a:cs typeface="Calibri" panose="020F0502020204030204" pitchFamily="34" charset="0"/>
                        </a:rPr>
                        <a:t> of </a:t>
                      </a:r>
                      <a:r>
                        <a:rPr lang="es-ES" sz="900" kern="1200" dirty="0" err="1" smtClean="0">
                          <a:solidFill>
                            <a:schemeClr val="dk1"/>
                          </a:solidFill>
                          <a:effectLst/>
                          <a:latin typeface="Calibri" panose="020F0502020204030204" pitchFamily="34" charset="0"/>
                          <a:ea typeface="+mn-ea"/>
                          <a:cs typeface="Calibri" panose="020F0502020204030204" pitchFamily="34" charset="0"/>
                        </a:rPr>
                        <a:t>the</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reporting</a:t>
                      </a:r>
                      <a:r>
                        <a:rPr lang="es-ES" sz="900" kern="1200" dirty="0" smtClean="0">
                          <a:solidFill>
                            <a:schemeClr val="dk1"/>
                          </a:solidFill>
                          <a:effectLst/>
                          <a:latin typeface="Calibri" panose="020F0502020204030204" pitchFamily="34" charset="0"/>
                          <a:ea typeface="+mn-ea"/>
                          <a:cs typeface="Calibri" panose="020F0502020204030204" pitchFamily="34" charset="0"/>
                        </a:rPr>
                        <a:t> data (27)</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US-STP6-DFW-RDS-04-View </a:t>
                      </a:r>
                      <a:r>
                        <a:rPr lang="es-ES" sz="900" kern="1200" dirty="0" err="1" smtClean="0">
                          <a:solidFill>
                            <a:schemeClr val="dk1"/>
                          </a:solidFill>
                          <a:effectLst/>
                          <a:latin typeface="Calibri" panose="020F0502020204030204" pitchFamily="34" charset="0"/>
                          <a:ea typeface="+mn-ea"/>
                          <a:cs typeface="Calibri" panose="020F0502020204030204" pitchFamily="34" charset="0"/>
                        </a:rPr>
                        <a:t>properties</a:t>
                      </a:r>
                      <a:r>
                        <a:rPr lang="es-ES" sz="900" kern="1200" dirty="0" smtClean="0">
                          <a:solidFill>
                            <a:schemeClr val="dk1"/>
                          </a:solidFill>
                          <a:effectLst/>
                          <a:latin typeface="Calibri" panose="020F0502020204030204" pitchFamily="34" charset="0"/>
                          <a:ea typeface="+mn-ea"/>
                          <a:cs typeface="Calibri" panose="020F0502020204030204" pitchFamily="34" charset="0"/>
                        </a:rPr>
                        <a:t> of </a:t>
                      </a:r>
                      <a:r>
                        <a:rPr lang="es-ES" sz="900" kern="1200" dirty="0" err="1" smtClean="0">
                          <a:solidFill>
                            <a:schemeClr val="dk1"/>
                          </a:solidFill>
                          <a:effectLst/>
                          <a:latin typeface="Calibri" panose="020F0502020204030204" pitchFamily="34" charset="0"/>
                          <a:ea typeface="+mn-ea"/>
                          <a:cs typeface="Calibri" panose="020F0502020204030204" pitchFamily="34" charset="0"/>
                        </a:rPr>
                        <a:t>the</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reporting</a:t>
                      </a:r>
                      <a:r>
                        <a:rPr lang="es-ES" sz="900" kern="1200" dirty="0" smtClean="0">
                          <a:solidFill>
                            <a:schemeClr val="dk1"/>
                          </a:solidFill>
                          <a:effectLst/>
                          <a:latin typeface="Calibri" panose="020F0502020204030204" pitchFamily="34" charset="0"/>
                          <a:ea typeface="+mn-ea"/>
                          <a:cs typeface="Calibri" panose="020F0502020204030204" pitchFamily="34" charset="0"/>
                        </a:rPr>
                        <a:t> data (34)</a:t>
                      </a:r>
                      <a:endParaRPr lang="es-ES" sz="900" dirty="0">
                        <a:latin typeface="Calibri" panose="020F0502020204030204" pitchFamily="34" charset="0"/>
                        <a:cs typeface="Calibri" panose="020F0502020204030204" pitchFamily="34" charset="0"/>
                      </a:endParaRPr>
                    </a:p>
                  </a:txBody>
                  <a:tcPr marL="36000" marR="36000" marT="0" marB="0" anchor="ctr"/>
                </a:tc>
                <a:extLst>
                  <a:ext uri="{0D108BD9-81ED-4DB2-BD59-A6C34878D82A}">
                    <a16:rowId xmlns:a16="http://schemas.microsoft.com/office/drawing/2014/main" val="1192707009"/>
                  </a:ext>
                </a:extLst>
              </a:tr>
              <a:tr h="193493">
                <a:tc gridSpan="2">
                  <a:txBody>
                    <a:bodyPr/>
                    <a:lstStyle/>
                    <a:p>
                      <a:pPr marL="0" algn="l" defTabSz="914423" rtl="0" eaLnBrk="1" latinLnBrk="0" hangingPunct="1">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EP-STP6-DSM Data Set Management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Tool</a:t>
                      </a:r>
                      <a:endParaRPr lang="es-ES" sz="1100" b="1" kern="1200" dirty="0">
                        <a:solidFill>
                          <a:schemeClr val="dk1"/>
                        </a:solidFill>
                        <a:effectLst/>
                        <a:latin typeface="Calibri" panose="020F0502020204030204" pitchFamily="34" charset="0"/>
                        <a:ea typeface="+mn-ea"/>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4077670968"/>
                  </a:ext>
                </a:extLst>
              </a:tr>
              <a:tr h="440709">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US-STP6-DSM-04- </a:t>
                      </a:r>
                      <a:r>
                        <a:rPr lang="es-ES" sz="900" kern="1200" dirty="0" err="1" smtClean="0">
                          <a:solidFill>
                            <a:schemeClr val="dk1"/>
                          </a:solidFill>
                          <a:effectLst/>
                          <a:latin typeface="Calibri" panose="020F0502020204030204" pitchFamily="34" charset="0"/>
                          <a:ea typeface="+mn-ea"/>
                          <a:cs typeface="Calibri" panose="020F0502020204030204" pitchFamily="34" charset="0"/>
                        </a:rPr>
                        <a:t>Upload</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excel</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form</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into</a:t>
                      </a:r>
                      <a:r>
                        <a:rPr lang="es-ES" sz="900" kern="1200" dirty="0" smtClean="0">
                          <a:solidFill>
                            <a:schemeClr val="dk1"/>
                          </a:solidFill>
                          <a:effectLst/>
                          <a:latin typeface="Calibri" panose="020F0502020204030204" pitchFamily="34" charset="0"/>
                          <a:ea typeface="+mn-ea"/>
                          <a:cs typeface="Calibri" panose="020F0502020204030204" pitchFamily="34" charset="0"/>
                        </a:rPr>
                        <a:t> a web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form</a:t>
                      </a:r>
                      <a:r>
                        <a:rPr lang="es-ES" sz="900" kern="1200" dirty="0" smtClean="0">
                          <a:solidFill>
                            <a:schemeClr val="dk1"/>
                          </a:solidFill>
                          <a:effectLst/>
                          <a:latin typeface="Calibri" panose="020F0502020204030204" pitchFamily="34" charset="0"/>
                          <a:ea typeface="+mn-ea"/>
                          <a:cs typeface="Calibri" panose="020F0502020204030204" pitchFamily="34" charset="0"/>
                        </a:rPr>
                        <a:t> (11)</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US-STP6-DSM-05- </a:t>
                      </a:r>
                      <a:r>
                        <a:rPr lang="es-ES" sz="900" kern="1200" dirty="0" err="1" smtClean="0">
                          <a:solidFill>
                            <a:schemeClr val="dk1"/>
                          </a:solidFill>
                          <a:effectLst/>
                          <a:latin typeface="Calibri" panose="020F0502020204030204" pitchFamily="34" charset="0"/>
                          <a:ea typeface="+mn-ea"/>
                          <a:cs typeface="Calibri" panose="020F0502020204030204" pitchFamily="34" charset="0"/>
                        </a:rPr>
                        <a:t>Download</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the</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excel</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form</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from</a:t>
                      </a:r>
                      <a:r>
                        <a:rPr lang="es-ES" sz="900" kern="1200" dirty="0" smtClean="0">
                          <a:solidFill>
                            <a:schemeClr val="dk1"/>
                          </a:solidFill>
                          <a:effectLst/>
                          <a:latin typeface="Calibri" panose="020F0502020204030204" pitchFamily="34" charset="0"/>
                          <a:ea typeface="+mn-ea"/>
                          <a:cs typeface="Calibri" panose="020F0502020204030204" pitchFamily="34" charset="0"/>
                        </a:rPr>
                        <a:t> a web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form</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with</a:t>
                      </a:r>
                      <a:r>
                        <a:rPr lang="es-ES" sz="900" kern="1200" dirty="0" smtClean="0">
                          <a:solidFill>
                            <a:schemeClr val="dk1"/>
                          </a:solidFill>
                          <a:effectLst/>
                          <a:latin typeface="Calibri" panose="020F0502020204030204" pitchFamily="34" charset="0"/>
                          <a:ea typeface="+mn-ea"/>
                          <a:cs typeface="Calibri" panose="020F0502020204030204" pitchFamily="34" charset="0"/>
                        </a:rPr>
                        <a:t> data) (12)</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US-STP6-DSM-06- </a:t>
                      </a:r>
                      <a:r>
                        <a:rPr lang="es-ES" sz="900" kern="1200" dirty="0" err="1" smtClean="0">
                          <a:solidFill>
                            <a:schemeClr val="dk1"/>
                          </a:solidFill>
                          <a:effectLst/>
                          <a:latin typeface="Calibri" panose="020F0502020204030204" pitchFamily="34" charset="0"/>
                          <a:ea typeface="+mn-ea"/>
                          <a:cs typeface="Calibri" panose="020F0502020204030204" pitchFamily="34" charset="0"/>
                        </a:rPr>
                        <a:t>Download</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the</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excel</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form</a:t>
                      </a:r>
                      <a:r>
                        <a:rPr lang="es-ES" sz="900" kern="1200" dirty="0" smtClean="0">
                          <a:solidFill>
                            <a:schemeClr val="dk1"/>
                          </a:solidFill>
                          <a:effectLst/>
                          <a:latin typeface="Calibri" panose="020F0502020204030204" pitchFamily="34" charset="0"/>
                          <a:ea typeface="+mn-ea"/>
                          <a:cs typeface="Calibri" panose="020F0502020204030204" pitchFamily="34" charset="0"/>
                        </a:rPr>
                        <a: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template</a:t>
                      </a:r>
                      <a:r>
                        <a:rPr lang="es-ES" sz="900" kern="1200" dirty="0" smtClean="0">
                          <a:solidFill>
                            <a:schemeClr val="dk1"/>
                          </a:solidFill>
                          <a:effectLst/>
                          <a:latin typeface="Calibri" panose="020F0502020204030204" pitchFamily="34" charset="0"/>
                          <a:ea typeface="+mn-ea"/>
                          <a:cs typeface="Calibri" panose="020F0502020204030204" pitchFamily="34" charset="0"/>
                        </a:rPr>
                        <a:t> (13)</a:t>
                      </a:r>
                      <a:endParaRPr lang="es-ES" sz="900" dirty="0">
                        <a:latin typeface="Calibri" panose="020F0502020204030204" pitchFamily="34" charset="0"/>
                        <a:cs typeface="Calibri" panose="020F0502020204030204" pitchFamily="34" charset="0"/>
                      </a:endParaRPr>
                    </a:p>
                  </a:txBody>
                  <a:tcPr marL="36000" marR="36000" marT="0" marB="0" anchor="ctr"/>
                </a:tc>
                <a:extLst>
                  <a:ext uri="{0D108BD9-81ED-4DB2-BD59-A6C34878D82A}">
                    <a16:rowId xmlns:a16="http://schemas.microsoft.com/office/drawing/2014/main" val="81265226"/>
                  </a:ext>
                </a:extLst>
              </a:tr>
              <a:tr h="193493">
                <a:tc gridSpan="2">
                  <a:txBody>
                    <a:bodyPr/>
                    <a:lstStyle/>
                    <a:p>
                      <a:pPr marL="0" algn="l" defTabSz="914423" rtl="0" eaLnBrk="1" latinLnBrk="0" hangingPunct="1">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EP-STP6-DSM-DSC-TAB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Tables</a:t>
                      </a:r>
                      <a:endParaRPr lang="es-ES" sz="1100" b="1" kern="1200" dirty="0">
                        <a:solidFill>
                          <a:schemeClr val="dk1"/>
                        </a:solidFill>
                        <a:effectLst/>
                        <a:latin typeface="Calibri" panose="020F0502020204030204" pitchFamily="34" charset="0"/>
                        <a:ea typeface="+mn-ea"/>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1698415917"/>
                  </a:ext>
                </a:extLst>
              </a:tr>
              <a:tr h="199397">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US-STP6-DSM-DSC-TAB-041-Import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bulk</a:t>
                      </a:r>
                      <a:r>
                        <a:rPr lang="es-ES" sz="900" kern="1200" dirty="0" smtClean="0">
                          <a:solidFill>
                            <a:schemeClr val="dk1"/>
                          </a:solidFill>
                          <a:effectLst/>
                          <a:latin typeface="Calibri" panose="020F0502020204030204" pitchFamily="34" charset="0"/>
                          <a:ea typeface="+mn-ea"/>
                          <a:cs typeface="Calibri" panose="020F0502020204030204" pitchFamily="34" charset="0"/>
                        </a:rPr>
                        <a:t> CSV to a </a:t>
                      </a:r>
                      <a:r>
                        <a:rPr lang="es-ES" sz="900" kern="1200" dirty="0" err="1" smtClean="0">
                          <a:solidFill>
                            <a:schemeClr val="dk1"/>
                          </a:solidFill>
                          <a:effectLst/>
                          <a:latin typeface="Calibri" panose="020F0502020204030204" pitchFamily="34" charset="0"/>
                          <a:ea typeface="+mn-ea"/>
                          <a:cs typeface="Calibri" panose="020F0502020204030204" pitchFamily="34" charset="0"/>
                        </a:rPr>
                        <a:t>dataset</a:t>
                      </a:r>
                      <a:r>
                        <a:rPr lang="es-ES" sz="900" kern="1200" dirty="0" smtClean="0">
                          <a:solidFill>
                            <a:schemeClr val="dk1"/>
                          </a:solidFill>
                          <a:effectLst/>
                          <a:latin typeface="Calibri" panose="020F0502020204030204" pitchFamily="34" charset="0"/>
                          <a:ea typeface="+mn-ea"/>
                          <a:cs typeface="Calibri" panose="020F0502020204030204" pitchFamily="34" charset="0"/>
                        </a:rPr>
                        <a:t> (58)</a:t>
                      </a:r>
                      <a:endParaRPr lang="es-ES" sz="900" dirty="0">
                        <a:latin typeface="Calibri" panose="020F0502020204030204" pitchFamily="34" charset="0"/>
                        <a:cs typeface="Calibri" panose="020F0502020204030204" pitchFamily="34" charset="0"/>
                      </a:endParaRPr>
                    </a:p>
                  </a:txBody>
                  <a:tcPr marL="36000" marR="36000" marT="0" marB="0" anchor="ctr"/>
                </a:tc>
                <a:extLst>
                  <a:ext uri="{0D108BD9-81ED-4DB2-BD59-A6C34878D82A}">
                    <a16:rowId xmlns:a16="http://schemas.microsoft.com/office/drawing/2014/main" val="3165560422"/>
                  </a:ext>
                </a:extLst>
              </a:tr>
              <a:tr h="193493">
                <a:tc gridSpan="2">
                  <a:txBody>
                    <a:bodyPr/>
                    <a:lstStyle/>
                    <a:p>
                      <a:pPr marL="0" algn="l" defTabSz="914423" rtl="0" eaLnBrk="1" latinLnBrk="0" hangingPunct="1">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EP-STP6-DSM-DSC-TAB-FIE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Fields</a:t>
                      </a:r>
                      <a:endParaRPr lang="es-ES" sz="1100" b="1" kern="1200" dirty="0">
                        <a:solidFill>
                          <a:schemeClr val="dk1"/>
                        </a:solidFill>
                        <a:effectLst/>
                        <a:latin typeface="Calibri" panose="020F0502020204030204" pitchFamily="34" charset="0"/>
                        <a:ea typeface="+mn-ea"/>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2511456785"/>
                  </a:ext>
                </a:extLst>
              </a:tr>
              <a:tr h="199397">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US-STP6-DSM-DSC-TAB-FIE-01-Sort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fields</a:t>
                      </a:r>
                      <a:r>
                        <a:rPr lang="es-ES" sz="900" kern="1200" dirty="0" smtClean="0">
                          <a:solidFill>
                            <a:schemeClr val="dk1"/>
                          </a:solidFill>
                          <a:effectLst/>
                          <a:latin typeface="Calibri" panose="020F0502020204030204" pitchFamily="34" charset="0"/>
                          <a:ea typeface="+mn-ea"/>
                          <a:cs typeface="Calibri" panose="020F0502020204030204" pitchFamily="34" charset="0"/>
                        </a:rPr>
                        <a:t> (25)</a:t>
                      </a:r>
                      <a:endParaRPr lang="es-ES" sz="900" dirty="0">
                        <a:latin typeface="Calibri" panose="020F0502020204030204" pitchFamily="34" charset="0"/>
                        <a:cs typeface="Calibri" panose="020F0502020204030204" pitchFamily="34" charset="0"/>
                      </a:endParaRPr>
                    </a:p>
                  </a:txBody>
                  <a:tcPr marL="36000" marR="36000" marT="0" marB="0" anchor="ctr"/>
                </a:tc>
                <a:extLst>
                  <a:ext uri="{0D108BD9-81ED-4DB2-BD59-A6C34878D82A}">
                    <a16:rowId xmlns:a16="http://schemas.microsoft.com/office/drawing/2014/main" val="397348209"/>
                  </a:ext>
                </a:extLst>
              </a:tr>
              <a:tr h="190657">
                <a:tc gridSpan="2">
                  <a:txBody>
                    <a:bodyPr/>
                    <a:lstStyle/>
                    <a:p>
                      <a:pPr marL="0" algn="l" defTabSz="914423" rtl="0" eaLnBrk="1" latinLnBrk="0" hangingPunct="1">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EP-STP6-DSM-QC QC rules</a:t>
                      </a:r>
                      <a:endParaRPr lang="es-ES" sz="1100" b="1" kern="1200" dirty="0">
                        <a:solidFill>
                          <a:schemeClr val="dk1"/>
                        </a:solidFill>
                        <a:effectLst/>
                        <a:latin typeface="Calibri" panose="020F0502020204030204" pitchFamily="34" charset="0"/>
                        <a:ea typeface="+mn-ea"/>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3405585686"/>
                  </a:ext>
                </a:extLst>
              </a:tr>
              <a:tr h="199397">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US-STP6-DSM-QC-07-Export </a:t>
                      </a:r>
                      <a:r>
                        <a:rPr lang="es-ES" sz="900" kern="1200" dirty="0" err="1" smtClean="0">
                          <a:solidFill>
                            <a:schemeClr val="dk1"/>
                          </a:solidFill>
                          <a:effectLst/>
                          <a:latin typeface="Calibri" panose="020F0502020204030204" pitchFamily="34" charset="0"/>
                          <a:ea typeface="+mn-ea"/>
                          <a:cs typeface="Calibri" panose="020F0502020204030204" pitchFamily="34" charset="0"/>
                        </a:rPr>
                        <a:t>validations</a:t>
                      </a:r>
                      <a:r>
                        <a:rPr lang="es-ES" sz="900" kern="1200" dirty="0" smtClean="0">
                          <a:solidFill>
                            <a:schemeClr val="dk1"/>
                          </a:solidFill>
                          <a:effectLst/>
                          <a:latin typeface="Calibri" panose="020F0502020204030204" pitchFamily="34" charset="0"/>
                          <a:ea typeface="+mn-ea"/>
                          <a:cs typeface="Calibri" panose="020F0502020204030204" pitchFamily="34" charset="0"/>
                        </a:rPr>
                        <a:t> to CSV (15)</a:t>
                      </a:r>
                      <a:endParaRPr lang="es-ES" sz="900" dirty="0">
                        <a:latin typeface="Calibri" panose="020F0502020204030204" pitchFamily="34" charset="0"/>
                        <a:cs typeface="Calibri" panose="020F0502020204030204" pitchFamily="34" charset="0"/>
                      </a:endParaRPr>
                    </a:p>
                  </a:txBody>
                  <a:tcPr marL="36000" marR="36000" marT="0" marB="0" anchor="ctr"/>
                </a:tc>
                <a:extLst>
                  <a:ext uri="{0D108BD9-81ED-4DB2-BD59-A6C34878D82A}">
                    <a16:rowId xmlns:a16="http://schemas.microsoft.com/office/drawing/2014/main" val="2272350559"/>
                  </a:ext>
                </a:extLst>
              </a:tr>
              <a:tr h="193493">
                <a:tc gridSpan="2">
                  <a:txBody>
                    <a:bodyPr/>
                    <a:lstStyle/>
                    <a:p>
                      <a:pPr marL="0" algn="l" defTabSz="914423" rtl="0" eaLnBrk="1" latinLnBrk="0" hangingPunct="1">
                        <a:lnSpc>
                          <a:spcPct val="107000"/>
                        </a:lnSpc>
                        <a:spcAft>
                          <a:spcPts val="0"/>
                        </a:spcAft>
                      </a:pPr>
                      <a:r>
                        <a:rPr lang="es-ES" sz="1100" b="1" kern="1200" dirty="0" smtClean="0">
                          <a:solidFill>
                            <a:schemeClr val="dk1"/>
                          </a:solidFill>
                          <a:effectLst/>
                          <a:latin typeface="Calibri" panose="020F0502020204030204" pitchFamily="34" charset="0"/>
                          <a:ea typeface="+mn-ea"/>
                          <a:cs typeface="Calibri" panose="020F0502020204030204" pitchFamily="34" charset="0"/>
                        </a:rPr>
                        <a:t>EP-STP6-DSM-VIS </a:t>
                      </a:r>
                      <a:r>
                        <a:rPr lang="es-ES" sz="1100" b="1" kern="1200" dirty="0" err="1" smtClean="0">
                          <a:solidFill>
                            <a:schemeClr val="dk1"/>
                          </a:solidFill>
                          <a:effectLst/>
                          <a:latin typeface="Calibri" panose="020F0502020204030204" pitchFamily="34" charset="0"/>
                          <a:ea typeface="+mn-ea"/>
                          <a:cs typeface="Calibri" panose="020F0502020204030204" pitchFamily="34" charset="0"/>
                        </a:rPr>
                        <a:t>Visualizations</a:t>
                      </a:r>
                      <a:endParaRPr lang="es-ES" sz="1100" b="1" kern="1200" dirty="0">
                        <a:solidFill>
                          <a:schemeClr val="dk1"/>
                        </a:solidFill>
                        <a:effectLst/>
                        <a:latin typeface="Calibri" panose="020F0502020204030204" pitchFamily="34" charset="0"/>
                        <a:ea typeface="+mn-ea"/>
                        <a:cs typeface="Calibri" panose="020F0502020204030204" pitchFamily="34" charset="0"/>
                      </a:endParaRPr>
                    </a:p>
                  </a:txBody>
                  <a:tcPr marL="36000" marR="36000" marT="0" marB="0" anchor="ctr"/>
                </a:tc>
                <a:tc hMerge="1">
                  <a:txBody>
                    <a:bodyPr/>
                    <a:lstStyle/>
                    <a:p>
                      <a:endParaRPr lang="es-ES"/>
                    </a:p>
                  </a:txBody>
                  <a:tcPr/>
                </a:tc>
                <a:extLst>
                  <a:ext uri="{0D108BD9-81ED-4DB2-BD59-A6C34878D82A}">
                    <a16:rowId xmlns:a16="http://schemas.microsoft.com/office/drawing/2014/main" val="1413384115"/>
                  </a:ext>
                </a:extLst>
              </a:tr>
              <a:tr h="315683">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0" marB="0" anchor="ctr"/>
                </a:tc>
                <a:tc>
                  <a:txBody>
                    <a:bodyPr/>
                    <a:lstStyle/>
                    <a:p>
                      <a:r>
                        <a:rPr lang="es-ES" sz="900" kern="1200" dirty="0" smtClean="0">
                          <a:solidFill>
                            <a:schemeClr val="dk1"/>
                          </a:solidFill>
                          <a:effectLst/>
                          <a:latin typeface="Calibri" panose="020F0502020204030204" pitchFamily="34" charset="0"/>
                          <a:ea typeface="+mn-ea"/>
                          <a:cs typeface="Calibri" panose="020F0502020204030204" pitchFamily="34" charset="0"/>
                        </a:rPr>
                        <a:t>US-STP6-DSM-VIS-01-List of </a:t>
                      </a:r>
                      <a:r>
                        <a:rPr lang="es-ES" sz="900" kern="1200" dirty="0" err="1" smtClean="0">
                          <a:solidFill>
                            <a:schemeClr val="dk1"/>
                          </a:solidFill>
                          <a:effectLst/>
                          <a:latin typeface="Calibri" panose="020F0502020204030204" pitchFamily="34" charset="0"/>
                          <a:ea typeface="+mn-ea"/>
                          <a:cs typeface="Calibri" panose="020F0502020204030204" pitchFamily="34" charset="0"/>
                        </a:rPr>
                        <a:t>Visualizations</a:t>
                      </a:r>
                      <a:r>
                        <a:rPr lang="es-ES" sz="900" kern="1200" dirty="0" smtClean="0">
                          <a:solidFill>
                            <a:schemeClr val="dk1"/>
                          </a:solidFill>
                          <a:effectLst/>
                          <a:latin typeface="Calibri" panose="020F0502020204030204" pitchFamily="34" charset="0"/>
                          <a:ea typeface="+mn-ea"/>
                          <a:cs typeface="Calibri" panose="020F0502020204030204" pitchFamily="34" charset="0"/>
                        </a:rPr>
                        <a:t> (24)</a:t>
                      </a:r>
                    </a:p>
                    <a:p>
                      <a:r>
                        <a:rPr lang="es-ES" sz="900" kern="1200" dirty="0" smtClean="0">
                          <a:solidFill>
                            <a:schemeClr val="dk1"/>
                          </a:solidFill>
                          <a:effectLst/>
                          <a:latin typeface="Calibri" panose="020F0502020204030204" pitchFamily="34" charset="0"/>
                          <a:ea typeface="+mn-ea"/>
                          <a:cs typeface="Calibri" panose="020F0502020204030204" pitchFamily="34" charset="0"/>
                        </a:rPr>
                        <a:t>US-STP6-DSM-VIS-02-Configure </a:t>
                      </a:r>
                      <a:r>
                        <a:rPr lang="es-ES" sz="900" kern="1200" dirty="0" err="1" smtClean="0">
                          <a:solidFill>
                            <a:schemeClr val="dk1"/>
                          </a:solidFill>
                          <a:effectLst/>
                          <a:latin typeface="Calibri" panose="020F0502020204030204" pitchFamily="34" charset="0"/>
                          <a:ea typeface="+mn-ea"/>
                          <a:cs typeface="Calibri" panose="020F0502020204030204" pitchFamily="34" charset="0"/>
                        </a:rPr>
                        <a:t>Visualizations</a:t>
                      </a:r>
                      <a:r>
                        <a:rPr lang="es-ES" sz="900" kern="1200" dirty="0" smtClean="0">
                          <a:solidFill>
                            <a:schemeClr val="dk1"/>
                          </a:solidFill>
                          <a:effectLst/>
                          <a:latin typeface="Calibri" panose="020F0502020204030204" pitchFamily="34" charset="0"/>
                          <a:ea typeface="+mn-ea"/>
                          <a:cs typeface="Calibri" panose="020F0502020204030204" pitchFamily="34" charset="0"/>
                        </a:rPr>
                        <a:t> (28)</a:t>
                      </a:r>
                      <a:endParaRPr lang="es-ES" sz="900" dirty="0">
                        <a:latin typeface="Calibri" panose="020F0502020204030204" pitchFamily="34" charset="0"/>
                        <a:cs typeface="Calibri" panose="020F0502020204030204" pitchFamily="34" charset="0"/>
                      </a:endParaRPr>
                    </a:p>
                  </a:txBody>
                  <a:tcPr marL="36000" marR="36000" marT="0" marB="0" anchor="ctr"/>
                </a:tc>
                <a:extLst>
                  <a:ext uri="{0D108BD9-81ED-4DB2-BD59-A6C34878D82A}">
                    <a16:rowId xmlns:a16="http://schemas.microsoft.com/office/drawing/2014/main" val="1531563597"/>
                  </a:ext>
                </a:extLst>
              </a:tr>
            </a:tbl>
          </a:graphicData>
        </a:graphic>
      </p:graphicFrame>
      <p:sp>
        <p:nvSpPr>
          <p:cNvPr id="42" name="Paralelogramo 41"/>
          <p:cNvSpPr/>
          <p:nvPr/>
        </p:nvSpPr>
        <p:spPr>
          <a:xfrm>
            <a:off x="358778" y="66259"/>
            <a:ext cx="2689222"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Product Backlog RC 2 &amp; 3  </a:t>
            </a:r>
            <a:endParaRPr lang="en-GB" sz="1600" b="1" dirty="0">
              <a:solidFill>
                <a:srgbClr val="016357"/>
              </a:solidFill>
            </a:endParaRPr>
          </a:p>
        </p:txBody>
      </p:sp>
      <p:sp>
        <p:nvSpPr>
          <p:cNvPr id="43" name="Rectángulo 42"/>
          <p:cNvSpPr/>
          <p:nvPr/>
        </p:nvSpPr>
        <p:spPr>
          <a:xfrm>
            <a:off x="2948940" y="66260"/>
            <a:ext cx="9114479" cy="646331"/>
          </a:xfrm>
          <a:prstGeom prst="rect">
            <a:avLst/>
          </a:prstGeom>
        </p:spPr>
        <p:txBody>
          <a:bodyPr wrap="square">
            <a:spAutoFit/>
          </a:bodyPr>
          <a:lstStyle/>
          <a:p>
            <a:pPr algn="r">
              <a:spcBef>
                <a:spcPts val="300"/>
              </a:spcBef>
              <a:spcAft>
                <a:spcPts val="300"/>
              </a:spcAft>
            </a:pPr>
            <a:r>
              <a:rPr lang="en-US" sz="3600" dirty="0" smtClean="0">
                <a:solidFill>
                  <a:schemeClr val="bg1"/>
                </a:solidFill>
                <a:latin typeface="Calibri" panose="020F0502020204030204" pitchFamily="34" charset="0"/>
              </a:rPr>
              <a:t>SW </a:t>
            </a:r>
            <a:r>
              <a:rPr lang="en-US" sz="3600" dirty="0">
                <a:solidFill>
                  <a:schemeClr val="bg1"/>
                </a:solidFill>
                <a:latin typeface="Calibri" panose="020F0502020204030204" pitchFamily="34" charset="0"/>
              </a:rPr>
              <a:t>Development focus Release </a:t>
            </a:r>
            <a:r>
              <a:rPr lang="en-US" sz="3600" dirty="0" smtClean="0">
                <a:solidFill>
                  <a:schemeClr val="bg1"/>
                </a:solidFill>
                <a:latin typeface="Calibri" panose="020F0502020204030204" pitchFamily="34" charset="0"/>
              </a:rPr>
              <a:t>Candidates  2/3 </a:t>
            </a:r>
            <a:endParaRPr lang="es-ES" sz="3600" kern="50" dirty="0">
              <a:solidFill>
                <a:schemeClr val="bg1"/>
              </a:solidFill>
              <a:latin typeface="Verdana" panose="020B0604030504040204" pitchFamily="34" charset="0"/>
              <a:ea typeface="Times New Roman" panose="02020603050405020304" pitchFamily="18" charset="0"/>
              <a:cs typeface="CG Times (W1)"/>
            </a:endParaRPr>
          </a:p>
        </p:txBody>
      </p:sp>
    </p:spTree>
    <p:extLst>
      <p:ext uri="{BB962C8B-B14F-4D97-AF65-F5344CB8AC3E}">
        <p14:creationId xmlns:p14="http://schemas.microsoft.com/office/powerpoint/2010/main" val="26567096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19</a:t>
            </a:fld>
            <a:endParaRPr lang="en-US" dirty="0">
              <a:solidFill>
                <a:schemeClr val="bg1"/>
              </a:solidFill>
            </a:endParaRPr>
          </a:p>
        </p:txBody>
      </p:sp>
      <p:sp>
        <p:nvSpPr>
          <p:cNvPr id="42" name="Paralelogramo 41"/>
          <p:cNvSpPr/>
          <p:nvPr/>
        </p:nvSpPr>
        <p:spPr>
          <a:xfrm>
            <a:off x="358778" y="66259"/>
            <a:ext cx="2689222"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Product Backlog RC 2 &amp; 3  </a:t>
            </a:r>
            <a:endParaRPr lang="en-GB" sz="1600" b="1" dirty="0">
              <a:solidFill>
                <a:srgbClr val="016357"/>
              </a:solidFill>
            </a:endParaRPr>
          </a:p>
        </p:txBody>
      </p:sp>
      <p:sp>
        <p:nvSpPr>
          <p:cNvPr id="43" name="Rectángulo 42"/>
          <p:cNvSpPr/>
          <p:nvPr/>
        </p:nvSpPr>
        <p:spPr>
          <a:xfrm>
            <a:off x="2948940" y="66260"/>
            <a:ext cx="9114479" cy="646331"/>
          </a:xfrm>
          <a:prstGeom prst="rect">
            <a:avLst/>
          </a:prstGeom>
        </p:spPr>
        <p:txBody>
          <a:bodyPr wrap="square">
            <a:spAutoFit/>
          </a:bodyPr>
          <a:lstStyle/>
          <a:p>
            <a:pPr algn="r">
              <a:spcBef>
                <a:spcPts val="300"/>
              </a:spcBef>
              <a:spcAft>
                <a:spcPts val="300"/>
              </a:spcAft>
            </a:pPr>
            <a:r>
              <a:rPr lang="en-US" sz="3600" dirty="0" smtClean="0">
                <a:solidFill>
                  <a:schemeClr val="bg1"/>
                </a:solidFill>
                <a:latin typeface="Calibri" panose="020F0502020204030204" pitchFamily="34" charset="0"/>
              </a:rPr>
              <a:t>SW </a:t>
            </a:r>
            <a:r>
              <a:rPr lang="en-US" sz="3600" dirty="0">
                <a:solidFill>
                  <a:schemeClr val="bg1"/>
                </a:solidFill>
                <a:latin typeface="Calibri" panose="020F0502020204030204" pitchFamily="34" charset="0"/>
              </a:rPr>
              <a:t>Development focus Release </a:t>
            </a:r>
            <a:r>
              <a:rPr lang="en-US" sz="3600" dirty="0" smtClean="0">
                <a:solidFill>
                  <a:schemeClr val="bg1"/>
                </a:solidFill>
                <a:latin typeface="Calibri" panose="020F0502020204030204" pitchFamily="34" charset="0"/>
              </a:rPr>
              <a:t>Candidates  2/3 </a:t>
            </a:r>
            <a:endParaRPr lang="es-ES" sz="3600" kern="50" dirty="0">
              <a:solidFill>
                <a:schemeClr val="bg1"/>
              </a:solidFill>
              <a:latin typeface="Verdana" panose="020B0604030504040204" pitchFamily="34" charset="0"/>
              <a:ea typeface="Times New Roman" panose="02020603050405020304" pitchFamily="18" charset="0"/>
              <a:cs typeface="CG Times (W1)"/>
            </a:endParaRPr>
          </a:p>
        </p:txBody>
      </p:sp>
      <p:graphicFrame>
        <p:nvGraphicFramePr>
          <p:cNvPr id="10" name="Tabla 9"/>
          <p:cNvGraphicFramePr>
            <a:graphicFrameLocks noGrp="1"/>
          </p:cNvGraphicFramePr>
          <p:nvPr>
            <p:extLst>
              <p:ext uri="{D42A27DB-BD31-4B8C-83A1-F6EECF244321}">
                <p14:modId xmlns:p14="http://schemas.microsoft.com/office/powerpoint/2010/main" val="3966740760"/>
              </p:ext>
            </p:extLst>
          </p:nvPr>
        </p:nvGraphicFramePr>
        <p:xfrm>
          <a:off x="389201" y="1059052"/>
          <a:ext cx="5673178" cy="2415123"/>
        </p:xfrm>
        <a:graphic>
          <a:graphicData uri="http://schemas.openxmlformats.org/drawingml/2006/table">
            <a:tbl>
              <a:tblPr firstRow="1" bandRow="1">
                <a:tableStyleId>{00A15C55-8517-42AA-B614-E9B94910E393}</a:tableStyleId>
              </a:tblPr>
              <a:tblGrid>
                <a:gridCol w="248964">
                  <a:extLst>
                    <a:ext uri="{9D8B030D-6E8A-4147-A177-3AD203B41FA5}">
                      <a16:colId xmlns:a16="http://schemas.microsoft.com/office/drawing/2014/main" val="3917562794"/>
                    </a:ext>
                  </a:extLst>
                </a:gridCol>
                <a:gridCol w="5424214">
                  <a:extLst>
                    <a:ext uri="{9D8B030D-6E8A-4147-A177-3AD203B41FA5}">
                      <a16:colId xmlns:a16="http://schemas.microsoft.com/office/drawing/2014/main" val="99791651"/>
                    </a:ext>
                  </a:extLst>
                </a:gridCol>
              </a:tblGrid>
              <a:tr h="0">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200" noProof="0" dirty="0" smtClean="0">
                          <a:latin typeface="Calibri" panose="020F0502020204030204" pitchFamily="34" charset="0"/>
                          <a:cs typeface="Calibri" panose="020F0502020204030204" pitchFamily="34" charset="0"/>
                        </a:rPr>
                        <a:t>STEP 5 </a:t>
                      </a:r>
                      <a:r>
                        <a:rPr lang="en-GB" sz="1200" baseline="0" noProof="0" dirty="0" smtClean="0">
                          <a:latin typeface="Calibri" panose="020F0502020204030204" pitchFamily="34" charset="0"/>
                          <a:cs typeface="Calibri" panose="020F0502020204030204" pitchFamily="34" charset="0"/>
                        </a:rPr>
                        <a:t> </a:t>
                      </a:r>
                      <a:r>
                        <a:rPr lang="en-GB" sz="1200" noProof="0" dirty="0" smtClean="0">
                          <a:latin typeface="Calibri" panose="020F0502020204030204" pitchFamily="34" charset="0"/>
                          <a:cs typeface="Calibri" panose="020F0502020204030204" pitchFamily="34" charset="0"/>
                        </a:rPr>
                        <a:t>Planned Scope</a:t>
                      </a:r>
                    </a:p>
                  </a:txBody>
                  <a:tcPr marL="36000" marR="36000" marT="36000" marB="36000" anchor="ctr">
                    <a:solidFill>
                      <a:schemeClr val="accent1">
                        <a:lumMod val="50000"/>
                      </a:schemeClr>
                    </a:solidFill>
                  </a:tcPr>
                </a:tc>
                <a:tc hMerge="1">
                  <a:txBody>
                    <a:bodyPr/>
                    <a:lstStyle/>
                    <a:p>
                      <a:endParaRPr lang="es-ES"/>
                    </a:p>
                  </a:txBody>
                  <a:tcPr/>
                </a:tc>
                <a:extLst>
                  <a:ext uri="{0D108BD9-81ED-4DB2-BD59-A6C34878D82A}">
                    <a16:rowId xmlns:a16="http://schemas.microsoft.com/office/drawing/2014/main" val="469749394"/>
                  </a:ext>
                </a:extLst>
              </a:tr>
              <a:tr h="0">
                <a:tc gridSpan="2">
                  <a:txBody>
                    <a:bodyPr/>
                    <a:lstStyle/>
                    <a:p>
                      <a:pPr>
                        <a:lnSpc>
                          <a:spcPct val="107000"/>
                        </a:lnSpc>
                        <a:spcAft>
                          <a:spcPts val="0"/>
                        </a:spcAft>
                      </a:pPr>
                      <a:r>
                        <a:rPr lang="en-US" sz="1200" b="1" kern="1200" dirty="0" smtClean="0">
                          <a:solidFill>
                            <a:schemeClr val="dk1"/>
                          </a:solidFill>
                          <a:effectLst/>
                          <a:latin typeface="Calibri" panose="020F0502020204030204" pitchFamily="34" charset="0"/>
                          <a:ea typeface="+mn-ea"/>
                          <a:cs typeface="Calibri" panose="020F0502020204030204" pitchFamily="34" charset="0"/>
                        </a:rPr>
                        <a:t>EP-STP5-MAR-Manage Access Rights and Use Roles</a:t>
                      </a:r>
                      <a:endParaRPr lang="es-ES" sz="12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23468738"/>
                  </a:ext>
                </a:extLst>
              </a:tr>
              <a:tr h="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US-STP5-MAR-20-Manage Access Rights (53)</a:t>
                      </a:r>
                    </a:p>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US-STP5-MAR-40-Provider Manage Dataflow Access same Reporting Entity (18)</a:t>
                      </a:r>
                    </a:p>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US-STP5-MAR-60-Monitor Access to my Data Flows (54)</a:t>
                      </a:r>
                    </a:p>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US-STP5-MAR-70-Helpdesk- Monitor-Manage User Access Rights for Users from MS (55)</a:t>
                      </a:r>
                    </a:p>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US-STP5-MAR-80-Request-Collaboration New-User Data-Flow Working Groups (Custodian) (56)</a:t>
                      </a:r>
                    </a:p>
                  </a:txBody>
                  <a:tcPr marL="44450" marR="44450" marT="0" marB="0" anchor="ctr"/>
                </a:tc>
                <a:extLst>
                  <a:ext uri="{0D108BD9-81ED-4DB2-BD59-A6C34878D82A}">
                    <a16:rowId xmlns:a16="http://schemas.microsoft.com/office/drawing/2014/main" val="1207482829"/>
                  </a:ext>
                </a:extLst>
              </a:tr>
              <a:tr h="0">
                <a:tc gridSpan="2">
                  <a:txBody>
                    <a:bodyPr/>
                    <a:lstStyle/>
                    <a:p>
                      <a:pPr>
                        <a:lnSpc>
                          <a:spcPct val="107000"/>
                        </a:lnSpc>
                        <a:spcAft>
                          <a:spcPts val="0"/>
                        </a:spcAft>
                      </a:pPr>
                      <a:r>
                        <a:rPr lang="en-US" sz="1200" b="1" kern="1200" dirty="0" smtClean="0">
                          <a:solidFill>
                            <a:schemeClr val="dk1"/>
                          </a:solidFill>
                          <a:effectLst/>
                          <a:latin typeface="Calibri" panose="020F0502020204030204" pitchFamily="34" charset="0"/>
                          <a:ea typeface="+mn-ea"/>
                          <a:cs typeface="Calibri" panose="020F0502020204030204" pitchFamily="34" charset="0"/>
                        </a:rPr>
                        <a:t>EP-STP5-ULO-User Login and Access to Reportnet</a:t>
                      </a:r>
                      <a:endParaRPr lang="es-ES" sz="1200" b="1"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66704428"/>
                  </a:ext>
                </a:extLst>
              </a:tr>
              <a:tr h="0">
                <a:tc>
                  <a:txBody>
                    <a:bodyPr/>
                    <a:lstStyle/>
                    <a:p>
                      <a:pPr marL="0" algn="l" defTabSz="914423" rtl="0" eaLnBrk="1" latinLnBrk="0" hangingPunct="1">
                        <a:lnSpc>
                          <a:spcPct val="107000"/>
                        </a:lnSpc>
                        <a:spcAft>
                          <a:spcPts val="0"/>
                        </a:spcAft>
                      </a:pPr>
                      <a:endParaRPr lang="es-ES" sz="900" b="1" kern="1200" dirty="0" smtClean="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r>
                        <a:rPr lang="en-US" sz="1200" kern="1200" dirty="0" smtClean="0">
                          <a:solidFill>
                            <a:schemeClr val="dk1"/>
                          </a:solidFill>
                          <a:effectLst/>
                          <a:latin typeface="Calibri" panose="020F0502020204030204" pitchFamily="34" charset="0"/>
                          <a:ea typeface="+mn-ea"/>
                          <a:cs typeface="Calibri" panose="020F0502020204030204" pitchFamily="34" charset="0"/>
                        </a:rPr>
                        <a:t>US-STP5-ULO-20-User EU Login account First Time Access to Reportnet (52)</a:t>
                      </a:r>
                      <a:endParaRPr lang="es-ES" sz="1200" dirty="0" smtClean="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extLst>
                  <a:ext uri="{0D108BD9-81ED-4DB2-BD59-A6C34878D82A}">
                    <a16:rowId xmlns:a16="http://schemas.microsoft.com/office/drawing/2014/main" val="3619849090"/>
                  </a:ext>
                </a:extLst>
              </a:tr>
            </a:tbl>
          </a:graphicData>
        </a:graphic>
      </p:graphicFrame>
      <p:graphicFrame>
        <p:nvGraphicFramePr>
          <p:cNvPr id="11" name="Tabla 10"/>
          <p:cNvGraphicFramePr>
            <a:graphicFrameLocks noGrp="1"/>
          </p:cNvGraphicFramePr>
          <p:nvPr>
            <p:extLst>
              <p:ext uri="{D42A27DB-BD31-4B8C-83A1-F6EECF244321}">
                <p14:modId xmlns:p14="http://schemas.microsoft.com/office/powerpoint/2010/main" val="376416855"/>
              </p:ext>
            </p:extLst>
          </p:nvPr>
        </p:nvGraphicFramePr>
        <p:xfrm>
          <a:off x="389201" y="3670173"/>
          <a:ext cx="5673178" cy="741336"/>
        </p:xfrm>
        <a:graphic>
          <a:graphicData uri="http://schemas.openxmlformats.org/drawingml/2006/table">
            <a:tbl>
              <a:tblPr firstRow="1" bandRow="1">
                <a:tableStyleId>{00A15C55-8517-42AA-B614-E9B94910E393}</a:tableStyleId>
              </a:tblPr>
              <a:tblGrid>
                <a:gridCol w="248964">
                  <a:extLst>
                    <a:ext uri="{9D8B030D-6E8A-4147-A177-3AD203B41FA5}">
                      <a16:colId xmlns:a16="http://schemas.microsoft.com/office/drawing/2014/main" val="3917562794"/>
                    </a:ext>
                  </a:extLst>
                </a:gridCol>
                <a:gridCol w="5424214">
                  <a:extLst>
                    <a:ext uri="{9D8B030D-6E8A-4147-A177-3AD203B41FA5}">
                      <a16:colId xmlns:a16="http://schemas.microsoft.com/office/drawing/2014/main" val="99791651"/>
                    </a:ext>
                  </a:extLst>
                </a:gridCol>
              </a:tblGrid>
              <a:tr h="0">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200" noProof="0" dirty="0" smtClean="0">
                          <a:latin typeface="Calibri" panose="020F0502020204030204" pitchFamily="34" charset="0"/>
                          <a:cs typeface="Calibri" panose="020F0502020204030204" pitchFamily="34" charset="0"/>
                        </a:rPr>
                        <a:t>STEP 7 </a:t>
                      </a:r>
                      <a:r>
                        <a:rPr lang="en-GB" sz="1200" baseline="0" noProof="0" dirty="0" smtClean="0">
                          <a:latin typeface="Calibri" panose="020F0502020204030204" pitchFamily="34" charset="0"/>
                          <a:cs typeface="Calibri" panose="020F0502020204030204" pitchFamily="34" charset="0"/>
                        </a:rPr>
                        <a:t> </a:t>
                      </a:r>
                      <a:r>
                        <a:rPr lang="en-GB" sz="1200" noProof="0" dirty="0" smtClean="0">
                          <a:latin typeface="Calibri" panose="020F0502020204030204" pitchFamily="34" charset="0"/>
                          <a:cs typeface="Calibri" panose="020F0502020204030204" pitchFamily="34" charset="0"/>
                        </a:rPr>
                        <a:t>Planned Scope</a:t>
                      </a:r>
                    </a:p>
                  </a:txBody>
                  <a:tcPr marL="36000" marR="36000" marT="36000" marB="36000" anchor="ctr">
                    <a:solidFill>
                      <a:schemeClr val="accent1">
                        <a:lumMod val="50000"/>
                      </a:schemeClr>
                    </a:solidFill>
                  </a:tcPr>
                </a:tc>
                <a:tc hMerge="1">
                  <a:txBody>
                    <a:bodyPr/>
                    <a:lstStyle/>
                    <a:p>
                      <a:endParaRPr lang="es-ES"/>
                    </a:p>
                  </a:txBody>
                  <a:tcPr/>
                </a:tc>
                <a:extLst>
                  <a:ext uri="{0D108BD9-81ED-4DB2-BD59-A6C34878D82A}">
                    <a16:rowId xmlns:a16="http://schemas.microsoft.com/office/drawing/2014/main" val="469749394"/>
                  </a:ext>
                </a:extLst>
              </a:tr>
              <a:tr h="0">
                <a:tc gridSpan="2">
                  <a:txBody>
                    <a:bodyPr/>
                    <a:lstStyle/>
                    <a:p>
                      <a:pPr>
                        <a:lnSpc>
                          <a:spcPct val="107000"/>
                        </a:lnSpc>
                        <a:spcAft>
                          <a:spcPts val="0"/>
                        </a:spcAft>
                      </a:pPr>
                      <a:r>
                        <a:rPr lang="en-US" sz="1200" b="1" kern="1200" dirty="0" smtClean="0">
                          <a:solidFill>
                            <a:schemeClr val="dk1"/>
                          </a:solidFill>
                          <a:effectLst/>
                          <a:latin typeface="Calibri" panose="020F0502020204030204" pitchFamily="34" charset="0"/>
                          <a:ea typeface="+mn-ea"/>
                          <a:cs typeface="Calibri" panose="020F0502020204030204" pitchFamily="34" charset="0"/>
                        </a:rPr>
                        <a:t>EP-STP7-MRQ Monitor reporting quality</a:t>
                      </a:r>
                      <a:endParaRPr lang="es-ES" sz="12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23468738"/>
                  </a:ext>
                </a:extLst>
              </a:tr>
              <a:tr h="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US-STP7-MRQ-01-Monitor reporting quality (59)</a:t>
                      </a:r>
                    </a:p>
                  </a:txBody>
                  <a:tcPr marL="44450" marR="44450" marT="0" marB="0" anchor="ctr"/>
                </a:tc>
                <a:extLst>
                  <a:ext uri="{0D108BD9-81ED-4DB2-BD59-A6C34878D82A}">
                    <a16:rowId xmlns:a16="http://schemas.microsoft.com/office/drawing/2014/main" val="1207482829"/>
                  </a:ext>
                </a:extLst>
              </a:tr>
            </a:tbl>
          </a:graphicData>
        </a:graphic>
      </p:graphicFrame>
      <p:graphicFrame>
        <p:nvGraphicFramePr>
          <p:cNvPr id="12" name="Tabla 11"/>
          <p:cNvGraphicFramePr>
            <a:graphicFrameLocks noGrp="1"/>
          </p:cNvGraphicFramePr>
          <p:nvPr>
            <p:extLst>
              <p:ext uri="{D42A27DB-BD31-4B8C-83A1-F6EECF244321}">
                <p14:modId xmlns:p14="http://schemas.microsoft.com/office/powerpoint/2010/main" val="1937030521"/>
              </p:ext>
            </p:extLst>
          </p:nvPr>
        </p:nvGraphicFramePr>
        <p:xfrm>
          <a:off x="6268804" y="1059053"/>
          <a:ext cx="5673178" cy="1109708"/>
        </p:xfrm>
        <a:graphic>
          <a:graphicData uri="http://schemas.openxmlformats.org/drawingml/2006/table">
            <a:tbl>
              <a:tblPr firstRow="1" bandRow="1">
                <a:tableStyleId>{00A15C55-8517-42AA-B614-E9B94910E393}</a:tableStyleId>
              </a:tblPr>
              <a:tblGrid>
                <a:gridCol w="248964">
                  <a:extLst>
                    <a:ext uri="{9D8B030D-6E8A-4147-A177-3AD203B41FA5}">
                      <a16:colId xmlns:a16="http://schemas.microsoft.com/office/drawing/2014/main" val="3917562794"/>
                    </a:ext>
                  </a:extLst>
                </a:gridCol>
                <a:gridCol w="5424214">
                  <a:extLst>
                    <a:ext uri="{9D8B030D-6E8A-4147-A177-3AD203B41FA5}">
                      <a16:colId xmlns:a16="http://schemas.microsoft.com/office/drawing/2014/main" val="99791651"/>
                    </a:ext>
                  </a:extLst>
                </a:gridCol>
              </a:tblGrid>
              <a:tr h="0">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200" noProof="0" dirty="0" smtClean="0">
                          <a:latin typeface="Calibri" panose="020F0502020204030204" pitchFamily="34" charset="0"/>
                          <a:cs typeface="Calibri" panose="020F0502020204030204" pitchFamily="34" charset="0"/>
                        </a:rPr>
                        <a:t>STEP 8 </a:t>
                      </a:r>
                      <a:r>
                        <a:rPr lang="en-GB" sz="1200" baseline="0" noProof="0" dirty="0" smtClean="0">
                          <a:latin typeface="Calibri" panose="020F0502020204030204" pitchFamily="34" charset="0"/>
                          <a:cs typeface="Calibri" panose="020F0502020204030204" pitchFamily="34" charset="0"/>
                        </a:rPr>
                        <a:t> </a:t>
                      </a:r>
                      <a:r>
                        <a:rPr lang="en-GB" sz="1200" noProof="0" dirty="0" smtClean="0">
                          <a:latin typeface="Calibri" panose="020F0502020204030204" pitchFamily="34" charset="0"/>
                          <a:cs typeface="Calibri" panose="020F0502020204030204" pitchFamily="34" charset="0"/>
                        </a:rPr>
                        <a:t>Planned Scope</a:t>
                      </a:r>
                    </a:p>
                  </a:txBody>
                  <a:tcPr marL="36000" marR="36000" marT="36000" marB="36000" anchor="ctr">
                    <a:solidFill>
                      <a:schemeClr val="accent1">
                        <a:lumMod val="50000"/>
                      </a:schemeClr>
                    </a:solidFill>
                  </a:tcPr>
                </a:tc>
                <a:tc hMerge="1">
                  <a:txBody>
                    <a:bodyPr/>
                    <a:lstStyle/>
                    <a:p>
                      <a:endParaRPr lang="es-ES"/>
                    </a:p>
                  </a:txBody>
                  <a:tcPr/>
                </a:tc>
                <a:extLst>
                  <a:ext uri="{0D108BD9-81ED-4DB2-BD59-A6C34878D82A}">
                    <a16:rowId xmlns:a16="http://schemas.microsoft.com/office/drawing/2014/main" val="469749394"/>
                  </a:ext>
                </a:extLst>
              </a:tr>
              <a:tr h="0">
                <a:tc gridSpan="2">
                  <a:txBody>
                    <a:bodyPr/>
                    <a:lstStyle/>
                    <a:p>
                      <a:pPr>
                        <a:lnSpc>
                          <a:spcPct val="107000"/>
                        </a:lnSpc>
                        <a:spcAft>
                          <a:spcPts val="0"/>
                        </a:spcAft>
                      </a:pPr>
                      <a:r>
                        <a:rPr lang="en-US" sz="1200" b="1" kern="1200" dirty="0" smtClean="0">
                          <a:solidFill>
                            <a:schemeClr val="dk1"/>
                          </a:solidFill>
                          <a:effectLst/>
                          <a:latin typeface="Calibri" panose="020F0502020204030204" pitchFamily="34" charset="0"/>
                          <a:ea typeface="+mn-ea"/>
                          <a:cs typeface="Calibri" panose="020F0502020204030204" pitchFamily="34" charset="0"/>
                        </a:rPr>
                        <a:t>EP-STP8-DPA-MEU-EU Data Sets</a:t>
                      </a:r>
                      <a:endParaRPr lang="es-ES" sz="12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23468738"/>
                  </a:ext>
                </a:extLst>
              </a:tr>
              <a:tr h="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US-STP8-DPA-MEU-01-Create EU Data Set (60)</a:t>
                      </a:r>
                    </a:p>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US-STP8-DPA-MEU-09-Set EU data set STATUS (62)</a:t>
                      </a:r>
                    </a:p>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US-STP8-DPA-MEU-20-Create Snapshot for EU Data Set (61)</a:t>
                      </a:r>
                    </a:p>
                  </a:txBody>
                  <a:tcPr marL="44450" marR="44450" marT="0" marB="0" anchor="ctr"/>
                </a:tc>
                <a:extLst>
                  <a:ext uri="{0D108BD9-81ED-4DB2-BD59-A6C34878D82A}">
                    <a16:rowId xmlns:a16="http://schemas.microsoft.com/office/drawing/2014/main" val="1207482829"/>
                  </a:ext>
                </a:extLst>
              </a:tr>
            </a:tbl>
          </a:graphicData>
        </a:graphic>
      </p:graphicFrame>
      <p:graphicFrame>
        <p:nvGraphicFramePr>
          <p:cNvPr id="13" name="Tabla 12"/>
          <p:cNvGraphicFramePr>
            <a:graphicFrameLocks noGrp="1"/>
          </p:cNvGraphicFramePr>
          <p:nvPr>
            <p:extLst>
              <p:ext uri="{D42A27DB-BD31-4B8C-83A1-F6EECF244321}">
                <p14:modId xmlns:p14="http://schemas.microsoft.com/office/powerpoint/2010/main" val="2568492864"/>
              </p:ext>
            </p:extLst>
          </p:nvPr>
        </p:nvGraphicFramePr>
        <p:xfrm>
          <a:off x="6268804" y="2347211"/>
          <a:ext cx="5673178" cy="1714248"/>
        </p:xfrm>
        <a:graphic>
          <a:graphicData uri="http://schemas.openxmlformats.org/drawingml/2006/table">
            <a:tbl>
              <a:tblPr firstRow="1" bandRow="1">
                <a:tableStyleId>{00A15C55-8517-42AA-B614-E9B94910E393}</a:tableStyleId>
              </a:tblPr>
              <a:tblGrid>
                <a:gridCol w="248964">
                  <a:extLst>
                    <a:ext uri="{9D8B030D-6E8A-4147-A177-3AD203B41FA5}">
                      <a16:colId xmlns:a16="http://schemas.microsoft.com/office/drawing/2014/main" val="3917562794"/>
                    </a:ext>
                  </a:extLst>
                </a:gridCol>
                <a:gridCol w="5424214">
                  <a:extLst>
                    <a:ext uri="{9D8B030D-6E8A-4147-A177-3AD203B41FA5}">
                      <a16:colId xmlns:a16="http://schemas.microsoft.com/office/drawing/2014/main" val="99791651"/>
                    </a:ext>
                  </a:extLst>
                </a:gridCol>
              </a:tblGrid>
              <a:tr h="0">
                <a:tc gridSpan="2">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n-GB" sz="1200" noProof="0" dirty="0" smtClean="0">
                          <a:latin typeface="Calibri" panose="020F0502020204030204" pitchFamily="34" charset="0"/>
                          <a:cs typeface="Calibri" panose="020F0502020204030204" pitchFamily="34" charset="0"/>
                        </a:rPr>
                        <a:t>CROSS CUTTING FEATURES - Planned Scope</a:t>
                      </a:r>
                    </a:p>
                  </a:txBody>
                  <a:tcPr marL="36000" marR="36000" marT="36000" marB="36000" anchor="ctr">
                    <a:solidFill>
                      <a:schemeClr val="accent1">
                        <a:lumMod val="50000"/>
                      </a:schemeClr>
                    </a:solidFill>
                  </a:tcPr>
                </a:tc>
                <a:tc hMerge="1">
                  <a:txBody>
                    <a:bodyPr/>
                    <a:lstStyle/>
                    <a:p>
                      <a:endParaRPr lang="es-ES"/>
                    </a:p>
                  </a:txBody>
                  <a:tcPr/>
                </a:tc>
                <a:extLst>
                  <a:ext uri="{0D108BD9-81ED-4DB2-BD59-A6C34878D82A}">
                    <a16:rowId xmlns:a16="http://schemas.microsoft.com/office/drawing/2014/main" val="469749394"/>
                  </a:ext>
                </a:extLst>
              </a:tr>
              <a:tr h="0">
                <a:tc gridSpan="2">
                  <a:txBody>
                    <a:bodyPr/>
                    <a:lstStyle/>
                    <a:p>
                      <a:pPr>
                        <a:lnSpc>
                          <a:spcPct val="107000"/>
                        </a:lnSpc>
                        <a:spcAft>
                          <a:spcPts val="0"/>
                        </a:spcAft>
                      </a:pPr>
                      <a:r>
                        <a:rPr lang="en-US" sz="1200" b="1" kern="1200" dirty="0" smtClean="0">
                          <a:solidFill>
                            <a:schemeClr val="dk1"/>
                          </a:solidFill>
                          <a:effectLst/>
                          <a:latin typeface="Calibri" panose="020F0502020204030204" pitchFamily="34" charset="0"/>
                          <a:ea typeface="+mn-ea"/>
                          <a:cs typeface="Calibri" panose="020F0502020204030204" pitchFamily="34" charset="0"/>
                        </a:rPr>
                        <a:t>EP-STPCCF-DSH-AUT-Dashboards Automatic</a:t>
                      </a:r>
                      <a:endParaRPr lang="es-ES" sz="12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endParaRPr lang="es-ES"/>
                    </a:p>
                  </a:txBody>
                  <a:tcPr/>
                </a:tc>
                <a:extLst>
                  <a:ext uri="{0D108BD9-81ED-4DB2-BD59-A6C34878D82A}">
                    <a16:rowId xmlns:a16="http://schemas.microsoft.com/office/drawing/2014/main" val="3623468738"/>
                  </a:ext>
                </a:extLst>
              </a:tr>
              <a:tr h="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US-STPCCF-DSH-25-Dashboard Reporting Data Set Errors Status (63)</a:t>
                      </a:r>
                    </a:p>
                  </a:txBody>
                  <a:tcPr marL="44450" marR="44450" marT="0" marB="0" anchor="ctr"/>
                </a:tc>
                <a:extLst>
                  <a:ext uri="{0D108BD9-81ED-4DB2-BD59-A6C34878D82A}">
                    <a16:rowId xmlns:a16="http://schemas.microsoft.com/office/drawing/2014/main" val="1207482829"/>
                  </a:ext>
                </a:extLst>
              </a:tr>
              <a:tr h="0">
                <a:tc gridSpan="2">
                  <a:txBody>
                    <a:bodyPr/>
                    <a:lstStyle/>
                    <a:p>
                      <a:pPr>
                        <a:lnSpc>
                          <a:spcPct val="107000"/>
                        </a:lnSpc>
                        <a:spcAft>
                          <a:spcPts val="0"/>
                        </a:spcAft>
                      </a:pPr>
                      <a:r>
                        <a:rPr lang="es-ES" sz="1200" b="1" dirty="0" smtClean="0">
                          <a:effectLst/>
                          <a:latin typeface="Calibri" panose="020F0502020204030204" pitchFamily="34" charset="0"/>
                          <a:ea typeface="Calibri" panose="020F0502020204030204" pitchFamily="34" charset="0"/>
                          <a:cs typeface="Calibri" panose="020F0502020204030204" pitchFamily="34" charset="0"/>
                        </a:rPr>
                        <a:t>EP-STPCCF-DSH-Data </a:t>
                      </a:r>
                      <a:r>
                        <a:rPr lang="es-ES" sz="1200" b="1" dirty="0" err="1" smtClean="0">
                          <a:effectLst/>
                          <a:latin typeface="Calibri" panose="020F0502020204030204" pitchFamily="34" charset="0"/>
                          <a:ea typeface="Calibri" panose="020F0502020204030204" pitchFamily="34" charset="0"/>
                          <a:cs typeface="Calibri" panose="020F0502020204030204" pitchFamily="34" charset="0"/>
                        </a:rPr>
                        <a:t>Flow</a:t>
                      </a:r>
                      <a:r>
                        <a:rPr lang="es-ES" sz="1200" b="1" dirty="0" smtClean="0">
                          <a:effectLst/>
                          <a:latin typeface="Calibri" panose="020F0502020204030204" pitchFamily="34" charset="0"/>
                          <a:ea typeface="Calibri" panose="020F0502020204030204" pitchFamily="34" charset="0"/>
                          <a:cs typeface="Calibri" panose="020F0502020204030204" pitchFamily="34" charset="0"/>
                        </a:rPr>
                        <a:t> </a:t>
                      </a:r>
                      <a:r>
                        <a:rPr lang="es-ES" sz="1200" b="1" dirty="0" err="1" smtClean="0">
                          <a:effectLst/>
                          <a:latin typeface="Calibri" panose="020F0502020204030204" pitchFamily="34" charset="0"/>
                          <a:ea typeface="Calibri" panose="020F0502020204030204" pitchFamily="34" charset="0"/>
                          <a:cs typeface="Calibri" panose="020F0502020204030204" pitchFamily="34" charset="0"/>
                        </a:rPr>
                        <a:t>Lists</a:t>
                      </a:r>
                      <a:endParaRPr lang="es-ES" sz="12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pPr>
                        <a:lnSpc>
                          <a:spcPct val="107000"/>
                        </a:lnSpc>
                        <a:spcAft>
                          <a:spcPts val="0"/>
                        </a:spcAft>
                      </a:pPr>
                      <a:endParaRPr lang="en-US" sz="9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tc>
                <a:extLst>
                  <a:ext uri="{0D108BD9-81ED-4DB2-BD59-A6C34878D82A}">
                    <a16:rowId xmlns:a16="http://schemas.microsoft.com/office/drawing/2014/main" val="2519946040"/>
                  </a:ext>
                </a:extLst>
              </a:tr>
              <a:tr h="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US-STPCCF-DSH-40-Pending Data Flows List Accept/Reject (35)</a:t>
                      </a:r>
                    </a:p>
                  </a:txBody>
                  <a:tcPr marL="44450" marR="44450" marT="0" marB="0" anchor="ctr"/>
                </a:tc>
                <a:extLst>
                  <a:ext uri="{0D108BD9-81ED-4DB2-BD59-A6C34878D82A}">
                    <a16:rowId xmlns:a16="http://schemas.microsoft.com/office/drawing/2014/main" val="968515236"/>
                  </a:ext>
                </a:extLst>
              </a:tr>
              <a:tr h="0">
                <a:tc gridSpan="2">
                  <a:txBody>
                    <a:bodyPr/>
                    <a:lstStyle/>
                    <a:p>
                      <a:pPr>
                        <a:lnSpc>
                          <a:spcPct val="107000"/>
                        </a:lnSpc>
                        <a:spcAft>
                          <a:spcPts val="0"/>
                        </a:spcAft>
                      </a:pPr>
                      <a:r>
                        <a:rPr lang="es-ES" sz="1200" b="1" dirty="0" smtClean="0">
                          <a:effectLst/>
                          <a:latin typeface="Calibri" panose="020F0502020204030204" pitchFamily="34" charset="0"/>
                          <a:ea typeface="Calibri" panose="020F0502020204030204" pitchFamily="34" charset="0"/>
                          <a:cs typeface="Calibri" panose="020F0502020204030204" pitchFamily="34" charset="0"/>
                        </a:rPr>
                        <a:t>EP-STPCCF-MUP-</a:t>
                      </a:r>
                      <a:r>
                        <a:rPr lang="es-ES" sz="1200" b="1" dirty="0" err="1" smtClean="0">
                          <a:effectLst/>
                          <a:latin typeface="Calibri" panose="020F0502020204030204" pitchFamily="34" charset="0"/>
                          <a:ea typeface="Calibri" panose="020F0502020204030204" pitchFamily="34" charset="0"/>
                          <a:cs typeface="Calibri" panose="020F0502020204030204" pitchFamily="34" charset="0"/>
                        </a:rPr>
                        <a:t>Manage</a:t>
                      </a:r>
                      <a:r>
                        <a:rPr lang="es-ES" sz="1200" b="1" dirty="0" smtClean="0">
                          <a:effectLst/>
                          <a:latin typeface="Calibri" panose="020F0502020204030204" pitchFamily="34" charset="0"/>
                          <a:ea typeface="Calibri" panose="020F0502020204030204" pitchFamily="34" charset="0"/>
                          <a:cs typeface="Calibri" panose="020F0502020204030204" pitchFamily="34" charset="0"/>
                        </a:rPr>
                        <a:t> </a:t>
                      </a:r>
                      <a:r>
                        <a:rPr lang="es-ES" sz="1200" b="1" dirty="0" err="1" smtClean="0">
                          <a:effectLst/>
                          <a:latin typeface="Calibri" panose="020F0502020204030204" pitchFamily="34" charset="0"/>
                          <a:ea typeface="Calibri" panose="020F0502020204030204" pitchFamily="34" charset="0"/>
                          <a:cs typeface="Calibri" panose="020F0502020204030204" pitchFamily="34" charset="0"/>
                        </a:rPr>
                        <a:t>User</a:t>
                      </a:r>
                      <a:r>
                        <a:rPr lang="es-ES" sz="1200" b="1" dirty="0" smtClean="0">
                          <a:effectLst/>
                          <a:latin typeface="Calibri" panose="020F0502020204030204" pitchFamily="34" charset="0"/>
                          <a:ea typeface="Calibri" panose="020F0502020204030204" pitchFamily="34" charset="0"/>
                          <a:cs typeface="Calibri" panose="020F0502020204030204" pitchFamily="34" charset="0"/>
                        </a:rPr>
                        <a:t> </a:t>
                      </a:r>
                      <a:r>
                        <a:rPr lang="es-ES" sz="1200" b="1" dirty="0" err="1" smtClean="0">
                          <a:effectLst/>
                          <a:latin typeface="Calibri" panose="020F0502020204030204" pitchFamily="34" charset="0"/>
                          <a:ea typeface="Calibri" panose="020F0502020204030204" pitchFamily="34" charset="0"/>
                          <a:cs typeface="Calibri" panose="020F0502020204030204" pitchFamily="34" charset="0"/>
                        </a:rPr>
                        <a:t>Preferences</a:t>
                      </a:r>
                      <a:endParaRPr lang="es-ES" sz="12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hMerge="1">
                  <a:txBody>
                    <a:bodyPr/>
                    <a:lstStyle/>
                    <a:p>
                      <a:pPr>
                        <a:lnSpc>
                          <a:spcPct val="107000"/>
                        </a:lnSpc>
                        <a:spcAft>
                          <a:spcPts val="0"/>
                        </a:spcAft>
                      </a:pPr>
                      <a:endParaRPr lang="en-US" sz="9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txBody>
                  <a:tcPr marL="44450" marR="44450" marT="0" marB="0" anchor="ctr"/>
                </a:tc>
                <a:extLst>
                  <a:ext uri="{0D108BD9-81ED-4DB2-BD59-A6C34878D82A}">
                    <a16:rowId xmlns:a16="http://schemas.microsoft.com/office/drawing/2014/main" val="1954910370"/>
                  </a:ext>
                </a:extLst>
              </a:tr>
              <a:tr h="0">
                <a:tc>
                  <a:txBody>
                    <a:bodyPr/>
                    <a:lstStyle/>
                    <a:p>
                      <a:pPr>
                        <a:lnSpc>
                          <a:spcPct val="107000"/>
                        </a:lnSpc>
                        <a:spcAft>
                          <a:spcPts val="0"/>
                        </a:spcAft>
                      </a:pPr>
                      <a:endParaRPr lang="es-ES" sz="900" b="1" dirty="0">
                        <a:effectLst/>
                        <a:latin typeface="Calibri" panose="020F0502020204030204" pitchFamily="34" charset="0"/>
                        <a:ea typeface="Calibri" panose="020F0502020204030204" pitchFamily="34" charset="0"/>
                        <a:cs typeface="Calibri" panose="020F0502020204030204" pitchFamily="34" charset="0"/>
                      </a:endParaRPr>
                    </a:p>
                  </a:txBody>
                  <a:tcPr marL="36000" marR="36000" marT="36000" marB="36000" anchor="ctr"/>
                </a:tc>
                <a:tc>
                  <a:txBody>
                    <a:bodyPr/>
                    <a:lstStyle/>
                    <a:p>
                      <a:pPr>
                        <a:lnSpc>
                          <a:spcPct val="107000"/>
                        </a:lnSpc>
                        <a:spcAft>
                          <a:spcPts val="0"/>
                        </a:spcAft>
                      </a:pPr>
                      <a:r>
                        <a:rPr lang="en-US" sz="12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US-STPCCF-MUP-10-User Landing Page (9)</a:t>
                      </a:r>
                    </a:p>
                  </a:txBody>
                  <a:tcPr marL="44450" marR="44450" marT="0" marB="0" anchor="ctr"/>
                </a:tc>
                <a:extLst>
                  <a:ext uri="{0D108BD9-81ED-4DB2-BD59-A6C34878D82A}">
                    <a16:rowId xmlns:a16="http://schemas.microsoft.com/office/drawing/2014/main" val="2556809461"/>
                  </a:ext>
                </a:extLst>
              </a:tr>
            </a:tbl>
          </a:graphicData>
        </a:graphic>
      </p:graphicFrame>
    </p:spTree>
    <p:extLst>
      <p:ext uri="{BB962C8B-B14F-4D97-AF65-F5344CB8AC3E}">
        <p14:creationId xmlns:p14="http://schemas.microsoft.com/office/powerpoint/2010/main" val="21362450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p:txBody>
          <a:bodyPr/>
          <a:lstStyle/>
          <a:p>
            <a:pPr algn="l"/>
            <a:r>
              <a:rPr lang="en-GB" sz="3600" dirty="0" smtClean="0">
                <a:solidFill>
                  <a:schemeClr val="bg1"/>
                </a:solidFill>
                <a:latin typeface="Calibri" panose="020F0502020204030204" pitchFamily="34" charset="0"/>
              </a:rPr>
              <a:t> </a:t>
            </a:r>
            <a:endParaRPr lang="en-GB" sz="3600" dirty="0">
              <a:solidFill>
                <a:schemeClr val="bg1"/>
              </a:solidFill>
              <a:latin typeface="Calibri" panose="020F0502020204030204" pitchFamily="34" charset="0"/>
            </a:endParaRPr>
          </a:p>
        </p:txBody>
      </p:sp>
      <p:sp>
        <p:nvSpPr>
          <p:cNvPr id="3" name="Marcador de número de diapositiva 2"/>
          <p:cNvSpPr>
            <a:spLocks noGrp="1"/>
          </p:cNvSpPr>
          <p:nvPr>
            <p:ph type="sldNum" sz="quarter" idx="4294967295"/>
          </p:nvPr>
        </p:nvSpPr>
        <p:spPr/>
        <p:txBody>
          <a:bodyPr/>
          <a:lstStyle/>
          <a:p>
            <a:r>
              <a:rPr lang="en-US" dirty="0" smtClean="0"/>
              <a:t> </a:t>
            </a:r>
            <a:fld id="{5B259CC6-7B72-4137-928D-D85C24DCBB66}" type="slidenum">
              <a:rPr lang="en-US" smtClean="0">
                <a:solidFill>
                  <a:schemeClr val="bg1"/>
                </a:solidFill>
              </a:rPr>
              <a:t>20</a:t>
            </a:fld>
            <a:endParaRPr lang="en-US" dirty="0">
              <a:solidFill>
                <a:schemeClr val="bg1"/>
              </a:solidFill>
            </a:endParaRPr>
          </a:p>
        </p:txBody>
      </p:sp>
      <p:sp>
        <p:nvSpPr>
          <p:cNvPr id="29" name="Paralelogramo 28"/>
          <p:cNvSpPr/>
          <p:nvPr/>
        </p:nvSpPr>
        <p:spPr>
          <a:xfrm>
            <a:off x="358778" y="66259"/>
            <a:ext cx="2290763" cy="646332"/>
          </a:xfrm>
          <a:prstGeom prst="parallelogram">
            <a:avLst>
              <a:gd name="adj" fmla="val 94943"/>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b="1" dirty="0" smtClean="0">
                <a:solidFill>
                  <a:srgbClr val="016357"/>
                </a:solidFill>
              </a:rPr>
              <a:t>Other Activities</a:t>
            </a:r>
            <a:endParaRPr lang="en-GB" sz="1600" b="1" dirty="0">
              <a:solidFill>
                <a:srgbClr val="016357"/>
              </a:solidFill>
            </a:endParaRPr>
          </a:p>
        </p:txBody>
      </p:sp>
      <p:sp>
        <p:nvSpPr>
          <p:cNvPr id="30" name="Rectángulo 29"/>
          <p:cNvSpPr/>
          <p:nvPr/>
        </p:nvSpPr>
        <p:spPr>
          <a:xfrm>
            <a:off x="2948940" y="148148"/>
            <a:ext cx="9114479" cy="523220"/>
          </a:xfrm>
          <a:prstGeom prst="rect">
            <a:avLst/>
          </a:prstGeom>
        </p:spPr>
        <p:txBody>
          <a:bodyPr wrap="square">
            <a:spAutoFit/>
          </a:bodyPr>
          <a:lstStyle/>
          <a:p>
            <a:pPr algn="r">
              <a:spcBef>
                <a:spcPts val="300"/>
              </a:spcBef>
              <a:spcAft>
                <a:spcPts val="300"/>
              </a:spcAft>
            </a:pPr>
            <a:r>
              <a:rPr lang="en-US" sz="2800" dirty="0">
                <a:solidFill>
                  <a:schemeClr val="bg1"/>
                </a:solidFill>
                <a:latin typeface="Calibri" panose="020F0502020204030204" pitchFamily="34" charset="0"/>
              </a:rPr>
              <a:t>Update Software Development and </a:t>
            </a:r>
            <a:r>
              <a:rPr lang="en-US" sz="2800" dirty="0" smtClean="0">
                <a:solidFill>
                  <a:schemeClr val="bg1"/>
                </a:solidFill>
                <a:latin typeface="Calibri" panose="020F0502020204030204" pitchFamily="34" charset="0"/>
              </a:rPr>
              <a:t>System Architecture</a:t>
            </a:r>
            <a:endParaRPr lang="es-ES" sz="2800" kern="50" dirty="0">
              <a:solidFill>
                <a:schemeClr val="bg1"/>
              </a:solidFill>
              <a:latin typeface="Verdana" panose="020B0604030504040204" pitchFamily="34" charset="0"/>
              <a:ea typeface="Times New Roman" panose="02020603050405020304" pitchFamily="18" charset="0"/>
              <a:cs typeface="CG Times (W1)"/>
            </a:endParaRPr>
          </a:p>
        </p:txBody>
      </p:sp>
      <p:sp>
        <p:nvSpPr>
          <p:cNvPr id="25" name="Rectángulo 24"/>
          <p:cNvSpPr/>
          <p:nvPr/>
        </p:nvSpPr>
        <p:spPr>
          <a:xfrm>
            <a:off x="4231864" y="1461181"/>
            <a:ext cx="5470935" cy="688297"/>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For first operational release, still need to transform Integration requirements for ROD3 into User Stories </a:t>
            </a:r>
            <a:endParaRPr lang="en-US" sz="1600" kern="50" dirty="0">
              <a:latin typeface="Calibri" panose="020F0502020204030204" pitchFamily="34" charset="0"/>
              <a:cs typeface="Calibri" panose="020F0502020204030204" pitchFamily="34" charset="0"/>
            </a:endParaRPr>
          </a:p>
        </p:txBody>
      </p:sp>
      <p:sp>
        <p:nvSpPr>
          <p:cNvPr id="40" name="Rectángulo 39"/>
          <p:cNvSpPr/>
          <p:nvPr/>
        </p:nvSpPr>
        <p:spPr>
          <a:xfrm>
            <a:off x="4231864" y="2311012"/>
            <a:ext cx="5470935" cy="806246"/>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Pending additional Pilot </a:t>
            </a:r>
            <a:r>
              <a:rPr lang="en-US" sz="1600" kern="50" dirty="0">
                <a:latin typeface="Calibri" panose="020F0502020204030204" pitchFamily="34" charset="0"/>
                <a:cs typeface="Calibri" panose="020F0502020204030204" pitchFamily="34" charset="0"/>
              </a:rPr>
              <a:t>D</a:t>
            </a:r>
            <a:r>
              <a:rPr lang="en-US" sz="1600" kern="50" dirty="0" smtClean="0">
                <a:latin typeface="Calibri" panose="020F0502020204030204" pitchFamily="34" charset="0"/>
                <a:cs typeface="Calibri" panose="020F0502020204030204" pitchFamily="34" charset="0"/>
              </a:rPr>
              <a:t>ata </a:t>
            </a:r>
            <a:r>
              <a:rPr lang="en-US" sz="1600" kern="50" dirty="0">
                <a:latin typeface="Calibri" panose="020F0502020204030204" pitchFamily="34" charset="0"/>
                <a:cs typeface="Calibri" panose="020F0502020204030204" pitchFamily="34" charset="0"/>
              </a:rPr>
              <a:t>F</a:t>
            </a:r>
            <a:r>
              <a:rPr lang="en-US" sz="1600" kern="50" dirty="0" smtClean="0">
                <a:latin typeface="Calibri" panose="020F0502020204030204" pitchFamily="34" charset="0"/>
                <a:cs typeface="Calibri" panose="020F0502020204030204" pitchFamily="34" charset="0"/>
              </a:rPr>
              <a:t>low </a:t>
            </a:r>
            <a:r>
              <a:rPr lang="en-US" sz="1600" kern="50" dirty="0" smtClean="0">
                <a:latin typeface="Calibri" panose="020F0502020204030204" pitchFamily="34" charset="0"/>
                <a:cs typeface="Calibri" panose="020F0502020204030204" pitchFamily="34" charset="0"/>
              </a:rPr>
              <a:t>Analysis  (Environmental Noise Directive DF1, DF5, DF4, DF8, Drinking Water Directive Home Consumption, MCPs)</a:t>
            </a:r>
            <a:endParaRPr lang="en-US" sz="1600" kern="50" dirty="0">
              <a:latin typeface="Calibri" panose="020F0502020204030204" pitchFamily="34" charset="0"/>
              <a:cs typeface="Calibri" panose="020F0502020204030204" pitchFamily="34" charset="0"/>
            </a:endParaRPr>
          </a:p>
        </p:txBody>
      </p:sp>
      <p:sp>
        <p:nvSpPr>
          <p:cNvPr id="46" name="Rectángulo 45"/>
          <p:cNvSpPr/>
          <p:nvPr/>
        </p:nvSpPr>
        <p:spPr>
          <a:xfrm>
            <a:off x="4231863" y="3278792"/>
            <a:ext cx="5470935" cy="688297"/>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Ensure User Stories for REST-API Data Import Features</a:t>
            </a:r>
            <a:endParaRPr lang="en-US" sz="1600" kern="50" dirty="0">
              <a:latin typeface="Calibri" panose="020F0502020204030204" pitchFamily="34" charset="0"/>
              <a:cs typeface="Calibri" panose="020F0502020204030204" pitchFamily="34" charset="0"/>
            </a:endParaRPr>
          </a:p>
        </p:txBody>
      </p:sp>
      <p:sp>
        <p:nvSpPr>
          <p:cNvPr id="48" name="Rectángulo 47"/>
          <p:cNvSpPr/>
          <p:nvPr/>
        </p:nvSpPr>
        <p:spPr>
          <a:xfrm>
            <a:off x="4231863" y="4128624"/>
            <a:ext cx="5470935" cy="688297"/>
          </a:xfrm>
          <a:prstGeom prst="rect">
            <a:avLst/>
          </a:prstGeom>
          <a:solidFill>
            <a:schemeClr val="bg1"/>
          </a:solidFill>
          <a:ln w="6350">
            <a:solidFill>
              <a:srgbClr val="016357"/>
            </a:solidFill>
          </a:ln>
          <a:effectLst>
            <a:outerShdw blurRad="50800" dist="38100" algn="l" rotWithShape="0">
              <a:prstClr val="black">
                <a:alpha val="40000"/>
              </a:prstClr>
            </a:outerShdw>
          </a:effectLst>
        </p:spPr>
        <p:txBody>
          <a:bodyPr wrap="square" lIns="90000" tIns="36000" rIns="36000" bIns="36000">
            <a:noAutofit/>
          </a:bodyPr>
          <a:lstStyle/>
          <a:p>
            <a:pPr marL="185738" lvl="1" indent="-185738">
              <a:spcBef>
                <a:spcPts val="300"/>
              </a:spcBef>
              <a:spcAft>
                <a:spcPts val="600"/>
              </a:spcAft>
              <a:buFont typeface="Arial" panose="020B0604020202020204" pitchFamily="34" charset="0"/>
              <a:buChar char="•"/>
            </a:pPr>
            <a:r>
              <a:rPr lang="en-US" sz="1600" kern="50" dirty="0" smtClean="0">
                <a:latin typeface="Calibri" panose="020F0502020204030204" pitchFamily="34" charset="0"/>
                <a:cs typeface="Calibri" panose="020F0502020204030204" pitchFamily="34" charset="0"/>
              </a:rPr>
              <a:t>Ensure User Stories for EU Data Set Dissemination through and API</a:t>
            </a:r>
            <a:endParaRPr lang="en-US" sz="1600" kern="50" dirty="0">
              <a:latin typeface="Calibri" panose="020F0502020204030204" pitchFamily="34" charset="0"/>
              <a:cs typeface="Calibri" panose="020F0502020204030204" pitchFamily="34" charset="0"/>
            </a:endParaRPr>
          </a:p>
        </p:txBody>
      </p:sp>
      <p:grpSp>
        <p:nvGrpSpPr>
          <p:cNvPr id="7" name="Grupo 6"/>
          <p:cNvGrpSpPr/>
          <p:nvPr/>
        </p:nvGrpSpPr>
        <p:grpSpPr>
          <a:xfrm>
            <a:off x="561974" y="1461181"/>
            <a:ext cx="3314288" cy="3119243"/>
            <a:chOff x="561973" y="1461181"/>
            <a:chExt cx="3843341" cy="3119243"/>
          </a:xfrm>
        </p:grpSpPr>
        <p:sp>
          <p:nvSpPr>
            <p:cNvPr id="39" name="Rectángulo 38"/>
            <p:cNvSpPr/>
            <p:nvPr/>
          </p:nvSpPr>
          <p:spPr>
            <a:xfrm>
              <a:off x="561974" y="1461181"/>
              <a:ext cx="3843340" cy="4518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72000" tIns="36000" rIns="72000" bIns="36000" anchor="ctr" anchorCtr="0">
              <a:noAutofit/>
            </a:bodyPr>
            <a:lstStyle/>
            <a:p>
              <a:pPr algn="ctr">
                <a:spcBef>
                  <a:spcPts val="300"/>
                </a:spcBef>
                <a:spcAft>
                  <a:spcPts val="800"/>
                </a:spcAft>
              </a:pPr>
              <a:r>
                <a:rPr lang="en-GB" sz="1900"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RN3 – RO3 Integration</a:t>
              </a:r>
              <a:endParaRPr lang="en-GB" sz="1900"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41" name="Rectángulo 40"/>
            <p:cNvSpPr/>
            <p:nvPr/>
          </p:nvSpPr>
          <p:spPr>
            <a:xfrm>
              <a:off x="561974" y="2413681"/>
              <a:ext cx="3843340" cy="4518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72000" tIns="36000" rIns="72000" bIns="36000" anchor="ctr" anchorCtr="0">
              <a:noAutofit/>
            </a:bodyPr>
            <a:lstStyle/>
            <a:p>
              <a:pPr algn="ctr">
                <a:spcBef>
                  <a:spcPts val="300"/>
                </a:spcBef>
                <a:spcAft>
                  <a:spcPts val="800"/>
                </a:spcAft>
              </a:pPr>
              <a:r>
                <a:rPr lang="en-GB" sz="1900"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Pilot Data Flows</a:t>
              </a:r>
              <a:endParaRPr lang="en-GB" sz="1900"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47" name="Rectángulo 46"/>
            <p:cNvSpPr/>
            <p:nvPr/>
          </p:nvSpPr>
          <p:spPr>
            <a:xfrm>
              <a:off x="561973" y="3294073"/>
              <a:ext cx="3843340" cy="4518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72000" tIns="36000" rIns="72000" bIns="36000" anchor="ctr" anchorCtr="0">
              <a:noAutofit/>
            </a:bodyPr>
            <a:lstStyle/>
            <a:p>
              <a:pPr algn="ctr">
                <a:spcBef>
                  <a:spcPts val="300"/>
                </a:spcBef>
                <a:spcAft>
                  <a:spcPts val="800"/>
                </a:spcAft>
              </a:pPr>
              <a:r>
                <a:rPr lang="en-GB" sz="1900"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Import Step 6</a:t>
              </a:r>
              <a:endParaRPr lang="en-GB" sz="1900"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49" name="Rectángulo 48"/>
            <p:cNvSpPr/>
            <p:nvPr/>
          </p:nvSpPr>
          <p:spPr>
            <a:xfrm>
              <a:off x="561973" y="4128624"/>
              <a:ext cx="3843340" cy="45180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72000" tIns="36000" rIns="72000" bIns="36000" anchor="ctr" anchorCtr="0">
              <a:noAutofit/>
            </a:bodyPr>
            <a:lstStyle/>
            <a:p>
              <a:pPr algn="ctr">
                <a:spcBef>
                  <a:spcPts val="300"/>
                </a:spcBef>
                <a:spcAft>
                  <a:spcPts val="800"/>
                </a:spcAft>
              </a:pPr>
              <a:r>
                <a:rPr lang="en-GB" sz="1900"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Dissemination  Step 9</a:t>
              </a:r>
              <a:endParaRPr lang="en-GB" sz="1900"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grpSp>
      <p:grpSp>
        <p:nvGrpSpPr>
          <p:cNvPr id="5" name="Grupo 4"/>
          <p:cNvGrpSpPr/>
          <p:nvPr/>
        </p:nvGrpSpPr>
        <p:grpSpPr>
          <a:xfrm>
            <a:off x="4538721" y="1805330"/>
            <a:ext cx="7221479" cy="4156414"/>
            <a:chOff x="4538721" y="1805330"/>
            <a:chExt cx="7221479" cy="4156414"/>
          </a:xfrm>
        </p:grpSpPr>
        <p:sp>
          <p:nvSpPr>
            <p:cNvPr id="42" name="Rectángulo 41"/>
            <p:cNvSpPr/>
            <p:nvPr/>
          </p:nvSpPr>
          <p:spPr>
            <a:xfrm>
              <a:off x="4538721" y="5109034"/>
              <a:ext cx="5164077" cy="852710"/>
            </a:xfrm>
            <a:prstGeom prst="rect">
              <a:avLst/>
            </a:prstGeom>
            <a:solidFill>
              <a:srgbClr val="016357"/>
            </a:solidFill>
            <a:ln w="6350">
              <a:solidFill>
                <a:srgbClr val="016357"/>
              </a:solidFill>
            </a:ln>
            <a:effectLst>
              <a:outerShdw blurRad="50800" dist="38100" algn="l" rotWithShape="0">
                <a:prstClr val="black">
                  <a:alpha val="40000"/>
                </a:prstClr>
              </a:outerShdw>
            </a:effectLst>
          </p:spPr>
          <p:txBody>
            <a:bodyPr wrap="square" lIns="72000" tIns="36000" rIns="72000" bIns="36000" anchor="ctr" anchorCtr="0">
              <a:noAutofit/>
            </a:bodyPr>
            <a:lstStyle/>
            <a:p>
              <a:pPr algn="ctr">
                <a:spcBef>
                  <a:spcPts val="300"/>
                </a:spcBef>
                <a:spcAft>
                  <a:spcPts val="800"/>
                </a:spcAft>
              </a:pPr>
              <a:r>
                <a:rPr lang="en-GB" sz="1900" b="1" kern="50" dirty="0" err="1" smtClean="0">
                  <a:solidFill>
                    <a:schemeClr val="bg1"/>
                  </a:solidFill>
                  <a:latin typeface="Calibri" panose="020F0502020204030204" pitchFamily="34" charset="0"/>
                  <a:ea typeface="Times New Roman" panose="02020603050405020304" pitchFamily="18" charset="0"/>
                  <a:cs typeface="Calibri" panose="020F0502020204030204" pitchFamily="34" charset="0"/>
                </a:rPr>
                <a:t>Aditional</a:t>
              </a:r>
              <a:r>
                <a:rPr lang="en-GB" sz="1900"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  for </a:t>
              </a:r>
            </a:p>
            <a:p>
              <a:pPr algn="ctr">
                <a:spcBef>
                  <a:spcPts val="300"/>
                </a:spcBef>
                <a:spcAft>
                  <a:spcPts val="800"/>
                </a:spcAft>
              </a:pPr>
              <a:r>
                <a:rPr lang="en-GB" sz="1900" b="1" kern="50" dirty="0" smtClean="0">
                  <a:solidFill>
                    <a:schemeClr val="bg1"/>
                  </a:solidFill>
                  <a:latin typeface="Calibri" panose="020F0502020204030204" pitchFamily="34" charset="0"/>
                  <a:ea typeface="Times New Roman" panose="02020603050405020304" pitchFamily="18" charset="0"/>
                  <a:cs typeface="Calibri" panose="020F0502020204030204" pitchFamily="34" charset="0"/>
                </a:rPr>
                <a:t>Operational Release July 2020</a:t>
              </a:r>
              <a:endParaRPr lang="en-GB" sz="1900" b="1" kern="5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p:txBody>
        </p:sp>
        <p:sp>
          <p:nvSpPr>
            <p:cNvPr id="43" name="Rectángulo 42"/>
            <p:cNvSpPr/>
            <p:nvPr/>
          </p:nvSpPr>
          <p:spPr>
            <a:xfrm>
              <a:off x="10058400" y="2939827"/>
              <a:ext cx="1701800" cy="514572"/>
            </a:xfrm>
            <a:prstGeom prst="rect">
              <a:avLst/>
            </a:prstGeom>
            <a:solidFill>
              <a:schemeClr val="accent3">
                <a:lumMod val="60000"/>
                <a:lumOff val="40000"/>
              </a:schemeClr>
            </a:solidFill>
            <a:ln w="6350">
              <a:noFill/>
            </a:ln>
            <a:effectLst>
              <a:outerShdw blurRad="50800" dist="38100" algn="l" rotWithShape="0">
                <a:prstClr val="black">
                  <a:alpha val="40000"/>
                </a:prstClr>
              </a:outerShdw>
            </a:effectLst>
          </p:spPr>
          <p:txBody>
            <a:bodyPr wrap="square" lIns="72000" tIns="36000" rIns="72000" bIns="36000" anchor="ctr" anchorCtr="0">
              <a:noAutofit/>
            </a:bodyPr>
            <a:lstStyle/>
            <a:p>
              <a:pPr algn="ctr">
                <a:spcBef>
                  <a:spcPts val="300"/>
                </a:spcBef>
                <a:spcAft>
                  <a:spcPts val="800"/>
                </a:spcAft>
              </a:pPr>
              <a:r>
                <a:rPr lang="en-GB" sz="1900" b="1" kern="50" dirty="0" smtClean="0">
                  <a:solidFill>
                    <a:srgbClr val="016357"/>
                  </a:solidFill>
                  <a:latin typeface="Calibri" panose="020F0502020204030204" pitchFamily="34" charset="0"/>
                  <a:ea typeface="Times New Roman" panose="02020603050405020304" pitchFamily="18" charset="0"/>
                  <a:cs typeface="Calibri" panose="020F0502020204030204" pitchFamily="34" charset="0"/>
                </a:rPr>
                <a:t>New / Revised User Stories</a:t>
              </a:r>
              <a:endParaRPr lang="en-GB" sz="1900" b="1" kern="50" dirty="0">
                <a:solidFill>
                  <a:srgbClr val="016357"/>
                </a:solidFill>
                <a:latin typeface="Calibri" panose="020F0502020204030204" pitchFamily="34" charset="0"/>
                <a:ea typeface="Times New Roman" panose="02020603050405020304" pitchFamily="18" charset="0"/>
                <a:cs typeface="Calibri" panose="020F0502020204030204" pitchFamily="34" charset="0"/>
              </a:endParaRPr>
            </a:p>
          </p:txBody>
        </p:sp>
        <p:cxnSp>
          <p:nvCxnSpPr>
            <p:cNvPr id="6" name="Conector angular 5"/>
            <p:cNvCxnSpPr>
              <a:stCxn id="25" idx="3"/>
              <a:endCxn id="43" idx="0"/>
            </p:cNvCxnSpPr>
            <p:nvPr/>
          </p:nvCxnSpPr>
          <p:spPr>
            <a:xfrm>
              <a:off x="9702799" y="1805330"/>
              <a:ext cx="1206501" cy="1134497"/>
            </a:xfrm>
            <a:prstGeom prst="bentConnector2">
              <a:avLst/>
            </a:prstGeom>
            <a:ln w="12700">
              <a:solidFill>
                <a:srgbClr val="016357"/>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angular 43"/>
            <p:cNvCxnSpPr>
              <a:stCxn id="40" idx="3"/>
              <a:endCxn id="43" idx="0"/>
            </p:cNvCxnSpPr>
            <p:nvPr/>
          </p:nvCxnSpPr>
          <p:spPr>
            <a:xfrm>
              <a:off x="9702799" y="2714135"/>
              <a:ext cx="1206501" cy="225692"/>
            </a:xfrm>
            <a:prstGeom prst="bentConnector2">
              <a:avLst/>
            </a:prstGeom>
            <a:ln w="12700">
              <a:solidFill>
                <a:srgbClr val="016357"/>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r 44"/>
            <p:cNvCxnSpPr>
              <a:stCxn id="43" idx="3"/>
              <a:endCxn id="42" idx="3"/>
            </p:cNvCxnSpPr>
            <p:nvPr/>
          </p:nvCxnSpPr>
          <p:spPr>
            <a:xfrm flipH="1">
              <a:off x="9702798" y="3197113"/>
              <a:ext cx="2057402" cy="2338276"/>
            </a:xfrm>
            <a:prstGeom prst="bentConnector3">
              <a:avLst>
                <a:gd name="adj1" fmla="val -11111"/>
              </a:avLst>
            </a:prstGeom>
            <a:ln w="38100">
              <a:solidFill>
                <a:srgbClr val="016357"/>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Conector angular 49"/>
            <p:cNvCxnSpPr>
              <a:stCxn id="46" idx="3"/>
              <a:endCxn id="43" idx="2"/>
            </p:cNvCxnSpPr>
            <p:nvPr/>
          </p:nvCxnSpPr>
          <p:spPr>
            <a:xfrm flipV="1">
              <a:off x="9702798" y="3454399"/>
              <a:ext cx="1206502" cy="168542"/>
            </a:xfrm>
            <a:prstGeom prst="bentConnector2">
              <a:avLst/>
            </a:prstGeom>
            <a:ln w="12700">
              <a:solidFill>
                <a:srgbClr val="016357"/>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angular 55"/>
            <p:cNvCxnSpPr>
              <a:stCxn id="48" idx="3"/>
              <a:endCxn id="43" idx="2"/>
            </p:cNvCxnSpPr>
            <p:nvPr/>
          </p:nvCxnSpPr>
          <p:spPr>
            <a:xfrm flipV="1">
              <a:off x="9702798" y="3454399"/>
              <a:ext cx="1206502" cy="1018374"/>
            </a:xfrm>
            <a:prstGeom prst="bentConnector2">
              <a:avLst/>
            </a:prstGeom>
            <a:ln w="12700">
              <a:solidFill>
                <a:srgbClr val="016357"/>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8910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fade">
                                      <p:cBhvr>
                                        <p:cTn id="14" dur="1000"/>
                                        <p:tgtEl>
                                          <p:spTgt spid="40"/>
                                        </p:tgtEl>
                                      </p:cBhvr>
                                    </p:animEffect>
                                    <p:anim calcmode="lin" valueType="num">
                                      <p:cBhvr>
                                        <p:cTn id="15" dur="1000" fill="hold"/>
                                        <p:tgtEl>
                                          <p:spTgt spid="40"/>
                                        </p:tgtEl>
                                        <p:attrNameLst>
                                          <p:attrName>ppt_x</p:attrName>
                                        </p:attrNameLst>
                                      </p:cBhvr>
                                      <p:tavLst>
                                        <p:tav tm="0">
                                          <p:val>
                                            <p:strVal val="#ppt_x"/>
                                          </p:val>
                                        </p:tav>
                                        <p:tav tm="100000">
                                          <p:val>
                                            <p:strVal val="#ppt_x"/>
                                          </p:val>
                                        </p:tav>
                                      </p:tavLst>
                                    </p:anim>
                                    <p:anim calcmode="lin" valueType="num">
                                      <p:cBhvr>
                                        <p:cTn id="16"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1000"/>
                                        <p:tgtEl>
                                          <p:spTgt spid="46"/>
                                        </p:tgtEl>
                                      </p:cBhvr>
                                    </p:animEffect>
                                    <p:anim calcmode="lin" valueType="num">
                                      <p:cBhvr>
                                        <p:cTn id="22" dur="1000" fill="hold"/>
                                        <p:tgtEl>
                                          <p:spTgt spid="46"/>
                                        </p:tgtEl>
                                        <p:attrNameLst>
                                          <p:attrName>ppt_x</p:attrName>
                                        </p:attrNameLst>
                                      </p:cBhvr>
                                      <p:tavLst>
                                        <p:tav tm="0">
                                          <p:val>
                                            <p:strVal val="#ppt_x"/>
                                          </p:val>
                                        </p:tav>
                                        <p:tav tm="100000">
                                          <p:val>
                                            <p:strVal val="#ppt_x"/>
                                          </p:val>
                                        </p:tav>
                                      </p:tavLst>
                                    </p:anim>
                                    <p:anim calcmode="lin" valueType="num">
                                      <p:cBhvr>
                                        <p:cTn id="23"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48"/>
                                        </p:tgtEl>
                                        <p:attrNameLst>
                                          <p:attrName>style.visibility</p:attrName>
                                        </p:attrNameLst>
                                      </p:cBhvr>
                                      <p:to>
                                        <p:strVal val="visible"/>
                                      </p:to>
                                    </p:set>
                                    <p:anim calcmode="lin" valueType="num">
                                      <p:cBhvr additive="base">
                                        <p:cTn id="28" dur="500" fill="hold"/>
                                        <p:tgtEl>
                                          <p:spTgt spid="48"/>
                                        </p:tgtEl>
                                        <p:attrNameLst>
                                          <p:attrName>ppt_x</p:attrName>
                                        </p:attrNameLst>
                                      </p:cBhvr>
                                      <p:tavLst>
                                        <p:tav tm="0">
                                          <p:val>
                                            <p:strVal val="#ppt_x"/>
                                          </p:val>
                                        </p:tav>
                                        <p:tav tm="100000">
                                          <p:val>
                                            <p:strVal val="#ppt_x"/>
                                          </p:val>
                                        </p:tav>
                                      </p:tavLst>
                                    </p:anim>
                                    <p:anim calcmode="lin" valueType="num">
                                      <p:cBhvr additive="base">
                                        <p:cTn id="29"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000"/>
                                        <p:tgtEl>
                                          <p:spTgt spid="5"/>
                                        </p:tgtEl>
                                      </p:cBhvr>
                                    </p:animEffect>
                                    <p:anim calcmode="lin" valueType="num">
                                      <p:cBhvr>
                                        <p:cTn id="35" dur="1000" fill="hold"/>
                                        <p:tgtEl>
                                          <p:spTgt spid="5"/>
                                        </p:tgtEl>
                                        <p:attrNameLst>
                                          <p:attrName>ppt_x</p:attrName>
                                        </p:attrNameLst>
                                      </p:cBhvr>
                                      <p:tavLst>
                                        <p:tav tm="0">
                                          <p:val>
                                            <p:strVal val="#ppt_x"/>
                                          </p:val>
                                        </p:tav>
                                        <p:tav tm="100000">
                                          <p:val>
                                            <p:strVal val="#ppt_x"/>
                                          </p:val>
                                        </p:tav>
                                      </p:tavLst>
                                    </p:anim>
                                    <p:anim calcmode="lin" valueType="num">
                                      <p:cBhvr>
                                        <p:cTn id="3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0" grpId="0" animBg="1"/>
      <p:bldP spid="46" grpId="0" animBg="1"/>
      <p:bldP spid="48" grpId="0" animBg="1"/>
    </p:bldLst>
  </p:timing>
</p:sld>
</file>

<file path=ppt/theme/theme1.xml><?xml version="1.0" encoding="utf-8"?>
<a:theme xmlns:a="http://schemas.openxmlformats.org/drawingml/2006/main" name="19_Sections">
  <a:themeElements>
    <a:clrScheme name="Personnalisée 3">
      <a:dk1>
        <a:srgbClr val="113A6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pen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6" id="{7097CE30-2B87-416D-81F8-909722110CD4}" vid="{5975FBB0-496A-43E2-A5DA-5DB4EBFC696E}"/>
    </a:ext>
  </a:extLst>
</a:theme>
</file>

<file path=ppt/theme/theme2.xml><?xml version="1.0" encoding="utf-8"?>
<a:theme xmlns:a="http://schemas.openxmlformats.org/drawingml/2006/main" name="16_Sect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pen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6" id="{7097CE30-2B87-416D-81F8-909722110CD4}" vid="{24C33E74-93FE-4D40-9AC0-464A583A4EB3}"/>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8_Sect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pen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6" id="{7097CE30-2B87-416D-81F8-909722110CD4}" vid="{24C33E74-93FE-4D40-9AC0-464A583A4EB3}"/>
    </a:ext>
  </a:extLst>
</a:theme>
</file>

<file path=ppt/theme/theme6.xml><?xml version="1.0" encoding="utf-8"?>
<a:theme xmlns:a="http://schemas.openxmlformats.org/drawingml/2006/main" name="17_Sect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pen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7CDD2C4F-5E80-4789-B3C8-D5FFDF986117}" vid="{28369920-0669-46C7-BF33-5B5E420B2458}"/>
    </a:ext>
  </a:extLst>
</a:theme>
</file>

<file path=ppt/theme/theme7.xml><?xml version="1.0" encoding="utf-8"?>
<a:theme xmlns:a="http://schemas.openxmlformats.org/drawingml/2006/main" name="20_Sect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pen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EA_PPT_template_2_2015_4x3_format [Read-Only]" id="{E0C218DD-5E1F-42BA-A1AD-D0FF7C3402A5}" vid="{E8400FEF-6AB1-4311-90B4-5C6FACAF02B8}"/>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4DF45639AEF0469622D54C8A327DB3" ma:contentTypeVersion="11" ma:contentTypeDescription="Create a new document." ma:contentTypeScope="" ma:versionID="41f11a9a907fa577fa5a6387cb1701fd">
  <xsd:schema xmlns:xsd="http://www.w3.org/2001/XMLSchema" xmlns:xs="http://www.w3.org/2001/XMLSchema" xmlns:p="http://schemas.microsoft.com/office/2006/metadata/properties" xmlns:ns2="06bfaf3a-487d-44b9-8297-64b405e64b65" xmlns:ns3="a3b11e6a-52fb-4689-a5d8-912a79779788" targetNamespace="http://schemas.microsoft.com/office/2006/metadata/properties" ma:root="true" ma:fieldsID="cbe6ed1b6fcffbbab83f08aac439c2bb" ns2:_="" ns3:_="">
    <xsd:import namespace="06bfaf3a-487d-44b9-8297-64b405e64b65"/>
    <xsd:import namespace="a3b11e6a-52fb-4689-a5d8-912a7977978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bfaf3a-487d-44b9-8297-64b405e64b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3b11e6a-52fb-4689-a5d8-912a7977978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18186F6-5124-4308-ABFE-A06CE674F1D8}"/>
</file>

<file path=customXml/itemProps2.xml><?xml version="1.0" encoding="utf-8"?>
<ds:datastoreItem xmlns:ds="http://schemas.openxmlformats.org/officeDocument/2006/customXml" ds:itemID="{A368E99A-7A5E-4056-BD84-EA205B269168}"/>
</file>

<file path=customXml/itemProps3.xml><?xml version="1.0" encoding="utf-8"?>
<ds:datastoreItem xmlns:ds="http://schemas.openxmlformats.org/officeDocument/2006/customXml" ds:itemID="{E794769D-D5F6-4A8A-AEA2-5F2A35289B43}"/>
</file>

<file path=docProps/app.xml><?xml version="1.0" encoding="utf-8"?>
<Properties xmlns="http://schemas.openxmlformats.org/officeDocument/2006/extended-properties" xmlns:vt="http://schemas.openxmlformats.org/officeDocument/2006/docPropsVTypes">
  <Template>Template 2_16x9_white background</Template>
  <TotalTime>24259</TotalTime>
  <Words>3796</Words>
  <Application>Microsoft Office PowerPoint</Application>
  <PresentationFormat>Panorámica</PresentationFormat>
  <Paragraphs>761</Paragraphs>
  <Slides>20</Slides>
  <Notes>0</Notes>
  <HiddenSlides>0</HiddenSlides>
  <MMClips>0</MMClips>
  <ScaleCrop>false</ScaleCrop>
  <HeadingPairs>
    <vt:vector size="6" baseType="variant">
      <vt:variant>
        <vt:lpstr>Fuentes usadas</vt:lpstr>
      </vt:variant>
      <vt:variant>
        <vt:i4>8</vt:i4>
      </vt:variant>
      <vt:variant>
        <vt:lpstr>Tema</vt:lpstr>
      </vt:variant>
      <vt:variant>
        <vt:i4>7</vt:i4>
      </vt:variant>
      <vt:variant>
        <vt:lpstr>Títulos de diapositiva</vt:lpstr>
      </vt:variant>
      <vt:variant>
        <vt:i4>20</vt:i4>
      </vt:variant>
    </vt:vector>
  </HeadingPairs>
  <TitlesOfParts>
    <vt:vector size="35" baseType="lpstr">
      <vt:lpstr>Arial</vt:lpstr>
      <vt:lpstr>Calibri</vt:lpstr>
      <vt:lpstr>CG Times (W1)</vt:lpstr>
      <vt:lpstr>Open Sans</vt:lpstr>
      <vt:lpstr>Symbol</vt:lpstr>
      <vt:lpstr>Times New Roman</vt:lpstr>
      <vt:lpstr>Trebuchet MS</vt:lpstr>
      <vt:lpstr>Verdana</vt:lpstr>
      <vt:lpstr>19_Sections</vt:lpstr>
      <vt:lpstr>16_Sections</vt:lpstr>
      <vt:lpstr>1_Office Theme</vt:lpstr>
      <vt:lpstr>2_Office Theme</vt:lpstr>
      <vt:lpstr>18_Sections</vt:lpstr>
      <vt:lpstr>17_Sections</vt:lpstr>
      <vt:lpstr>20_Sections</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Manager/>
  <Company>European Environment Agency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Chris Steenmans</dc:creator>
  <cp:keywords/>
  <dc:description/>
  <cp:lastModifiedBy>Eduardo Perdomo García</cp:lastModifiedBy>
  <cp:revision>608</cp:revision>
  <cp:lastPrinted>2019-03-26T13:25:12Z</cp:lastPrinted>
  <dcterms:created xsi:type="dcterms:W3CDTF">2017-05-24T06:49:31Z</dcterms:created>
  <dcterms:modified xsi:type="dcterms:W3CDTF">2019-12-09T16:51:47Z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0x010100854DF45639AEF0469622D54C8A327DB3</vt:lpwstr>
  </property>
</Properties>
</file>